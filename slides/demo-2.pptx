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be1a12f-86c0-b2db-cd66-bc49df1e2edf}">
          <p14:sldIdLst>
            <p14:sldId id="256"/>
            <p14:sldId id="257"/>
          </p14:sldIdLst>
        </p14:section>
        <p14:section name="Progress" id="{7c9ae5ea-f0cd-ad51-9c83-2ca21e4a96e0}">
          <p14:sldIdLst>
            <p14:sldId id="258"/>
            <p14:sldId id="259"/>
          </p14:sldIdLst>
        </p14:section>
        <p14:section name="Design" id="{facd005b-c44b-8acb-5692-aeebbe5d5769}">
          <p14:sldIdLst>
            <p14:sldId id="260"/>
            <p14:sldId id="261"/>
            <p14:sldId id="262"/>
          </p14:sldIdLst>
        </p14:section>
        <p14:section name="Evidence" id="{594da5cd-57fc-944e-190a-2f9130aee30a}">
          <p14:sldIdLst>
            <p14:sldId id="263"/>
            <p14:sldId id="264"/>
          </p14:sldIdLst>
        </p14:section>
        <p14:section name="Close" id="{13ca91fa-5ece-0bae-8881-40a665825d1d}">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Run 1 · Oct 16</c:v>
                </c:pt>
              </c:strCache>
            </c:strRef>
          </c:tx>
          <c:spPr>
            <a:solidFill>
              <a:srgbClr val="78A9FF"/>
            </a:solidFill>
            <a:effectLst/>
          </c:spPr>
          <c:invertIfNegative val="0"/>
          <c:dLbls>
            <c:numFmt formatCode="#,##0.0&quot; MB&quot;" sourceLinked="0"/>
            <c:txPr>
              <a:bodyPr/>
              <a:lstStyle/>
              <a:p>
                <a:pPr>
                  <a:defRPr b="0" i="0" strike="noStrike" sz="1200" u="none">
                    <a:solidFill>
                      <a:srgbClr val="171B21"/>
                    </a:solidFill>
                    <a:latin typeface="+mn-lt"/>
                  </a:defRPr>
                </a:pPr>
              </a:p>
            </c:txPr>
            <c:showLegendKey val="0"/>
            <c:showVal val="1"/>
            <c:showCatName val="0"/>
            <c:showSerName val="0"/>
            <c:showPercent val="0"/>
            <c:showBubbleSize val="0"/>
            <c:showLeaderLines val="0"/>
          </c:dLbls>
          <c:cat>
            <c:multiLvlStrRef>
              <c:f>Sheet1!$A$2:$A$3</c:f>
              <c:multiLvlStrCache>
                <c:ptCount val="2"/>
                <c:lvl>
                  <c:pt idx="0">
                    <c:v>Separate compute (baseline)</c:v>
                  </c:pt>
                  <c:pt idx="1">
                    <c:v>On the storage node</c:v>
                  </c:pt>
                </c:lvl>
              </c:multiLvlStrCache>
            </c:multiLvlStrRef>
          </c:cat>
          <c:val>
            <c:numRef>
              <c:f>Sheet1!$B$2:$B$3</c:f>
              <c:numCache>
                <c:formatCode>General</c:formatCode>
                <c:ptCount val="2"/>
                <c:pt idx="0">
                  <c:v>797.3</c:v>
                </c:pt>
                <c:pt idx="1">
                  <c:v>0.2</c:v>
                </c:pt>
              </c:numCache>
            </c:numRef>
          </c:val>
        </c:ser>
        <c:ser>
          <c:idx val="1"/>
          <c:order val="1"/>
          <c:tx>
            <c:strRef>
              <c:f>Sheet1!$C$1</c:f>
              <c:strCache>
                <c:ptCount val="1"/>
                <c:pt idx="0">
                  <c:v>Run 2 · Oct 18, fresh account</c:v>
                </c:pt>
              </c:strCache>
            </c:strRef>
          </c:tx>
          <c:spPr>
            <a:solidFill>
              <a:srgbClr val="0F62FE"/>
            </a:solidFill>
            <a:effectLst/>
          </c:spPr>
          <c:invertIfNegative val="0"/>
          <c:dLbls>
            <c:numFmt formatCode="#,##0.0&quot; MB&quot;" sourceLinked="0"/>
            <c:txPr>
              <a:bodyPr/>
              <a:lstStyle/>
              <a:p>
                <a:pPr>
                  <a:defRPr b="0" i="0" strike="noStrike" sz="1200" u="none">
                    <a:solidFill>
                      <a:srgbClr val="171B21"/>
                    </a:solidFill>
                    <a:latin typeface="+mn-lt"/>
                  </a:defRPr>
                </a:pPr>
              </a:p>
            </c:txPr>
            <c:showLegendKey val="0"/>
            <c:showVal val="1"/>
            <c:showCatName val="0"/>
            <c:showSerName val="0"/>
            <c:showPercent val="0"/>
            <c:showBubbleSize val="0"/>
            <c:showLeaderLines val="0"/>
          </c:dLbls>
          <c:cat>
            <c:multiLvlStrRef>
              <c:f>Sheet1!$A$2:$A$3</c:f>
              <c:multiLvlStrCache>
                <c:ptCount val="2"/>
                <c:lvl>
                  <c:pt idx="0">
                    <c:v>Separate compute (baseline)</c:v>
                  </c:pt>
                  <c:pt idx="1">
                    <c:v>On the storage node</c:v>
                  </c:pt>
                </c:lvl>
              </c:multiLvlStrCache>
            </c:multiLvlStrRef>
          </c:cat>
          <c:val>
            <c:numRef>
              <c:f>Sheet1!$C$2:$C$3</c:f>
              <c:numCache>
                <c:formatCode>General</c:formatCode>
                <c:ptCount val="2"/>
                <c:pt idx="0">
                  <c:v>797.2</c:v>
                </c:pt>
                <c:pt idx="1">
                  <c:v>0.2</c:v>
                </c:pt>
              </c:numCache>
            </c:numRef>
          </c:val>
        </c:ser>
        <c:dLbls>
          <c:numFmt formatCode="#,##0.0&quot; MB&quot;" sourceLinked="0"/>
          <c:txPr>
            <a:bodyPr/>
            <a:lstStyle/>
            <a:p>
              <a:pPr>
                <a:defRPr b="0" i="0" strike="noStrike" sz="1200" u="none">
                  <a:solidFill>
                    <a:srgbClr val="171B21"/>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86574"/>
                    </a:solidFill>
                    <a:latin typeface="+mn-lt"/>
                  </a:defRPr>
                </a:pPr>
                <a:r>
                  <a:rPr sz="1200" b="0" i="0" u="none" strike="noStrike">
                    <a:solidFill>
                      <a:srgbClr val="586574"/>
                    </a:solidFill>
                    <a:latin typeface="+mn-lt"/>
                  </a:rPr>
                  <a:t>Where the conversion ran</a:t>
                </a:r>
              </a:p>
            </c:rich>
          </c:tx>
          <c:layout/>
          <c:overlay val="0"/>
        </c:title>
        <c:numFmt formatCode="General" sourceLinked="1"/>
        <c:majorTickMark val="out"/>
        <c:minorTickMark val="none"/>
        <c:tickLblPos val="low"/>
        <c:spPr>
          <a:ln w="12700" cap="flat">
            <a:solidFill>
              <a:srgbClr val="C7D1DC"/>
            </a:solidFill>
            <a:prstDash val="solid"/>
            <a:round/>
          </a:ln>
        </c:spPr>
        <c:txPr>
          <a:bodyPr/>
          <a:lstStyle/>
          <a:p>
            <a:pPr>
              <a:defRPr sz="1300" b="0" i="0" u="none" strike="noStrike">
                <a:solidFill>
                  <a:srgbClr val="171B21"/>
                </a:solidFill>
                <a:latin typeface="+mn-lt"/>
              </a:defRPr>
            </a:pPr>
            <a:endParaRPr lang="en-US"/>
          </a:p>
        </c:txPr>
        <c:crossAx val="2094734552"/>
        <c:crosses val="autoZero"/>
        <c:auto val="1"/>
        <c:lblAlgn val="ctr"/>
        <c:noMultiLvlLbl val="1"/>
      </c:catAx>
      <c:valAx>
        <c:axId val="2094734552"/>
        <c:scaling>
          <c:orientation val="minMax"/>
          <c:max val="1000"/>
          <c:min val="0"/>
        </c:scaling>
        <c:delete val="0"/>
        <c:axPos val="l"/>
        <c:majorGridlines>
          <c:spPr>
            <a:ln w="9525" cap="flat">
              <a:solidFill>
                <a:srgbClr val="E3E8EE"/>
              </a:solidFill>
              <a:prstDash val="solid"/>
              <a:round/>
            </a:ln>
          </c:spPr>
        </c:majorGridlines>
        <c:title>
          <c:tx>
            <c:rich>
              <a:bodyPr/>
              <a:lstStyle/>
              <a:p>
                <a:pPr>
                  <a:defRPr sz="1200" b="0" i="0" u="none" strike="noStrike">
                    <a:solidFill>
                      <a:srgbClr val="586574"/>
                    </a:solidFill>
                    <a:latin typeface="+mn-lt"/>
                  </a:defRPr>
                </a:pPr>
                <a:r>
                  <a:rPr sz="1200" b="0" i="0" u="none" strike="noStrike">
                    <a:solidFill>
                      <a:srgbClr val="586574"/>
                    </a:solidFill>
                    <a:latin typeface="+mn-lt"/>
                  </a:rPr>
                  <a:t>MB crossing hosts per shard</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586574"/>
                </a:solidFill>
                <a:latin typeface="+mn-lt"/>
              </a:defRPr>
            </a:pPr>
            <a:endParaRPr lang="en-US"/>
          </a:p>
        </c:txPr>
        <c:crossAx val="2094734554"/>
        <c:crosses val="autoZero"/>
        <c:crossBetween val="between"/>
        <c:majorUnit val="200"/>
      </c:valAx>
      <c:spPr>
        <a:noFill/>
        <a:ln>
          <a:noFill/>
        </a:ln>
        <a:effectLst/>
      </c:spPr>
    </c:plotArea>
    <c:legend>
      <c:legendPos val="t"/>
      <c:overlay val="0"/>
      <c:txPr>
        <a:bodyPr/>
        <a:lstStyle/>
        <a:p>
          <a:pPr>
            <a:defRPr sz="1200">
              <a:solidFill>
                <a:srgbClr val="58657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Run 1 · Oct 16</c:v>
                </c:pt>
              </c:strCache>
            </c:strRef>
          </c:tx>
          <c:spPr>
            <a:solidFill>
              <a:srgbClr val="78A9FF"/>
            </a:solidFill>
            <a:effectLst/>
          </c:spPr>
          <c:invertIfNegative val="0"/>
          <c:dLbls>
            <c:numFmt formatCode="0.0&quot; s&quot;" sourceLinked="0"/>
            <c:txPr>
              <a:bodyPr/>
              <a:lstStyle/>
              <a:p>
                <a:pPr>
                  <a:defRPr b="0" i="0" strike="noStrike" sz="1200" u="none">
                    <a:solidFill>
                      <a:srgbClr val="171B21"/>
                    </a:solidFill>
                    <a:latin typeface="+mn-lt"/>
                  </a:defRPr>
                </a:pPr>
              </a:p>
            </c:txPr>
            <c:showLegendKey val="0"/>
            <c:showVal val="1"/>
            <c:showCatName val="0"/>
            <c:showSerName val="0"/>
            <c:showPercent val="0"/>
            <c:showBubbleSize val="0"/>
            <c:showLeaderLines val="0"/>
          </c:dLbls>
          <c:cat>
            <c:multiLvlStrRef>
              <c:f>Sheet1!$A$2:$A$3</c:f>
              <c:multiLvlStrCache>
                <c:ptCount val="2"/>
                <c:lvl>
                  <c:pt idx="0">
                    <c:v>Separate compute (baseline)</c:v>
                  </c:pt>
                  <c:pt idx="1">
                    <c:v>On the storage node</c:v>
                  </c:pt>
                </c:lvl>
              </c:multiLvlStrCache>
            </c:multiLvlStrRef>
          </c:cat>
          <c:val>
            <c:numRef>
              <c:f>Sheet1!$B$2:$B$3</c:f>
              <c:numCache>
                <c:formatCode>General</c:formatCode>
                <c:ptCount val="2"/>
                <c:pt idx="0">
                  <c:v>304</c:v>
                </c:pt>
                <c:pt idx="1">
                  <c:v>304.5</c:v>
                </c:pt>
              </c:numCache>
            </c:numRef>
          </c:val>
        </c:ser>
        <c:ser>
          <c:idx val="1"/>
          <c:order val="1"/>
          <c:tx>
            <c:strRef>
              <c:f>Sheet1!$C$1</c:f>
              <c:strCache>
                <c:ptCount val="1"/>
                <c:pt idx="0">
                  <c:v>Run 2 · Oct 18, fresh account</c:v>
                </c:pt>
              </c:strCache>
            </c:strRef>
          </c:tx>
          <c:spPr>
            <a:solidFill>
              <a:srgbClr val="0F62FE"/>
            </a:solidFill>
            <a:effectLst/>
          </c:spPr>
          <c:invertIfNegative val="0"/>
          <c:dLbls>
            <c:numFmt formatCode="0.0&quot; s&quot;" sourceLinked="0"/>
            <c:txPr>
              <a:bodyPr/>
              <a:lstStyle/>
              <a:p>
                <a:pPr>
                  <a:defRPr b="0" i="0" strike="noStrike" sz="1200" u="none">
                    <a:solidFill>
                      <a:srgbClr val="171B21"/>
                    </a:solidFill>
                    <a:latin typeface="+mn-lt"/>
                  </a:defRPr>
                </a:pPr>
              </a:p>
            </c:txPr>
            <c:showLegendKey val="0"/>
            <c:showVal val="1"/>
            <c:showCatName val="0"/>
            <c:showSerName val="0"/>
            <c:showPercent val="0"/>
            <c:showBubbleSize val="0"/>
            <c:showLeaderLines val="0"/>
          </c:dLbls>
          <c:cat>
            <c:multiLvlStrRef>
              <c:f>Sheet1!$A$2:$A$3</c:f>
              <c:multiLvlStrCache>
                <c:ptCount val="2"/>
                <c:lvl>
                  <c:pt idx="0">
                    <c:v>Separate compute (baseline)</c:v>
                  </c:pt>
                  <c:pt idx="1">
                    <c:v>On the storage node</c:v>
                  </c:pt>
                </c:lvl>
              </c:multiLvlStrCache>
            </c:multiLvlStrRef>
          </c:cat>
          <c:val>
            <c:numRef>
              <c:f>Sheet1!$C$2:$C$3</c:f>
              <c:numCache>
                <c:formatCode>General</c:formatCode>
                <c:ptCount val="2"/>
                <c:pt idx="0">
                  <c:v>304.6</c:v>
                </c:pt>
                <c:pt idx="1">
                  <c:v>303.9</c:v>
                </c:pt>
              </c:numCache>
            </c:numRef>
          </c:val>
        </c:ser>
        <c:dLbls>
          <c:numFmt formatCode="0.0&quot; s&quot;" sourceLinked="0"/>
          <c:txPr>
            <a:bodyPr/>
            <a:lstStyle/>
            <a:p>
              <a:pPr>
                <a:defRPr b="0" i="0" strike="noStrike" sz="1200" u="none">
                  <a:solidFill>
                    <a:srgbClr val="171B21"/>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86574"/>
                    </a:solidFill>
                    <a:latin typeface="+mn-lt"/>
                  </a:defRPr>
                </a:pPr>
                <a:r>
                  <a:rPr sz="1200" b="0" i="0" u="none" strike="noStrike">
                    <a:solidFill>
                      <a:srgbClr val="586574"/>
                    </a:solidFill>
                    <a:latin typeface="+mn-lt"/>
                  </a:rPr>
                  <a:t>Where the conversion ran</a:t>
                </a:r>
              </a:p>
            </c:rich>
          </c:tx>
          <c:layout/>
          <c:overlay val="0"/>
        </c:title>
        <c:numFmt formatCode="General" sourceLinked="1"/>
        <c:majorTickMark val="out"/>
        <c:minorTickMark val="none"/>
        <c:tickLblPos val="low"/>
        <c:spPr>
          <a:ln w="12700" cap="flat">
            <a:solidFill>
              <a:srgbClr val="C7D1DC"/>
            </a:solidFill>
            <a:prstDash val="solid"/>
            <a:round/>
          </a:ln>
        </c:spPr>
        <c:txPr>
          <a:bodyPr/>
          <a:lstStyle/>
          <a:p>
            <a:pPr>
              <a:defRPr sz="1300" b="0" i="0" u="none" strike="noStrike">
                <a:solidFill>
                  <a:srgbClr val="171B21"/>
                </a:solidFill>
                <a:latin typeface="+mn-lt"/>
              </a:defRPr>
            </a:pPr>
            <a:endParaRPr lang="en-US"/>
          </a:p>
        </c:txPr>
        <c:crossAx val="2094734552"/>
        <c:crosses val="autoZero"/>
        <c:auto val="1"/>
        <c:lblAlgn val="ctr"/>
        <c:noMultiLvlLbl val="1"/>
      </c:catAx>
      <c:valAx>
        <c:axId val="2094734552"/>
        <c:scaling>
          <c:orientation val="minMax"/>
          <c:max val="400"/>
          <c:min val="0"/>
        </c:scaling>
        <c:delete val="0"/>
        <c:axPos val="l"/>
        <c:majorGridlines>
          <c:spPr>
            <a:ln w="9525" cap="flat">
              <a:solidFill>
                <a:srgbClr val="E3E8EE"/>
              </a:solidFill>
              <a:prstDash val="solid"/>
              <a:round/>
            </a:ln>
          </c:spPr>
        </c:majorGridlines>
        <c:title>
          <c:tx>
            <c:rich>
              <a:bodyPr/>
              <a:lstStyle/>
              <a:p>
                <a:pPr>
                  <a:defRPr sz="1200" b="0" i="0" u="none" strike="noStrike">
                    <a:solidFill>
                      <a:srgbClr val="586574"/>
                    </a:solidFill>
                    <a:latin typeface="+mn-lt"/>
                  </a:defRPr>
                </a:pPr>
                <a:r>
                  <a:rPr sz="1200" b="0" i="0" u="none" strike="noStrike">
                    <a:solidFill>
                      <a:srgbClr val="586574"/>
                    </a:solidFill>
                    <a:latin typeface="+mn-lt"/>
                  </a:rPr>
                  <a:t>Wall time per shard (s)</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586574"/>
                </a:solidFill>
                <a:latin typeface="+mn-lt"/>
              </a:defRPr>
            </a:pPr>
            <a:endParaRPr lang="en-US"/>
          </a:p>
        </c:txPr>
        <c:crossAx val="2094734554"/>
        <c:crosses val="autoZero"/>
        <c:crossBetween val="between"/>
        <c:majorUnit val="100"/>
      </c:valAx>
      <c:spPr>
        <a:noFill/>
        <a:ln>
          <a:noFill/>
        </a:ln>
        <a:effectLst/>
      </c:spPr>
    </c:plotArea>
    <c:legend>
      <c:legendPos val="t"/>
      <c:overlay val="0"/>
      <c:txPr>
        <a:bodyPr/>
        <a:lstStyle/>
        <a:p>
          <a:pPr>
            <a:defRPr sz="1200">
              <a:solidFill>
                <a:srgbClr val="58657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Demo 2 of Computational Storage. Last time we proposed running preprocessing where the data is stored; today we show the working prototype and the baseline we committed to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Preprocessing usually means shipping the data from storage to compute and the result back. DROID's RLDS release is about 1.7 TB and becomes about 400 GB in LeRobot format. Our proposal: run the conversion where the data lives and cut network traffic by about 70% without making it slower. Demo 2 had to establish the baseline that claim is measured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Progress against what we committed to: a single-node Ceph cluster, the full load-convert-write-back path, a background conversion service, and the separate-compute baseline with a documented command. All four are done and each maps to an experiment script the TA can run. We ran the whole comparison twice, on two fresh AWS setups, and got matching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What changed: we deliberately started with single-node MicroCeph rather than Rook, which comes with multiple nodes in Demo 3. The function interface became a concrete job spec whose declared inputs the Demo 3 placement policy will use. Workers are one pinned container image with identical limits on both nodes and no network, so all I/O goes through CephFS. And we built the measurement harness: NIC counters, cold caches and output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The testbed: a storage node running single-node Ceph with CephFS, and a separate compute node that mounts the same CephFS over the network. Both run the identical worker container with identical limits. In separate mode the worker on the compute node reads the shard and writes the result over the network; in storage mode the same container runs next to the data. Every cross-host byte passes the storage node's network card, so its counters measure the job's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A job is a function plus its declared input files and an output directory. The worker runs Hugging Face's converter unmodified, writing into local scratch, then publishes onto CephFS with one atomic rename, and we verify the result through LeRobot's own loader. Conversion took 301 seconds on shard 2; publishing took about a second. One thing that was hard: the public DROID files are missing six fields Hugging Face's converter needs, so the first real shard crashed. We supply those fields before the converter sees them, the lab and date from each episode's file path and placeholders for the rest, so the converter itself stays unmodified.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then play the demo video (~90 s). The background service watches CephFS. When a shard is loaded it finds no converted output, queues a job as a JSON file on CephFS, claims it by atomic rename, runs it in the worker container on the storage node, and records and verifies the result. On AWS it converted shard 2 in 292 seconds without anyone touching it, in both runs; the log here is from the second run, the one in the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The baseline moved 797 megabytes across the network for one shard, which is the input plus the output, almost exactly: everything is read once and written back once. Running the same container on the storage node moved 0.2 megabytes, which is just ssh and CephFS session traffic. That is a 99.97% reduction against a goal of 70%. We ran everything a second time on a fresh AWS account and got 797.2 and 0.2 megabytes, so the result reproduces. With one storage node every input is local, so this is the best case; Demo 3 tests partial locality.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Runtime did not change: 304.0 versus 304.5 seconds in the first run, 304.6 versus 303.9 in the second. Which mode came out ahead flipped between runs, so the difference is noise. That is expected: the converter is CPU-bound, spending about 300 seconds computing, while moving the bytes takes about a second on this network. So the saving is network traffic at equal runtime, which is what the proposal asked for. The outputs from both modes are byte-identical and pass verification through LeRobot's own loader. We ran the whole thing twice on fresh machines and got matching numbers; the design document has every command if you want to rerun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Limitations: with one storage node every input is local, so 99.97% is the best case; runtime cannot improve for a CPU-bound converter; and our OSDs are loop files on one disk. Demo 3 adds several storage nodes on Kubernetes with Rook, a serverless API and the first dependency-aware placement policy, and reruns this exact baseline on that setup. At full scale, converting DROID alone with separate compute would move about 2 terabytes between hosts.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12648" y="2057400"/>
            <a:ext cx="10972800" cy="365760"/>
          </a:xfrm>
          <a:prstGeom prst="rect">
            <a:avLst/>
          </a:prstGeom>
          <a:noFill/>
          <a:ln/>
        </p:spPr>
        <p:txBody>
          <a:bodyPr wrap="square" rtlCol="0"/>
          <a:lstStyle>
            <a:lvl1pPr indent="0" marL="0">
              <a:buNone/>
              <a:defRPr lang="en-US" sz="1600" dirty="0">
                <a:solidFill>
                  <a:schemeClr val="accent1"/>
                </a:solidFill>
                <a:latin typeface="IBM Plex Mono" pitchFamily="34" charset="0"/>
                <a:ea typeface="IBM Plex Mono" pitchFamily="34" charset="-122"/>
                <a:cs typeface="IBM Plex Mono" pitchFamily="34" charset="-120"/>
              </a:defRPr>
            </a:lvl1pPr>
          </a:lstStyle>
          <a:p>
            <a:pPr indent="0" marL="0">
              <a:buNone/>
            </a:pPr>
            <a:endParaRPr lang="en-US" sz="1600" dirty="0"/>
          </a:p>
        </p:txBody>
      </p:sp>
      <p:sp>
        <p:nvSpPr>
          <p:cNvPr id="3" name="Text 0"/>
          <p:cNvSpPr/>
          <p:nvPr>
            <p:ph idx="101" type="title" hasCustomPrompt="1"/>
          </p:nvPr>
        </p:nvSpPr>
        <p:spPr>
          <a:xfrm>
            <a:off x="612648" y="2514600"/>
            <a:ext cx="10972800" cy="914400"/>
          </a:xfrm>
          <a:prstGeom prst="rect">
            <a:avLst/>
          </a:prstGeom>
          <a:noFill/>
          <a:ln/>
        </p:spPr>
        <p:txBody>
          <a:bodyPr wrap="square" rtlCol="0"/>
          <a:lstStyle>
            <a:lvl1pPr algn="l" indent="0" marL="0">
              <a:buNone/>
              <a:defRPr lang="en-US" sz="5200" dirty="0">
                <a:solidFill>
                  <a:schemeClr val="tx1"/>
                </a:solidFill>
              </a:defRPr>
            </a:lvl1pPr>
          </a:lstStyle>
          <a:p>
            <a:pPr algn="l" indent="0" marL="0">
              <a:buNone/>
            </a:pPr>
            <a:endParaRPr lang="en-US" sz="5200" dirty="0"/>
          </a:p>
        </p:txBody>
      </p:sp>
      <p:sp>
        <p:nvSpPr>
          <p:cNvPr id="4" name="Text 0"/>
          <p:cNvSpPr/>
          <p:nvPr>
            <p:ph idx="102" type="body" hasCustomPrompt="1"/>
          </p:nvPr>
        </p:nvSpPr>
        <p:spPr>
          <a:xfrm>
            <a:off x="612648" y="3520440"/>
            <a:ext cx="10972800" cy="457200"/>
          </a:xfrm>
          <a:prstGeom prst="rect">
            <a:avLst/>
          </a:prstGeom>
          <a:noFill/>
          <a:ln/>
        </p:spPr>
        <p:txBody>
          <a:bodyPr wrap="square" rtlCol="0"/>
          <a:lstStyle>
            <a:lvl1pPr indent="0" marL="0">
              <a:buNone/>
              <a:defRPr lang="en-US" sz="2200" dirty="0">
                <a:solidFill>
                  <a:schemeClr val="tx2"/>
                </a:solidFill>
              </a:defRPr>
            </a:lvl1pPr>
          </a:lstStyle>
          <a:p>
            <a:pPr indent="0" marL="0">
              <a:buNone/>
            </a:pPr>
            <a:endParaRPr lang="en-US" sz="2200" dirty="0"/>
          </a:p>
        </p:txBody>
      </p:sp>
      <p:sp>
        <p:nvSpPr>
          <p:cNvPr id="5" name="Text 0"/>
          <p:cNvSpPr/>
          <p:nvPr>
            <p:ph idx="103" type="body" hasCustomPrompt="1"/>
          </p:nvPr>
        </p:nvSpPr>
        <p:spPr>
          <a:xfrm>
            <a:off x="612648" y="5394960"/>
            <a:ext cx="10972800" cy="365760"/>
          </a:xfrm>
          <a:prstGeom prst="rect">
            <a:avLst/>
          </a:prstGeom>
          <a:noFill/>
          <a:ln/>
        </p:spPr>
        <p:txBody>
          <a:bodyPr wrap="square" rtlCol="0"/>
          <a:lstStyle>
            <a:lvl1pPr indent="0" marL="0">
              <a:buNone/>
              <a:defRPr lang="en-US" sz="1700" dirty="0">
                <a:solidFill>
                  <a:schemeClr val="tx2"/>
                </a:solidFill>
              </a:defRPr>
            </a:lvl1pPr>
          </a:lstStyle>
          <a:p>
            <a:pPr indent="0" marL="0">
              <a:buNone/>
            </a:pP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12648" y="393192"/>
            <a:ext cx="10972800" cy="594360"/>
          </a:xfrm>
          <a:prstGeom prst="rect">
            <a:avLst/>
          </a:prstGeom>
          <a:noFill/>
          <a:ln/>
        </p:spPr>
        <p:txBody>
          <a:bodyPr wrap="square" rtlCol="0"/>
          <a:lstStyle>
            <a:lvl1pPr algn="l" indent="0" marL="0">
              <a:buNone/>
              <a:defRPr lang="en-US" sz="3400" dirty="0">
                <a:solidFill>
                  <a:schemeClr val="tx1"/>
                </a:solidFill>
              </a:defRPr>
            </a:lvl1pPr>
          </a:lstStyle>
          <a:p>
            <a:pPr algn="l" indent="0" marL="0">
              <a:buNone/>
            </a:pPr>
            <a:endParaRPr lang="en-US" sz="3400" dirty="0"/>
          </a:p>
        </p:txBody>
      </p:sp>
      <p:sp>
        <p:nvSpPr>
          <p:cNvPr id="3" name="Text 0"/>
          <p:cNvSpPr/>
          <p:nvPr>
            <p:ph idx="101" type="body" hasCustomPrompt="1"/>
          </p:nvPr>
        </p:nvSpPr>
        <p:spPr>
          <a:xfrm>
            <a:off x="612648" y="1088136"/>
            <a:ext cx="10972800" cy="365760"/>
          </a:xfrm>
          <a:prstGeom prst="rect">
            <a:avLst/>
          </a:prstGeom>
          <a:noFill/>
          <a:ln/>
        </p:spPr>
        <p:txBody>
          <a:bodyPr wrap="square" rtlCol="0"/>
          <a:lstStyle>
            <a:lvl1pPr indent="0" marL="0">
              <a:buNone/>
              <a:defRPr lang="en-US" sz="1700" dirty="0">
                <a:solidFill>
                  <a:schemeClr val="tx2"/>
                </a:solidFill>
              </a:defRPr>
            </a:lvl1pPr>
          </a:lstStyle>
          <a:p>
            <a:pPr indent="0" marL="0">
              <a:buNone/>
            </a:pPr>
            <a:endParaRPr lang="en-US" sz="1700" dirty="0"/>
          </a:p>
        </p:txBody>
      </p:sp>
      <p:sp>
        <p:nvSpPr>
          <p:cNvPr id="25" name="Slide Number Placeholder 0"/>
          <p:cNvSpPr>
            <a:spLocks noGrp="1"/>
          </p:cNvSpPr>
          <p:nvPr>
            <p:ph type="sldNum" sz="quarter" idx="4294967295"/>
          </p:nvPr>
        </p:nvSpPr>
        <p:spPr>
          <a:xfrm>
            <a:off x="11128248"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86574"/>
                </a:solidFill>
                <a:latin typeface="IBM Plex Mono"/>
                <a:ea typeface="IBM Plex Mono"/>
                <a:cs typeface="IBM Plex Mon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28248"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86574"/>
                </a:solidFill>
                <a:latin typeface="IBM Plex Mono"/>
                <a:ea typeface="IBM Plex Mono"/>
                <a:cs typeface="IBM Plex Mon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12648" y="2057400"/>
            <a:ext cx="10972800" cy="365760"/>
          </a:xfrm>
          <a:prstGeom prst="rect">
            <a:avLst/>
          </a:prstGeom>
          <a:noFill/>
          <a:ln/>
        </p:spPr>
        <p:txBody>
          <a:bodyPr wrap="square" lIns="0" tIns="0" rIns="0" bIns="0" rtlCol="0" anchor="b"/>
          <a:lstStyle/>
          <a:p>
            <a:pPr indent="0" marL="0">
              <a:buNone/>
            </a:pPr>
            <a:r>
              <a:rPr lang="en-US" sz="1600" dirty="0">
                <a:solidFill>
                  <a:schemeClr val="accent1"/>
                </a:solidFill>
                <a:latin typeface="IBM Plex Mono" pitchFamily="34" charset="0"/>
                <a:ea typeface="IBM Plex Mono" pitchFamily="34" charset="-122"/>
                <a:cs typeface="IBM Plex Mono" pitchFamily="34" charset="-120"/>
              </a:rPr>
              <a:t>DEMO 2  ·  10 / 21</a:t>
            </a:r>
            <a:endParaRPr lang="en-US" sz="1600" dirty="0"/>
          </a:p>
        </p:txBody>
      </p:sp>
      <p:sp>
        <p:nvSpPr>
          <p:cNvPr id="3" name="Text 0"/>
          <p:cNvSpPr/>
          <p:nvPr>
            <p:ph idx="101" type="title" hasCustomPrompt="1"/>
          </p:nvPr>
        </p:nvSpPr>
        <p:spPr>
          <a:xfrm>
            <a:off x="612648" y="2514600"/>
            <a:ext cx="10972800" cy="914400"/>
          </a:xfrm>
          <a:prstGeom prst="rect">
            <a:avLst/>
          </a:prstGeom>
          <a:noFill/>
          <a:ln/>
        </p:spPr>
        <p:txBody>
          <a:bodyPr wrap="square" lIns="0" tIns="0" rIns="0" bIns="0" rtlCol="0" anchor="ctr"/>
          <a:lstStyle/>
          <a:p>
            <a:pPr algn="l" indent="0" marL="0">
              <a:buNone/>
            </a:pPr>
            <a:r>
              <a:rPr lang="en-US" sz="5200" dirty="0">
                <a:solidFill>
                  <a:schemeClr val="tx1"/>
                </a:solidFill>
              </a:rPr>
              <a:t>Computational Storage</a:t>
            </a:r>
            <a:endParaRPr lang="en-US" sz="5200" dirty="0"/>
          </a:p>
        </p:txBody>
      </p:sp>
      <p:sp>
        <p:nvSpPr>
          <p:cNvPr id="4" name="Text 0"/>
          <p:cNvSpPr/>
          <p:nvPr>
            <p:ph idx="102" type="body" hasCustomPrompt="1"/>
          </p:nvPr>
        </p:nvSpPr>
        <p:spPr>
          <a:xfrm>
            <a:off x="612648" y="3520440"/>
            <a:ext cx="10972800" cy="457200"/>
          </a:xfrm>
          <a:prstGeom prst="rect">
            <a:avLst/>
          </a:prstGeom>
          <a:noFill/>
          <a:ln/>
        </p:spPr>
        <p:txBody>
          <a:bodyPr wrap="square" lIns="0" tIns="0" rIns="0" bIns="0" rtlCol="0" anchor="t"/>
          <a:lstStyle/>
          <a:p>
            <a:pPr indent="0" marL="0">
              <a:buNone/>
            </a:pPr>
            <a:r>
              <a:rPr lang="en-US" sz="2200" dirty="0">
                <a:solidFill>
                  <a:schemeClr val="tx2"/>
                </a:solidFill>
              </a:rPr>
              <a:t>A working prototype and its separate-compute baseline</a:t>
            </a:r>
            <a:endParaRPr lang="en-US" sz="2200" dirty="0"/>
          </a:p>
        </p:txBody>
      </p:sp>
      <p:sp>
        <p:nvSpPr>
          <p:cNvPr id="5" name="Text 0"/>
          <p:cNvSpPr/>
          <p:nvPr>
            <p:ph idx="103" type="body" hasCustomPrompt="1"/>
          </p:nvPr>
        </p:nvSpPr>
        <p:spPr>
          <a:xfrm>
            <a:off x="612648" y="5394960"/>
            <a:ext cx="10972800" cy="365760"/>
          </a:xfrm>
          <a:prstGeom prst="rect">
            <a:avLst/>
          </a:prstGeom>
          <a:noFill/>
          <a:ln/>
        </p:spPr>
        <p:txBody>
          <a:bodyPr wrap="square" lIns="0" tIns="0" rIns="0" bIns="0" rtlCol="0" anchor="t"/>
          <a:lstStyle/>
          <a:p>
            <a:pPr indent="0" marL="0">
              <a:buNone/>
            </a:pPr>
            <a:r>
              <a:rPr lang="en-US" sz="1700" dirty="0">
                <a:solidFill>
                  <a:schemeClr val="tx2"/>
                </a:solidFill>
              </a:rPr>
              <a:t>Aakash, Harshada, Ivan, Jeehan, Mason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12648" y="393192"/>
            <a:ext cx="10972800" cy="594360"/>
          </a:xfrm>
          <a:prstGeom prst="rect">
            <a:avLst/>
          </a:prstGeom>
          <a:noFill/>
          <a:ln/>
        </p:spPr>
        <p:txBody>
          <a:bodyPr wrap="square" lIns="0" tIns="0" rIns="0" bIns="0" rtlCol="0" anchor="t"/>
          <a:lstStyle/>
          <a:p>
            <a:pPr algn="l" indent="0" marL="0">
              <a:buNone/>
            </a:pPr>
            <a:r>
              <a:rPr lang="en-US" sz="3400" dirty="0">
                <a:solidFill>
                  <a:schemeClr val="tx1"/>
                </a:solidFill>
              </a:rPr>
              <a:t>Why computational storage?</a:t>
            </a:r>
            <a:endParaRPr lang="en-US" sz="3400" dirty="0"/>
          </a:p>
        </p:txBody>
      </p:sp>
      <p:sp>
        <p:nvSpPr>
          <p:cNvPr id="3" name="Text 0"/>
          <p:cNvSpPr/>
          <p:nvPr>
            <p:ph idx="101" type="body" hasCustomPrompt="1"/>
          </p:nvPr>
        </p:nvSpPr>
        <p:spPr>
          <a:xfrm>
            <a:off x="612648" y="1088136"/>
            <a:ext cx="10972800" cy="365760"/>
          </a:xfrm>
          <a:prstGeom prst="rect">
            <a:avLst/>
          </a:prstGeom>
          <a:noFill/>
          <a:ln/>
        </p:spPr>
        <p:txBody>
          <a:bodyPr wrap="square" lIns="0" tIns="0" rIns="0" bIns="0" rtlCol="0" anchor="t"/>
          <a:lstStyle/>
          <a:p>
            <a:pPr indent="0" marL="0">
              <a:buNone/>
            </a:pPr>
            <a:r>
              <a:rPr lang="en-US" sz="1700" dirty="0">
                <a:solidFill>
                  <a:schemeClr val="tx2"/>
                </a:solidFill>
              </a:rPr>
              <a:t>Recap from Demo 1: preprocessing moves data twice</a:t>
            </a:r>
            <a:endParaRPr lang="en-US" sz="1700" dirty="0"/>
          </a:p>
        </p:txBody>
      </p:sp>
      <p:sp>
        <p:nvSpPr>
          <p:cNvPr id="4" name="Text 2"/>
          <p:cNvSpPr txBox="1"/>
          <p:nvPr/>
        </p:nvSpPr>
        <p:spPr>
          <a:xfrm>
            <a:off x="612648" y="1783080"/>
            <a:ext cx="2743200" cy="365760"/>
          </a:xfrm>
          <a:prstGeom prst="rect">
            <a:avLst/>
          </a:prstGeom>
          <a:noFill/>
          <a:ln/>
        </p:spPr>
        <p:txBody>
          <a:bodyPr wrap="square" lIns="0" tIns="0" rIns="0" bIns="0" rtlCol="0" anchor="t"/>
          <a:lstStyle/>
          <a:p>
            <a:pPr indent="0" marL="0">
              <a:buNone/>
            </a:pPr>
            <a:r>
              <a:rPr lang="en-US" sz="1800" dirty="0">
                <a:solidFill>
                  <a:schemeClr val="tx1"/>
                </a:solidFill>
                <a:latin typeface="IBM Plex Sans Medium" pitchFamily="34" charset="0"/>
                <a:ea typeface="IBM Plex Sans Medium" pitchFamily="34" charset="-122"/>
                <a:cs typeface="IBM Plex Sans Medium" pitchFamily="34" charset="-120"/>
              </a:rPr>
              <a:t>Separate</a:t>
            </a:r>
            <a:endParaRPr lang="en-US" sz="1800" dirty="0"/>
          </a:p>
        </p:txBody>
      </p:sp>
      <p:sp>
        <p:nvSpPr>
          <p:cNvPr id="5" name="Shape 3"/>
          <p:cNvSpPr/>
          <p:nvPr/>
        </p:nvSpPr>
        <p:spPr>
          <a:xfrm>
            <a:off x="612648" y="2240280"/>
            <a:ext cx="1600200" cy="1280160"/>
          </a:xfrm>
          <a:prstGeom prst="rect">
            <a:avLst/>
          </a:prstGeom>
          <a:solidFill>
            <a:schemeClr val="bg1"/>
          </a:solidFill>
          <a:ln w="9525">
            <a:solidFill>
              <a:schemeClr val="accent3"/>
            </a:solidFill>
            <a:prstDash val="solid"/>
          </a:ln>
        </p:spPr>
      </p:sp>
      <p:sp>
        <p:nvSpPr>
          <p:cNvPr id="6" name="Text 4"/>
          <p:cNvSpPr txBox="1"/>
          <p:nvPr/>
        </p:nvSpPr>
        <p:spPr>
          <a:xfrm>
            <a:off x="749808" y="2331720"/>
            <a:ext cx="1280160" cy="274320"/>
          </a:xfrm>
          <a:prstGeom prst="rect">
            <a:avLst/>
          </a:prstGeom>
          <a:noFill/>
          <a:ln/>
        </p:spPr>
        <p:txBody>
          <a:bodyPr wrap="square" lIns="0" tIns="0" rIns="0" bIns="0" rtlCol="0" anchor="t"/>
          <a:lstStyle/>
          <a:p>
            <a:pPr indent="0" marL="0">
              <a:buNone/>
            </a:pPr>
            <a:r>
              <a:rPr lang="en-US" sz="1300" dirty="0">
                <a:solidFill>
                  <a:schemeClr val="tx1"/>
                </a:solidFill>
                <a:latin typeface="IBM Plex Sans" pitchFamily="34" charset="0"/>
                <a:ea typeface="IBM Plex Sans" pitchFamily="34" charset="-122"/>
                <a:cs typeface="IBM Plex Sans" pitchFamily="34" charset="-120"/>
              </a:rPr>
              <a:t>Storage</a:t>
            </a:r>
            <a:endParaRPr lang="en-US" sz="1300" dirty="0"/>
          </a:p>
        </p:txBody>
      </p:sp>
      <p:sp>
        <p:nvSpPr>
          <p:cNvPr id="7" name="Shape 5"/>
          <p:cNvSpPr/>
          <p:nvPr/>
        </p:nvSpPr>
        <p:spPr>
          <a:xfrm>
            <a:off x="749808" y="2788920"/>
            <a:ext cx="822960" cy="73152"/>
          </a:xfrm>
          <a:prstGeom prst="rect">
            <a:avLst/>
          </a:prstGeom>
          <a:solidFill>
            <a:schemeClr val="tx1"/>
          </a:solidFill>
          <a:ln/>
        </p:spPr>
      </p:sp>
      <p:sp>
        <p:nvSpPr>
          <p:cNvPr id="8" name="Shape 6"/>
          <p:cNvSpPr/>
          <p:nvPr/>
        </p:nvSpPr>
        <p:spPr>
          <a:xfrm>
            <a:off x="749808" y="2907792"/>
            <a:ext cx="822960" cy="73152"/>
          </a:xfrm>
          <a:prstGeom prst="rect">
            <a:avLst/>
          </a:prstGeom>
          <a:solidFill>
            <a:schemeClr val="tx1"/>
          </a:solidFill>
          <a:ln/>
        </p:spPr>
      </p:sp>
      <p:sp>
        <p:nvSpPr>
          <p:cNvPr id="9" name="Shape 7"/>
          <p:cNvSpPr/>
          <p:nvPr/>
        </p:nvSpPr>
        <p:spPr>
          <a:xfrm>
            <a:off x="749808" y="3026664"/>
            <a:ext cx="822960" cy="73152"/>
          </a:xfrm>
          <a:prstGeom prst="rect">
            <a:avLst/>
          </a:prstGeom>
          <a:solidFill>
            <a:schemeClr val="tx1"/>
          </a:solidFill>
          <a:ln/>
        </p:spPr>
      </p:sp>
      <p:sp>
        <p:nvSpPr>
          <p:cNvPr id="10" name="Shape 8"/>
          <p:cNvSpPr/>
          <p:nvPr/>
        </p:nvSpPr>
        <p:spPr>
          <a:xfrm>
            <a:off x="3977640" y="2240280"/>
            <a:ext cx="1600200" cy="1280160"/>
          </a:xfrm>
          <a:prstGeom prst="rect">
            <a:avLst/>
          </a:prstGeom>
          <a:solidFill>
            <a:schemeClr val="bg1"/>
          </a:solidFill>
          <a:ln w="9525">
            <a:solidFill>
              <a:schemeClr val="accent3"/>
            </a:solidFill>
            <a:prstDash val="solid"/>
          </a:ln>
        </p:spPr>
      </p:sp>
      <p:sp>
        <p:nvSpPr>
          <p:cNvPr id="11" name="Text 9"/>
          <p:cNvSpPr txBox="1"/>
          <p:nvPr/>
        </p:nvSpPr>
        <p:spPr>
          <a:xfrm>
            <a:off x="4114800" y="2331720"/>
            <a:ext cx="1280160" cy="274320"/>
          </a:xfrm>
          <a:prstGeom prst="rect">
            <a:avLst/>
          </a:prstGeom>
          <a:noFill/>
          <a:ln/>
        </p:spPr>
        <p:txBody>
          <a:bodyPr wrap="square" lIns="0" tIns="0" rIns="0" bIns="0" rtlCol="0" anchor="t"/>
          <a:lstStyle/>
          <a:p>
            <a:pPr indent="0" marL="0">
              <a:buNone/>
            </a:pPr>
            <a:r>
              <a:rPr lang="en-US" sz="1300" dirty="0">
                <a:solidFill>
                  <a:schemeClr val="tx1"/>
                </a:solidFill>
                <a:latin typeface="IBM Plex Sans" pitchFamily="34" charset="0"/>
                <a:ea typeface="IBM Plex Sans" pitchFamily="34" charset="-122"/>
                <a:cs typeface="IBM Plex Sans" pitchFamily="34" charset="-120"/>
              </a:rPr>
              <a:t>Compute</a:t>
            </a:r>
            <a:endParaRPr lang="en-US" sz="1300" dirty="0"/>
          </a:p>
        </p:txBody>
      </p:sp>
      <p:sp>
        <p:nvSpPr>
          <p:cNvPr id="12" name="Shape 10"/>
          <p:cNvSpPr/>
          <p:nvPr/>
        </p:nvSpPr>
        <p:spPr>
          <a:xfrm>
            <a:off x="4114800" y="2743200"/>
            <a:ext cx="548640" cy="548640"/>
          </a:xfrm>
          <a:prstGeom prst="rect">
            <a:avLst/>
          </a:prstGeom>
          <a:solidFill>
            <a:schemeClr val="accent2"/>
          </a:solidFill>
          <a:ln/>
        </p:spPr>
      </p:sp>
      <p:sp>
        <p:nvSpPr>
          <p:cNvPr id="13" name="Text 11"/>
          <p:cNvSpPr txBox="1"/>
          <p:nvPr/>
        </p:nvSpPr>
        <p:spPr>
          <a:xfrm>
            <a:off x="4114800" y="2743200"/>
            <a:ext cx="548640" cy="548640"/>
          </a:xfrm>
          <a:prstGeom prst="rect">
            <a:avLst/>
          </a:prstGeom>
          <a:noFill/>
          <a:ln/>
        </p:spPr>
        <p:txBody>
          <a:bodyPr wrap="square" lIns="0" tIns="0" rIns="0" bIns="0" rtlCol="0" anchor="ctr"/>
          <a:lstStyle/>
          <a:p>
            <a:pPr algn="ctr" indent="0" marL="0">
              <a:buNone/>
            </a:pPr>
            <a:r>
              <a:rPr lang="en-US" sz="2040" i="1" dirty="0">
                <a:solidFill>
                  <a:schemeClr val="accent1"/>
                </a:solidFill>
                <a:latin typeface="IBM Plex Sans" pitchFamily="34" charset="0"/>
                <a:ea typeface="IBM Plex Sans" pitchFamily="34" charset="-122"/>
                <a:cs typeface="IBM Plex Sans" pitchFamily="34" charset="-120"/>
              </a:rPr>
              <a:t>ƒ</a:t>
            </a:r>
            <a:endParaRPr lang="en-US" sz="2040" dirty="0"/>
          </a:p>
        </p:txBody>
      </p:sp>
      <p:sp>
        <p:nvSpPr>
          <p:cNvPr id="14" name="Shape 12"/>
          <p:cNvSpPr/>
          <p:nvPr/>
        </p:nvSpPr>
        <p:spPr>
          <a:xfrm>
            <a:off x="2212848" y="2697480"/>
            <a:ext cx="1764792" cy="0"/>
          </a:xfrm>
          <a:prstGeom prst="line">
            <a:avLst/>
          </a:prstGeom>
          <a:noFill/>
          <a:ln w="15875">
            <a:solidFill>
              <a:schemeClr val="tx1"/>
            </a:solidFill>
            <a:prstDash val="solid"/>
            <a:tailEnd type="triangle"/>
          </a:ln>
        </p:spPr>
      </p:sp>
      <p:sp>
        <p:nvSpPr>
          <p:cNvPr id="15" name="Text 13"/>
          <p:cNvSpPr txBox="1"/>
          <p:nvPr/>
        </p:nvSpPr>
        <p:spPr>
          <a:xfrm>
            <a:off x="2212848" y="2395728"/>
            <a:ext cx="1764792" cy="256032"/>
          </a:xfrm>
          <a:prstGeom prst="rect">
            <a:avLst/>
          </a:prstGeom>
          <a:noFill/>
          <a:ln/>
        </p:spPr>
        <p:txBody>
          <a:bodyPr wrap="square" lIns="0" tIns="0" rIns="0" bIns="0" rtlCol="0" anchor="t"/>
          <a:lstStyle/>
          <a:p>
            <a:pPr algn="ctr" indent="0" marL="0">
              <a:buNone/>
            </a:pPr>
            <a:r>
              <a:rPr lang="en-US" sz="1100" spc="50" kern="0" dirty="0">
                <a:solidFill>
                  <a:schemeClr val="tx2"/>
                </a:solidFill>
                <a:latin typeface="IBM Plex Mono" pitchFamily="34" charset="0"/>
                <a:ea typeface="IBM Plex Mono" pitchFamily="34" charset="-122"/>
                <a:cs typeface="IBM Plex Mono" pitchFamily="34" charset="-120"/>
              </a:rPr>
              <a:t>input</a:t>
            </a:r>
            <a:endParaRPr lang="en-US" sz="1100" dirty="0"/>
          </a:p>
        </p:txBody>
      </p:sp>
      <p:sp>
        <p:nvSpPr>
          <p:cNvPr id="16" name="Shape 14"/>
          <p:cNvSpPr/>
          <p:nvPr/>
        </p:nvSpPr>
        <p:spPr>
          <a:xfrm flipH="1">
            <a:off x="2212848" y="3154680"/>
            <a:ext cx="1764792" cy="0"/>
          </a:xfrm>
          <a:prstGeom prst="line">
            <a:avLst/>
          </a:prstGeom>
          <a:noFill/>
          <a:ln w="15875">
            <a:solidFill>
              <a:schemeClr val="accent1"/>
            </a:solidFill>
            <a:prstDash val="solid"/>
            <a:tailEnd type="triangle"/>
          </a:ln>
        </p:spPr>
      </p:sp>
      <p:sp>
        <p:nvSpPr>
          <p:cNvPr id="17" name="Text 15"/>
          <p:cNvSpPr txBox="1"/>
          <p:nvPr/>
        </p:nvSpPr>
        <p:spPr>
          <a:xfrm>
            <a:off x="2212848" y="3218688"/>
            <a:ext cx="1764792" cy="256032"/>
          </a:xfrm>
          <a:prstGeom prst="rect">
            <a:avLst/>
          </a:prstGeom>
          <a:noFill/>
          <a:ln/>
        </p:spPr>
        <p:txBody>
          <a:bodyPr wrap="square" lIns="0" tIns="0" rIns="0" bIns="0" rtlCol="0" anchor="t"/>
          <a:lstStyle/>
          <a:p>
            <a:pPr algn="ctr" indent="0" marL="0">
              <a:buNone/>
            </a:pPr>
            <a:r>
              <a:rPr lang="en-US" sz="1100" spc="50" kern="0" dirty="0">
                <a:solidFill>
                  <a:schemeClr val="accent1"/>
                </a:solidFill>
                <a:latin typeface="IBM Plex Mono" pitchFamily="34" charset="0"/>
                <a:ea typeface="IBM Plex Mono" pitchFamily="34" charset="-122"/>
                <a:cs typeface="IBM Plex Mono" pitchFamily="34" charset="-120"/>
              </a:rPr>
              <a:t>output</a:t>
            </a:r>
            <a:endParaRPr lang="en-US" sz="1100" dirty="0"/>
          </a:p>
        </p:txBody>
      </p:sp>
      <p:sp>
        <p:nvSpPr>
          <p:cNvPr id="18" name="Text 16"/>
          <p:cNvSpPr txBox="1"/>
          <p:nvPr/>
        </p:nvSpPr>
        <p:spPr>
          <a:xfrm>
            <a:off x="612648" y="3931920"/>
            <a:ext cx="2743200" cy="365760"/>
          </a:xfrm>
          <a:prstGeom prst="rect">
            <a:avLst/>
          </a:prstGeom>
          <a:noFill/>
          <a:ln/>
        </p:spPr>
        <p:txBody>
          <a:bodyPr wrap="square" lIns="0" tIns="0" rIns="0" bIns="0" rtlCol="0" anchor="t"/>
          <a:lstStyle/>
          <a:p>
            <a:pPr indent="0" marL="0">
              <a:buNone/>
            </a:pPr>
            <a:r>
              <a:rPr lang="en-US" sz="1800" dirty="0">
                <a:solidFill>
                  <a:schemeClr val="tx1"/>
                </a:solidFill>
                <a:latin typeface="IBM Plex Sans Medium" pitchFamily="34" charset="0"/>
                <a:ea typeface="IBM Plex Sans Medium" pitchFamily="34" charset="-122"/>
                <a:cs typeface="IBM Plex Sans Medium" pitchFamily="34" charset="-120"/>
              </a:rPr>
              <a:t>Combined</a:t>
            </a:r>
            <a:endParaRPr lang="en-US" sz="1800" dirty="0"/>
          </a:p>
        </p:txBody>
      </p:sp>
      <p:sp>
        <p:nvSpPr>
          <p:cNvPr id="19" name="Shape 17"/>
          <p:cNvSpPr/>
          <p:nvPr/>
        </p:nvSpPr>
        <p:spPr>
          <a:xfrm>
            <a:off x="612648" y="4389120"/>
            <a:ext cx="4965192" cy="1280160"/>
          </a:xfrm>
          <a:prstGeom prst="rect">
            <a:avLst/>
          </a:prstGeom>
          <a:solidFill>
            <a:schemeClr val="accent2"/>
          </a:solidFill>
          <a:ln/>
        </p:spPr>
      </p:sp>
      <p:sp>
        <p:nvSpPr>
          <p:cNvPr id="20" name="Text 18"/>
          <p:cNvSpPr txBox="1"/>
          <p:nvPr/>
        </p:nvSpPr>
        <p:spPr>
          <a:xfrm>
            <a:off x="749808" y="4480560"/>
            <a:ext cx="2743200" cy="274320"/>
          </a:xfrm>
          <a:prstGeom prst="rect">
            <a:avLst/>
          </a:prstGeom>
          <a:noFill/>
          <a:ln/>
        </p:spPr>
        <p:txBody>
          <a:bodyPr wrap="square" lIns="0" tIns="0" rIns="0" bIns="0" rtlCol="0" anchor="t"/>
          <a:lstStyle/>
          <a:p>
            <a:pPr indent="0" marL="0">
              <a:buNone/>
            </a:pPr>
            <a:r>
              <a:rPr lang="en-US" sz="1300" dirty="0">
                <a:solidFill>
                  <a:schemeClr val="tx1"/>
                </a:solidFill>
                <a:latin typeface="IBM Plex Sans" pitchFamily="34" charset="0"/>
                <a:ea typeface="IBM Plex Sans" pitchFamily="34" charset="-122"/>
                <a:cs typeface="IBM Plex Sans" pitchFamily="34" charset="-120"/>
              </a:rPr>
              <a:t>Storage + compute</a:t>
            </a:r>
            <a:endParaRPr lang="en-US" sz="1300" dirty="0"/>
          </a:p>
        </p:txBody>
      </p:sp>
      <p:sp>
        <p:nvSpPr>
          <p:cNvPr id="21" name="Shape 19"/>
          <p:cNvSpPr/>
          <p:nvPr/>
        </p:nvSpPr>
        <p:spPr>
          <a:xfrm>
            <a:off x="749808" y="4937760"/>
            <a:ext cx="822960" cy="73152"/>
          </a:xfrm>
          <a:prstGeom prst="rect">
            <a:avLst/>
          </a:prstGeom>
          <a:solidFill>
            <a:schemeClr val="tx1"/>
          </a:solidFill>
          <a:ln/>
        </p:spPr>
      </p:sp>
      <p:sp>
        <p:nvSpPr>
          <p:cNvPr id="22" name="Shape 20"/>
          <p:cNvSpPr/>
          <p:nvPr/>
        </p:nvSpPr>
        <p:spPr>
          <a:xfrm>
            <a:off x="749808" y="5056632"/>
            <a:ext cx="822960" cy="73152"/>
          </a:xfrm>
          <a:prstGeom prst="rect">
            <a:avLst/>
          </a:prstGeom>
          <a:solidFill>
            <a:schemeClr val="tx1"/>
          </a:solidFill>
          <a:ln/>
        </p:spPr>
      </p:sp>
      <p:sp>
        <p:nvSpPr>
          <p:cNvPr id="23" name="Shape 21"/>
          <p:cNvSpPr/>
          <p:nvPr/>
        </p:nvSpPr>
        <p:spPr>
          <a:xfrm>
            <a:off x="749808" y="5175504"/>
            <a:ext cx="822960" cy="73152"/>
          </a:xfrm>
          <a:prstGeom prst="rect">
            <a:avLst/>
          </a:prstGeom>
          <a:solidFill>
            <a:schemeClr val="tx1"/>
          </a:solidFill>
          <a:ln/>
        </p:spPr>
      </p:sp>
      <p:sp>
        <p:nvSpPr>
          <p:cNvPr id="24" name="Shape 22"/>
          <p:cNvSpPr/>
          <p:nvPr/>
        </p:nvSpPr>
        <p:spPr>
          <a:xfrm>
            <a:off x="1783080" y="5056632"/>
            <a:ext cx="822960" cy="0"/>
          </a:xfrm>
          <a:prstGeom prst="line">
            <a:avLst/>
          </a:prstGeom>
          <a:noFill/>
          <a:ln w="15875">
            <a:solidFill>
              <a:schemeClr val="tx1"/>
            </a:solidFill>
            <a:prstDash val="solid"/>
            <a:tailEnd type="triangle"/>
          </a:ln>
        </p:spPr>
      </p:sp>
      <p:sp>
        <p:nvSpPr>
          <p:cNvPr id="25" name="Shape 23"/>
          <p:cNvSpPr/>
          <p:nvPr/>
        </p:nvSpPr>
        <p:spPr>
          <a:xfrm>
            <a:off x="2788920" y="4800600"/>
            <a:ext cx="548640" cy="548640"/>
          </a:xfrm>
          <a:prstGeom prst="rect">
            <a:avLst/>
          </a:prstGeom>
          <a:solidFill>
            <a:schemeClr val="accent2"/>
          </a:solidFill>
          <a:ln/>
        </p:spPr>
      </p:sp>
      <p:sp>
        <p:nvSpPr>
          <p:cNvPr id="26" name="Text 24"/>
          <p:cNvSpPr txBox="1"/>
          <p:nvPr/>
        </p:nvSpPr>
        <p:spPr>
          <a:xfrm>
            <a:off x="2788920" y="4800600"/>
            <a:ext cx="548640" cy="548640"/>
          </a:xfrm>
          <a:prstGeom prst="rect">
            <a:avLst/>
          </a:prstGeom>
          <a:noFill/>
          <a:ln/>
        </p:spPr>
        <p:txBody>
          <a:bodyPr wrap="square" lIns="0" tIns="0" rIns="0" bIns="0" rtlCol="0" anchor="ctr"/>
          <a:lstStyle/>
          <a:p>
            <a:pPr algn="ctr" indent="0" marL="0">
              <a:buNone/>
            </a:pPr>
            <a:r>
              <a:rPr lang="en-US" sz="2040" i="1" dirty="0">
                <a:solidFill>
                  <a:schemeClr val="accent1"/>
                </a:solidFill>
                <a:latin typeface="IBM Plex Sans" pitchFamily="34" charset="0"/>
                <a:ea typeface="IBM Plex Sans" pitchFamily="34" charset="-122"/>
                <a:cs typeface="IBM Plex Sans" pitchFamily="34" charset="-120"/>
              </a:rPr>
              <a:t>ƒ</a:t>
            </a:r>
            <a:endParaRPr lang="en-US" sz="2040" dirty="0"/>
          </a:p>
        </p:txBody>
      </p:sp>
      <p:sp>
        <p:nvSpPr>
          <p:cNvPr id="27" name="Text 25"/>
          <p:cNvSpPr txBox="1"/>
          <p:nvPr/>
        </p:nvSpPr>
        <p:spPr>
          <a:xfrm>
            <a:off x="3520440" y="4800600"/>
            <a:ext cx="2011680" cy="548640"/>
          </a:xfrm>
          <a:prstGeom prst="rect">
            <a:avLst/>
          </a:prstGeom>
          <a:noFill/>
          <a:ln/>
        </p:spPr>
        <p:txBody>
          <a:bodyPr wrap="square" lIns="0" tIns="0" rIns="0" bIns="0" rtlCol="0" anchor="ctr"/>
          <a:lstStyle/>
          <a:p>
            <a:pPr indent="0" marL="0">
              <a:buNone/>
            </a:pPr>
            <a:r>
              <a:rPr lang="en-US" sz="1100" spc="50" kern="0" dirty="0">
                <a:solidFill>
                  <a:schemeClr val="tx2"/>
                </a:solidFill>
                <a:latin typeface="IBM Plex Mono" pitchFamily="34" charset="0"/>
                <a:ea typeface="IBM Plex Mono" pitchFamily="34" charset="-122"/>
                <a:cs typeface="IBM Plex Mono" pitchFamily="34" charset="-120"/>
              </a:rPr>
              <a:t>local read → process</a:t>
            </a:r>
            <a:endParaRPr lang="en-US" sz="1100" dirty="0"/>
          </a:p>
        </p:txBody>
      </p:sp>
      <p:sp>
        <p:nvSpPr>
          <p:cNvPr id="28" name="Text 26"/>
          <p:cNvSpPr txBox="1"/>
          <p:nvPr/>
        </p:nvSpPr>
        <p:spPr>
          <a:xfrm>
            <a:off x="6949440" y="1828800"/>
            <a:ext cx="4572000" cy="274320"/>
          </a:xfrm>
          <a:prstGeom prst="rect">
            <a:avLst/>
          </a:prstGeom>
          <a:noFill/>
          <a:ln/>
        </p:spPr>
        <p:txBody>
          <a:bodyPr wrap="square" lIns="0" tIns="0" rIns="0" bIns="0" rtlCol="0" anchor="t"/>
          <a:lstStyle/>
          <a:p>
            <a:pPr indent="0" marL="0">
              <a:buNone/>
            </a:pPr>
            <a:r>
              <a:rPr lang="en-US" sz="1100" spc="50" kern="0" dirty="0">
                <a:solidFill>
                  <a:schemeClr val="tx2"/>
                </a:solidFill>
                <a:latin typeface="IBM Plex Mono" pitchFamily="34" charset="0"/>
                <a:ea typeface="IBM Plex Mono" pitchFamily="34" charset="-122"/>
                <a:cs typeface="IBM Plex Mono" pitchFamily="34" charset="-120"/>
              </a:rPr>
              <a:t>DROID, RLDS → LEROBOT</a:t>
            </a:r>
            <a:endParaRPr lang="en-US" sz="1100" dirty="0"/>
          </a:p>
        </p:txBody>
      </p:sp>
      <p:sp>
        <p:nvSpPr>
          <p:cNvPr id="29" name="Text 27"/>
          <p:cNvSpPr txBox="1"/>
          <p:nvPr/>
        </p:nvSpPr>
        <p:spPr>
          <a:xfrm>
            <a:off x="6949440" y="2148840"/>
            <a:ext cx="4636008" cy="548640"/>
          </a:xfrm>
          <a:prstGeom prst="rect">
            <a:avLst/>
          </a:prstGeom>
          <a:noFill/>
          <a:ln/>
        </p:spPr>
        <p:txBody>
          <a:bodyPr wrap="square" lIns="0" tIns="0" rIns="0" bIns="0" rtlCol="0" anchor="t"/>
          <a:lstStyle/>
          <a:p>
            <a:pPr indent="0" marL="0">
              <a:buNone/>
            </a:pPr>
            <a:r>
              <a:rPr lang="en-US" sz="3000" dirty="0">
                <a:solidFill>
                  <a:schemeClr val="tx1"/>
                </a:solidFill>
                <a:latin typeface="IBM Plex Sans Medium" pitchFamily="34" charset="0"/>
                <a:ea typeface="IBM Plex Sans Medium" pitchFamily="34" charset="-122"/>
                <a:cs typeface="IBM Plex Sans Medium" pitchFamily="34" charset="-120"/>
              </a:rPr>
              <a:t>1.7 TB → ≈ 400 GB</a:t>
            </a:r>
            <a:endParaRPr lang="en-US" sz="3000" dirty="0"/>
          </a:p>
        </p:txBody>
      </p:sp>
      <p:sp>
        <p:nvSpPr>
          <p:cNvPr id="30" name="Text 28"/>
          <p:cNvSpPr txBox="1"/>
          <p:nvPr/>
        </p:nvSpPr>
        <p:spPr>
          <a:xfrm>
            <a:off x="6949440" y="2743200"/>
            <a:ext cx="4636008" cy="320040"/>
          </a:xfrm>
          <a:prstGeom prst="rect">
            <a:avLst/>
          </a:prstGeom>
          <a:noFill/>
          <a:ln/>
        </p:spPr>
        <p:txBody>
          <a:bodyPr wrap="square" lIns="0" tIns="0" rIns="0" bIns="0" rtlCol="0" anchor="t"/>
          <a:lstStyle/>
          <a:p>
            <a:pPr indent="0" marL="0">
              <a:buNone/>
            </a:pPr>
            <a:r>
              <a:rPr lang="en-US" sz="1400" dirty="0">
                <a:solidFill>
                  <a:schemeClr val="tx2"/>
                </a:solidFill>
                <a:latin typeface="IBM Plex Sans" pitchFamily="34" charset="0"/>
                <a:ea typeface="IBM Plex Sans" pitchFamily="34" charset="-122"/>
                <a:cs typeface="IBM Plex Sans" pitchFamily="34" charset="-120"/>
              </a:rPr>
              <a:t>input and output sizes in Hugging Face's porting guide</a:t>
            </a:r>
            <a:endParaRPr lang="en-US" sz="1400" dirty="0"/>
          </a:p>
        </p:txBody>
      </p:sp>
      <p:sp>
        <p:nvSpPr>
          <p:cNvPr id="31" name="Shape 29"/>
          <p:cNvSpPr/>
          <p:nvPr/>
        </p:nvSpPr>
        <p:spPr>
          <a:xfrm>
            <a:off x="6949440" y="3429000"/>
            <a:ext cx="4636008" cy="0"/>
          </a:xfrm>
          <a:prstGeom prst="line">
            <a:avLst/>
          </a:prstGeom>
          <a:noFill/>
          <a:ln w="9525">
            <a:solidFill>
              <a:schemeClr val="accent3"/>
            </a:solidFill>
            <a:prstDash val="solid"/>
          </a:ln>
        </p:spPr>
      </p:sp>
      <p:sp>
        <p:nvSpPr>
          <p:cNvPr id="32" name="Text 30"/>
          <p:cNvSpPr txBox="1"/>
          <p:nvPr/>
        </p:nvSpPr>
        <p:spPr>
          <a:xfrm>
            <a:off x="6949440" y="3703320"/>
            <a:ext cx="4572000" cy="274320"/>
          </a:xfrm>
          <a:prstGeom prst="rect">
            <a:avLst/>
          </a:prstGeom>
          <a:noFill/>
          <a:ln/>
        </p:spPr>
        <p:txBody>
          <a:bodyPr wrap="square" lIns="0" tIns="0" rIns="0" bIns="0" rtlCol="0" anchor="t"/>
          <a:lstStyle/>
          <a:p>
            <a:pPr indent="0" marL="0">
              <a:buNone/>
            </a:pPr>
            <a:r>
              <a:rPr lang="en-US" sz="1100" spc="50" kern="0" dirty="0">
                <a:solidFill>
                  <a:schemeClr val="tx2"/>
                </a:solidFill>
                <a:latin typeface="IBM Plex Mono" pitchFamily="34" charset="0"/>
                <a:ea typeface="IBM Plex Mono" pitchFamily="34" charset="-122"/>
                <a:cs typeface="IBM Plex Mono" pitchFamily="34" charset="-120"/>
              </a:rPr>
              <a:t>GOAL IN THE PROPOSAL</a:t>
            </a:r>
            <a:endParaRPr lang="en-US" sz="1100" dirty="0"/>
          </a:p>
        </p:txBody>
      </p:sp>
      <p:sp>
        <p:nvSpPr>
          <p:cNvPr id="33" name="Text 31"/>
          <p:cNvSpPr txBox="1"/>
          <p:nvPr/>
        </p:nvSpPr>
        <p:spPr>
          <a:xfrm>
            <a:off x="6949440" y="3977640"/>
            <a:ext cx="4636008" cy="868680"/>
          </a:xfrm>
          <a:prstGeom prst="rect">
            <a:avLst/>
          </a:prstGeom>
          <a:noFill/>
          <a:ln/>
        </p:spPr>
        <p:txBody>
          <a:bodyPr wrap="square" lIns="0" tIns="0" rIns="0" bIns="0" rtlCol="0" anchor="t"/>
          <a:lstStyle/>
          <a:p>
            <a:pPr indent="0" marL="0">
              <a:buNone/>
            </a:pPr>
            <a:r>
              <a:rPr lang="en-US" sz="5400" dirty="0">
                <a:solidFill>
                  <a:schemeClr val="accent1"/>
                </a:solidFill>
                <a:latin typeface="IBM Plex Sans Medium" pitchFamily="34" charset="0"/>
                <a:ea typeface="IBM Plex Sans Medium" pitchFamily="34" charset="-122"/>
                <a:cs typeface="IBM Plex Sans Medium" pitchFamily="34" charset="-120"/>
              </a:rPr>
              <a:t>≈ −70%</a:t>
            </a:r>
            <a:endParaRPr lang="en-US" sz="5400" dirty="0"/>
          </a:p>
        </p:txBody>
      </p:sp>
      <p:sp>
        <p:nvSpPr>
          <p:cNvPr id="34" name="Text 32"/>
          <p:cNvSpPr txBox="1"/>
          <p:nvPr/>
        </p:nvSpPr>
        <p:spPr>
          <a:xfrm>
            <a:off x="6949440" y="4892040"/>
            <a:ext cx="4636008" cy="640080"/>
          </a:xfrm>
          <a:prstGeom prst="rect">
            <a:avLst/>
          </a:prstGeom>
          <a:noFill/>
          <a:ln/>
        </p:spPr>
        <p:txBody>
          <a:bodyPr wrap="square" lIns="0" tIns="0" rIns="0" bIns="0" rtlCol="0" anchor="t"/>
          <a:lstStyle/>
          <a:p>
            <a:pPr indent="0" marL="0">
              <a:buNone/>
            </a:pPr>
            <a:r>
              <a:rPr lang="en-US" sz="1600" dirty="0">
                <a:solidFill>
                  <a:schemeClr val="tx1"/>
                </a:solidFill>
                <a:latin typeface="IBM Plex Sans" pitchFamily="34" charset="0"/>
                <a:ea typeface="IBM Plex Sans" pitchFamily="34" charset="-122"/>
                <a:cs typeface="IBM Plex Sans" pitchFamily="34" charset="-120"/>
              </a:rPr>
              <a:t>network bytes,</a:t>
            </a:r>
            <a:endParaRPr lang="en-US" sz="1600" dirty="0"/>
          </a:p>
          <a:p>
            <a:pPr indent="0" marL="0">
              <a:buNone/>
            </a:pPr>
            <a:r>
              <a:rPr lang="en-US" sz="1600" dirty="0">
                <a:solidFill>
                  <a:schemeClr val="tx1"/>
                </a:solidFill>
                <a:latin typeface="IBM Plex Sans" pitchFamily="34" charset="0"/>
                <a:ea typeface="IBM Plex Sans" pitchFamily="34" charset="-122"/>
                <a:cs typeface="IBM Plex Sans" pitchFamily="34" charset="-120"/>
              </a:rPr>
              <a:t>with runtime no worse than the baseline</a:t>
            </a:r>
            <a:endParaRPr lang="en-US" sz="1600" dirty="0"/>
          </a:p>
        </p:txBody>
      </p:sp>
      <p:sp>
        <p:nvSpPr>
          <p:cNvPr id="25" name="Slide Number Placeholder 0"/>
          <p:cNvSpPr>
            <a:spLocks noGrp="1"/>
          </p:cNvSpPr>
          <p:nvPr>
            <p:ph type="sldNum" sz="quarter" idx="4294967295"/>
          </p:nvPr>
        </p:nvSpPr>
        <p:spPr>
          <a:xfrm>
            <a:off x="11128248"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86574"/>
                </a:solidFill>
                <a:latin typeface="IBM Plex Mono"/>
                <a:ea typeface="IBM Plex Mono"/>
                <a:cs typeface="IBM Plex Mon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12648" y="393192"/>
            <a:ext cx="10972800" cy="594360"/>
          </a:xfrm>
          <a:prstGeom prst="rect">
            <a:avLst/>
          </a:prstGeom>
          <a:noFill/>
          <a:ln/>
        </p:spPr>
        <p:txBody>
          <a:bodyPr wrap="square" lIns="0" tIns="0" rIns="0" bIns="0" rtlCol="0" anchor="t"/>
          <a:lstStyle/>
          <a:p>
            <a:pPr algn="l" indent="0" marL="0">
              <a:buNone/>
            </a:pPr>
            <a:r>
              <a:rPr lang="en-US" sz="3400" dirty="0">
                <a:solidFill>
                  <a:schemeClr val="tx1"/>
                </a:solidFill>
              </a:rPr>
              <a:t>Demo 2 milestone</a:t>
            </a:r>
            <a:endParaRPr lang="en-US" sz="3400" dirty="0"/>
          </a:p>
        </p:txBody>
      </p:sp>
      <p:sp>
        <p:nvSpPr>
          <p:cNvPr id="3" name="Text 0"/>
          <p:cNvSpPr/>
          <p:nvPr>
            <p:ph idx="101" type="body" hasCustomPrompt="1"/>
          </p:nvPr>
        </p:nvSpPr>
        <p:spPr>
          <a:xfrm>
            <a:off x="612648" y="1088136"/>
            <a:ext cx="10972800" cy="365760"/>
          </a:xfrm>
          <a:prstGeom prst="rect">
            <a:avLst/>
          </a:prstGeom>
          <a:noFill/>
          <a:ln/>
        </p:spPr>
        <p:txBody>
          <a:bodyPr wrap="square" lIns="0" tIns="0" rIns="0" bIns="0" rtlCol="0" anchor="t"/>
          <a:lstStyle/>
          <a:p>
            <a:pPr indent="0" marL="0">
              <a:buNone/>
            </a:pPr>
            <a:r>
              <a:rPr lang="en-US" sz="1700" dirty="0">
                <a:solidFill>
                  <a:schemeClr val="tx2"/>
                </a:solidFill>
              </a:rPr>
              <a:t>As committed in the design proposal: all four parts are done</a:t>
            </a:r>
            <a:endParaRPr lang="en-US" sz="1700" dirty="0"/>
          </a:p>
        </p:txBody>
      </p:sp>
      <p:sp>
        <p:nvSpPr>
          <p:cNvPr id="4" name="Shape 2"/>
          <p:cNvSpPr/>
          <p:nvPr/>
        </p:nvSpPr>
        <p:spPr>
          <a:xfrm>
            <a:off x="612648" y="1856232"/>
            <a:ext cx="621792" cy="310896"/>
          </a:xfrm>
          <a:prstGeom prst="roundRect">
            <a:avLst>
              <a:gd name="adj" fmla="val 23529"/>
            </a:avLst>
          </a:prstGeom>
          <a:solidFill>
            <a:schemeClr val="accent1"/>
          </a:solidFill>
          <a:ln/>
        </p:spPr>
      </p:sp>
      <p:sp>
        <p:nvSpPr>
          <p:cNvPr id="5" name="Text 3"/>
          <p:cNvSpPr txBox="1"/>
          <p:nvPr/>
        </p:nvSpPr>
        <p:spPr>
          <a:xfrm>
            <a:off x="612648" y="1856232"/>
            <a:ext cx="621792" cy="310896"/>
          </a:xfrm>
          <a:prstGeom prst="rect">
            <a:avLst/>
          </a:prstGeom>
          <a:noFill/>
          <a:ln/>
        </p:spPr>
        <p:txBody>
          <a:bodyPr wrap="square" lIns="0" tIns="0" rIns="0" bIns="0" rtlCol="0" anchor="ctr"/>
          <a:lstStyle/>
          <a:p>
            <a:pPr algn="ctr" indent="0" marL="0">
              <a:buNone/>
            </a:pPr>
            <a:r>
              <a:rPr lang="en-US" sz="1000" spc="100" kern="0" dirty="0">
                <a:solidFill>
                  <a:schemeClr val="bg1"/>
                </a:solidFill>
                <a:latin typeface="IBM Plex Mono" pitchFamily="34" charset="0"/>
                <a:ea typeface="IBM Plex Mono" pitchFamily="34" charset="-122"/>
                <a:cs typeface="IBM Plex Mono" pitchFamily="34" charset="-120"/>
              </a:rPr>
              <a:t>DONE</a:t>
            </a:r>
            <a:endParaRPr lang="en-US" sz="1000" dirty="0"/>
          </a:p>
        </p:txBody>
      </p:sp>
      <p:sp>
        <p:nvSpPr>
          <p:cNvPr id="6" name="Text 4"/>
          <p:cNvSpPr txBox="1"/>
          <p:nvPr/>
        </p:nvSpPr>
        <p:spPr>
          <a:xfrm>
            <a:off x="1371600" y="1801368"/>
            <a:ext cx="5852160" cy="384048"/>
          </a:xfrm>
          <a:prstGeom prst="rect">
            <a:avLst/>
          </a:prstGeom>
          <a:noFill/>
          <a:ln/>
        </p:spPr>
        <p:txBody>
          <a:bodyPr wrap="square" lIns="0" tIns="0" rIns="0" bIns="0" rtlCol="0" anchor="t"/>
          <a:lstStyle/>
          <a:p>
            <a:pPr indent="0" marL="0">
              <a:buNone/>
            </a:pPr>
            <a:r>
              <a:rPr lang="en-US" sz="2000" dirty="0">
                <a:solidFill>
                  <a:schemeClr val="tx1"/>
                </a:solidFill>
                <a:latin typeface="IBM Plex Sans Medium" pitchFamily="34" charset="0"/>
                <a:ea typeface="IBM Plex Sans Medium" pitchFamily="34" charset="-122"/>
                <a:cs typeface="IBM Plex Sans Medium" pitchFamily="34" charset="-120"/>
              </a:rPr>
              <a:t>Single-node Ceph cluster</a:t>
            </a:r>
            <a:endParaRPr lang="en-US" sz="2000" dirty="0"/>
          </a:p>
        </p:txBody>
      </p:sp>
      <p:sp>
        <p:nvSpPr>
          <p:cNvPr id="7" name="Text 5"/>
          <p:cNvSpPr txBox="1"/>
          <p:nvPr/>
        </p:nvSpPr>
        <p:spPr>
          <a:xfrm>
            <a:off x="1371600" y="2203704"/>
            <a:ext cx="7680960" cy="365760"/>
          </a:xfrm>
          <a:prstGeom prst="rect">
            <a:avLst/>
          </a:prstGeom>
          <a:noFill/>
          <a:ln/>
        </p:spPr>
        <p:txBody>
          <a:bodyPr wrap="square" lIns="0" tIns="0" rIns="0" bIns="0" rtlCol="0" anchor="t"/>
          <a:lstStyle/>
          <a:p>
            <a:pPr indent="0" marL="0">
              <a:buNone/>
            </a:pPr>
            <a:r>
              <a:rPr lang="en-US" sz="1400" dirty="0">
                <a:solidFill>
                  <a:schemeClr val="tx2"/>
                </a:solidFill>
                <a:latin typeface="IBM Plex Sans" pitchFamily="34" charset="0"/>
                <a:ea typeface="IBM Plex Sans" pitchFamily="34" charset="-122"/>
                <a:cs typeface="IBM Plex Sans" pitchFamily="34" charset="-120"/>
              </a:rPr>
              <a:t>MicroCeph (Ceph 19.2): 1 mon, 1 mgr, 1 mds, 3 OSDs; CephFS mounted on both nodes</a:t>
            </a:r>
            <a:endParaRPr lang="en-US" sz="1400" dirty="0"/>
          </a:p>
        </p:txBody>
      </p:sp>
      <p:sp>
        <p:nvSpPr>
          <p:cNvPr id="8" name="Text 6"/>
          <p:cNvSpPr txBox="1"/>
          <p:nvPr/>
        </p:nvSpPr>
        <p:spPr>
          <a:xfrm>
            <a:off x="9299448" y="1874520"/>
            <a:ext cx="2286000" cy="274320"/>
          </a:xfrm>
          <a:prstGeom prst="rect">
            <a:avLst/>
          </a:prstGeom>
          <a:noFill/>
          <a:ln/>
        </p:spPr>
        <p:txBody>
          <a:bodyPr wrap="square" lIns="0" tIns="0" rIns="0" bIns="0" rtlCol="0" anchor="t"/>
          <a:lstStyle/>
          <a:p>
            <a:pPr algn="r" indent="0" marL="0">
              <a:buNone/>
            </a:pPr>
            <a:r>
              <a:rPr lang="en-US" sz="1100" spc="50" kern="0" dirty="0">
                <a:solidFill>
                  <a:schemeClr val="tx2"/>
                </a:solidFill>
                <a:latin typeface="IBM Plex Mono" pitchFamily="34" charset="0"/>
                <a:ea typeface="IBM Plex Mono" pitchFamily="34" charset="-122"/>
                <a:cs typeface="IBM Plex Mono" pitchFamily="34" charset="-120"/>
              </a:rPr>
              <a:t>EXPERIMENT 01</a:t>
            </a:r>
            <a:endParaRPr lang="en-US" sz="1100" dirty="0"/>
          </a:p>
        </p:txBody>
      </p:sp>
      <p:sp>
        <p:nvSpPr>
          <p:cNvPr id="9" name="Shape 7"/>
          <p:cNvSpPr/>
          <p:nvPr/>
        </p:nvSpPr>
        <p:spPr>
          <a:xfrm>
            <a:off x="1371600" y="2651760"/>
            <a:ext cx="10213848" cy="0"/>
          </a:xfrm>
          <a:prstGeom prst="line">
            <a:avLst/>
          </a:prstGeom>
          <a:noFill/>
          <a:ln w="9525">
            <a:solidFill>
              <a:schemeClr val="accent3"/>
            </a:solidFill>
            <a:prstDash val="solid"/>
          </a:ln>
        </p:spPr>
      </p:sp>
      <p:sp>
        <p:nvSpPr>
          <p:cNvPr id="10" name="Shape 8"/>
          <p:cNvSpPr/>
          <p:nvPr/>
        </p:nvSpPr>
        <p:spPr>
          <a:xfrm>
            <a:off x="612648" y="2788920"/>
            <a:ext cx="621792" cy="310896"/>
          </a:xfrm>
          <a:prstGeom prst="roundRect">
            <a:avLst>
              <a:gd name="adj" fmla="val 23529"/>
            </a:avLst>
          </a:prstGeom>
          <a:solidFill>
            <a:schemeClr val="accent1"/>
          </a:solidFill>
          <a:ln/>
        </p:spPr>
      </p:sp>
      <p:sp>
        <p:nvSpPr>
          <p:cNvPr id="11" name="Text 9"/>
          <p:cNvSpPr txBox="1"/>
          <p:nvPr/>
        </p:nvSpPr>
        <p:spPr>
          <a:xfrm>
            <a:off x="612648" y="2788920"/>
            <a:ext cx="621792" cy="310896"/>
          </a:xfrm>
          <a:prstGeom prst="rect">
            <a:avLst/>
          </a:prstGeom>
          <a:noFill/>
          <a:ln/>
        </p:spPr>
        <p:txBody>
          <a:bodyPr wrap="square" lIns="0" tIns="0" rIns="0" bIns="0" rtlCol="0" anchor="ctr"/>
          <a:lstStyle/>
          <a:p>
            <a:pPr algn="ctr" indent="0" marL="0">
              <a:buNone/>
            </a:pPr>
            <a:r>
              <a:rPr lang="en-US" sz="1000" spc="100" kern="0" dirty="0">
                <a:solidFill>
                  <a:schemeClr val="bg1"/>
                </a:solidFill>
                <a:latin typeface="IBM Plex Mono" pitchFamily="34" charset="0"/>
                <a:ea typeface="IBM Plex Mono" pitchFamily="34" charset="-122"/>
                <a:cs typeface="IBM Plex Mono" pitchFamily="34" charset="-120"/>
              </a:rPr>
              <a:t>DONE</a:t>
            </a:r>
            <a:endParaRPr lang="en-US" sz="1000" dirty="0"/>
          </a:p>
        </p:txBody>
      </p:sp>
      <p:sp>
        <p:nvSpPr>
          <p:cNvPr id="12" name="Text 10"/>
          <p:cNvSpPr txBox="1"/>
          <p:nvPr/>
        </p:nvSpPr>
        <p:spPr>
          <a:xfrm>
            <a:off x="1371600" y="2734056"/>
            <a:ext cx="5852160" cy="384048"/>
          </a:xfrm>
          <a:prstGeom prst="rect">
            <a:avLst/>
          </a:prstGeom>
          <a:noFill/>
          <a:ln/>
        </p:spPr>
        <p:txBody>
          <a:bodyPr wrap="square" lIns="0" tIns="0" rIns="0" bIns="0" rtlCol="0" anchor="t"/>
          <a:lstStyle/>
          <a:p>
            <a:pPr indent="0" marL="0">
              <a:buNone/>
            </a:pPr>
            <a:r>
              <a:rPr lang="en-US" sz="2000" dirty="0">
                <a:solidFill>
                  <a:schemeClr val="tx1"/>
                </a:solidFill>
                <a:latin typeface="IBM Plex Sans Medium" pitchFamily="34" charset="0"/>
                <a:ea typeface="IBM Plex Sans Medium" pitchFamily="34" charset="-122"/>
                <a:cs typeface="IBM Plex Sans Medium" pitchFamily="34" charset="-120"/>
              </a:rPr>
              <a:t>Load → convert → write-back</a:t>
            </a:r>
            <a:endParaRPr lang="en-US" sz="2000" dirty="0"/>
          </a:p>
        </p:txBody>
      </p:sp>
      <p:sp>
        <p:nvSpPr>
          <p:cNvPr id="13" name="Text 11"/>
          <p:cNvSpPr txBox="1"/>
          <p:nvPr/>
        </p:nvSpPr>
        <p:spPr>
          <a:xfrm>
            <a:off x="1371600" y="3136392"/>
            <a:ext cx="7680960" cy="365760"/>
          </a:xfrm>
          <a:prstGeom prst="rect">
            <a:avLst/>
          </a:prstGeom>
          <a:noFill/>
          <a:ln/>
        </p:spPr>
        <p:txBody>
          <a:bodyPr wrap="square" lIns="0" tIns="0" rIns="0" bIns="0" rtlCol="0" anchor="t"/>
          <a:lstStyle/>
          <a:p>
            <a:pPr indent="0" marL="0">
              <a:buNone/>
            </a:pPr>
            <a:r>
              <a:rPr lang="en-US" sz="1400" dirty="0">
                <a:solidFill>
                  <a:schemeClr val="tx2"/>
                </a:solidFill>
                <a:latin typeface="IBM Plex Sans" pitchFamily="34" charset="0"/>
                <a:ea typeface="IBM Plex Sans" pitchFamily="34" charset="-122"/>
                <a:cs typeface="IBM Plex Sans" pitchFamily="34" charset="-120"/>
              </a:rPr>
              <a:t>Real DROID 1.0.1 shards, Hugging Face's converter unmodified, verified output</a:t>
            </a:r>
            <a:endParaRPr lang="en-US" sz="1400" dirty="0"/>
          </a:p>
        </p:txBody>
      </p:sp>
      <p:sp>
        <p:nvSpPr>
          <p:cNvPr id="14" name="Text 12"/>
          <p:cNvSpPr txBox="1"/>
          <p:nvPr/>
        </p:nvSpPr>
        <p:spPr>
          <a:xfrm>
            <a:off x="9299448" y="2807208"/>
            <a:ext cx="2286000" cy="274320"/>
          </a:xfrm>
          <a:prstGeom prst="rect">
            <a:avLst/>
          </a:prstGeom>
          <a:noFill/>
          <a:ln/>
        </p:spPr>
        <p:txBody>
          <a:bodyPr wrap="square" lIns="0" tIns="0" rIns="0" bIns="0" rtlCol="0" anchor="t"/>
          <a:lstStyle/>
          <a:p>
            <a:pPr algn="r" indent="0" marL="0">
              <a:buNone/>
            </a:pPr>
            <a:r>
              <a:rPr lang="en-US" sz="1100" spc="50" kern="0" dirty="0">
                <a:solidFill>
                  <a:schemeClr val="tx2"/>
                </a:solidFill>
                <a:latin typeface="IBM Plex Mono" pitchFamily="34" charset="0"/>
                <a:ea typeface="IBM Plex Mono" pitchFamily="34" charset="-122"/>
                <a:cs typeface="IBM Plex Mono" pitchFamily="34" charset="-120"/>
              </a:rPr>
              <a:t>EXPERIMENTS 02–05</a:t>
            </a:r>
            <a:endParaRPr lang="en-US" sz="1100" dirty="0"/>
          </a:p>
        </p:txBody>
      </p:sp>
      <p:sp>
        <p:nvSpPr>
          <p:cNvPr id="15" name="Shape 13"/>
          <p:cNvSpPr/>
          <p:nvPr/>
        </p:nvSpPr>
        <p:spPr>
          <a:xfrm>
            <a:off x="1371600" y="3584448"/>
            <a:ext cx="10213848" cy="0"/>
          </a:xfrm>
          <a:prstGeom prst="line">
            <a:avLst/>
          </a:prstGeom>
          <a:noFill/>
          <a:ln w="9525">
            <a:solidFill>
              <a:schemeClr val="accent3"/>
            </a:solidFill>
            <a:prstDash val="solid"/>
          </a:ln>
        </p:spPr>
      </p:sp>
      <p:sp>
        <p:nvSpPr>
          <p:cNvPr id="16" name="Shape 14"/>
          <p:cNvSpPr/>
          <p:nvPr/>
        </p:nvSpPr>
        <p:spPr>
          <a:xfrm>
            <a:off x="612648" y="3721608"/>
            <a:ext cx="621792" cy="310896"/>
          </a:xfrm>
          <a:prstGeom prst="roundRect">
            <a:avLst>
              <a:gd name="adj" fmla="val 23529"/>
            </a:avLst>
          </a:prstGeom>
          <a:solidFill>
            <a:schemeClr val="accent1"/>
          </a:solidFill>
          <a:ln/>
        </p:spPr>
      </p:sp>
      <p:sp>
        <p:nvSpPr>
          <p:cNvPr id="17" name="Text 15"/>
          <p:cNvSpPr txBox="1"/>
          <p:nvPr/>
        </p:nvSpPr>
        <p:spPr>
          <a:xfrm>
            <a:off x="612648" y="3721608"/>
            <a:ext cx="621792" cy="310896"/>
          </a:xfrm>
          <a:prstGeom prst="rect">
            <a:avLst/>
          </a:prstGeom>
          <a:noFill/>
          <a:ln/>
        </p:spPr>
        <p:txBody>
          <a:bodyPr wrap="square" lIns="0" tIns="0" rIns="0" bIns="0" rtlCol="0" anchor="ctr"/>
          <a:lstStyle/>
          <a:p>
            <a:pPr algn="ctr" indent="0" marL="0">
              <a:buNone/>
            </a:pPr>
            <a:r>
              <a:rPr lang="en-US" sz="1000" spc="100" kern="0" dirty="0">
                <a:solidFill>
                  <a:schemeClr val="bg1"/>
                </a:solidFill>
                <a:latin typeface="IBM Plex Mono" pitchFamily="34" charset="0"/>
                <a:ea typeface="IBM Plex Mono" pitchFamily="34" charset="-122"/>
                <a:cs typeface="IBM Plex Mono" pitchFamily="34" charset="-120"/>
              </a:rPr>
              <a:t>DONE</a:t>
            </a:r>
            <a:endParaRPr lang="en-US" sz="1000" dirty="0"/>
          </a:p>
        </p:txBody>
      </p:sp>
      <p:sp>
        <p:nvSpPr>
          <p:cNvPr id="18" name="Text 16"/>
          <p:cNvSpPr txBox="1"/>
          <p:nvPr/>
        </p:nvSpPr>
        <p:spPr>
          <a:xfrm>
            <a:off x="1371600" y="3666744"/>
            <a:ext cx="5852160" cy="384048"/>
          </a:xfrm>
          <a:prstGeom prst="rect">
            <a:avLst/>
          </a:prstGeom>
          <a:noFill/>
          <a:ln/>
        </p:spPr>
        <p:txBody>
          <a:bodyPr wrap="square" lIns="0" tIns="0" rIns="0" bIns="0" rtlCol="0" anchor="t"/>
          <a:lstStyle/>
          <a:p>
            <a:pPr indent="0" marL="0">
              <a:buNone/>
            </a:pPr>
            <a:r>
              <a:rPr lang="en-US" sz="2000" dirty="0">
                <a:solidFill>
                  <a:schemeClr val="tx1"/>
                </a:solidFill>
                <a:latin typeface="IBM Plex Sans Medium" pitchFamily="34" charset="0"/>
                <a:ea typeface="IBM Plex Sans Medium" pitchFamily="34" charset="-122"/>
                <a:cs typeface="IBM Plex Sans Medium" pitchFamily="34" charset="-120"/>
              </a:rPr>
              <a:t>Background conversion service</a:t>
            </a:r>
            <a:endParaRPr lang="en-US" sz="2000" dirty="0"/>
          </a:p>
        </p:txBody>
      </p:sp>
      <p:sp>
        <p:nvSpPr>
          <p:cNvPr id="19" name="Text 17"/>
          <p:cNvSpPr txBox="1"/>
          <p:nvPr/>
        </p:nvSpPr>
        <p:spPr>
          <a:xfrm>
            <a:off x="1371600" y="4069080"/>
            <a:ext cx="7680960" cy="365760"/>
          </a:xfrm>
          <a:prstGeom prst="rect">
            <a:avLst/>
          </a:prstGeom>
          <a:noFill/>
          <a:ln/>
        </p:spPr>
        <p:txBody>
          <a:bodyPr wrap="square" lIns="0" tIns="0" rIns="0" bIns="0" rtlCol="0" anchor="t"/>
          <a:lstStyle/>
          <a:p>
            <a:pPr indent="0" marL="0">
              <a:buNone/>
            </a:pPr>
            <a:r>
              <a:rPr lang="en-US" sz="1400" dirty="0">
                <a:solidFill>
                  <a:schemeClr val="tx2"/>
                </a:solidFill>
                <a:latin typeface="IBM Plex Sans" pitchFamily="34" charset="0"/>
                <a:ea typeface="IBM Plex Sans" pitchFamily="34" charset="-122"/>
                <a:cs typeface="IBM Plex Sans" pitchFamily="34" charset="-120"/>
              </a:rPr>
              <a:t>Converts newly loaded data with no manual step</a:t>
            </a:r>
            <a:endParaRPr lang="en-US" sz="1400" dirty="0"/>
          </a:p>
        </p:txBody>
      </p:sp>
      <p:sp>
        <p:nvSpPr>
          <p:cNvPr id="20" name="Text 18"/>
          <p:cNvSpPr txBox="1"/>
          <p:nvPr/>
        </p:nvSpPr>
        <p:spPr>
          <a:xfrm>
            <a:off x="9299448" y="3739896"/>
            <a:ext cx="2286000" cy="274320"/>
          </a:xfrm>
          <a:prstGeom prst="rect">
            <a:avLst/>
          </a:prstGeom>
          <a:noFill/>
          <a:ln/>
        </p:spPr>
        <p:txBody>
          <a:bodyPr wrap="square" lIns="0" tIns="0" rIns="0" bIns="0" rtlCol="0" anchor="t"/>
          <a:lstStyle/>
          <a:p>
            <a:pPr algn="r" indent="0" marL="0">
              <a:buNone/>
            </a:pPr>
            <a:r>
              <a:rPr lang="en-US" sz="1100" spc="50" kern="0" dirty="0">
                <a:solidFill>
                  <a:schemeClr val="tx2"/>
                </a:solidFill>
                <a:latin typeface="IBM Plex Mono" pitchFamily="34" charset="0"/>
                <a:ea typeface="IBM Plex Mono" pitchFamily="34" charset="-122"/>
                <a:cs typeface="IBM Plex Mono" pitchFamily="34" charset="-120"/>
              </a:rPr>
              <a:t>EXPERIMENT 06</a:t>
            </a:r>
            <a:endParaRPr lang="en-US" sz="1100" dirty="0"/>
          </a:p>
        </p:txBody>
      </p:sp>
      <p:sp>
        <p:nvSpPr>
          <p:cNvPr id="21" name="Shape 19"/>
          <p:cNvSpPr/>
          <p:nvPr/>
        </p:nvSpPr>
        <p:spPr>
          <a:xfrm>
            <a:off x="1371600" y="4517136"/>
            <a:ext cx="10213848" cy="0"/>
          </a:xfrm>
          <a:prstGeom prst="line">
            <a:avLst/>
          </a:prstGeom>
          <a:noFill/>
          <a:ln w="9525">
            <a:solidFill>
              <a:schemeClr val="accent3"/>
            </a:solidFill>
            <a:prstDash val="solid"/>
          </a:ln>
        </p:spPr>
      </p:sp>
      <p:sp>
        <p:nvSpPr>
          <p:cNvPr id="22" name="Shape 20"/>
          <p:cNvSpPr/>
          <p:nvPr/>
        </p:nvSpPr>
        <p:spPr>
          <a:xfrm>
            <a:off x="612648" y="4654296"/>
            <a:ext cx="621792" cy="310896"/>
          </a:xfrm>
          <a:prstGeom prst="roundRect">
            <a:avLst>
              <a:gd name="adj" fmla="val 23529"/>
            </a:avLst>
          </a:prstGeom>
          <a:solidFill>
            <a:schemeClr val="accent1"/>
          </a:solidFill>
          <a:ln/>
        </p:spPr>
      </p:sp>
      <p:sp>
        <p:nvSpPr>
          <p:cNvPr id="23" name="Text 21"/>
          <p:cNvSpPr txBox="1"/>
          <p:nvPr/>
        </p:nvSpPr>
        <p:spPr>
          <a:xfrm>
            <a:off x="612648" y="4654296"/>
            <a:ext cx="621792" cy="310896"/>
          </a:xfrm>
          <a:prstGeom prst="rect">
            <a:avLst/>
          </a:prstGeom>
          <a:noFill/>
          <a:ln/>
        </p:spPr>
        <p:txBody>
          <a:bodyPr wrap="square" lIns="0" tIns="0" rIns="0" bIns="0" rtlCol="0" anchor="ctr"/>
          <a:lstStyle/>
          <a:p>
            <a:pPr algn="ctr" indent="0" marL="0">
              <a:buNone/>
            </a:pPr>
            <a:r>
              <a:rPr lang="en-US" sz="1000" spc="100" kern="0" dirty="0">
                <a:solidFill>
                  <a:schemeClr val="bg1"/>
                </a:solidFill>
                <a:latin typeface="IBM Plex Mono" pitchFamily="34" charset="0"/>
                <a:ea typeface="IBM Plex Mono" pitchFamily="34" charset="-122"/>
                <a:cs typeface="IBM Plex Mono" pitchFamily="34" charset="-120"/>
              </a:rPr>
              <a:t>DONE</a:t>
            </a:r>
            <a:endParaRPr lang="en-US" sz="1000" dirty="0"/>
          </a:p>
        </p:txBody>
      </p:sp>
      <p:sp>
        <p:nvSpPr>
          <p:cNvPr id="24" name="Text 22"/>
          <p:cNvSpPr txBox="1"/>
          <p:nvPr/>
        </p:nvSpPr>
        <p:spPr>
          <a:xfrm>
            <a:off x="1371600" y="4599432"/>
            <a:ext cx="5852160" cy="384048"/>
          </a:xfrm>
          <a:prstGeom prst="rect">
            <a:avLst/>
          </a:prstGeom>
          <a:noFill/>
          <a:ln/>
        </p:spPr>
        <p:txBody>
          <a:bodyPr wrap="square" lIns="0" tIns="0" rIns="0" bIns="0" rtlCol="0" anchor="t"/>
          <a:lstStyle/>
          <a:p>
            <a:pPr indent="0" marL="0">
              <a:buNone/>
            </a:pPr>
            <a:r>
              <a:rPr lang="en-US" sz="2000" dirty="0">
                <a:solidFill>
                  <a:schemeClr val="tx1"/>
                </a:solidFill>
                <a:latin typeface="IBM Plex Sans Medium" pitchFamily="34" charset="0"/>
                <a:ea typeface="IBM Plex Sans Medium" pitchFamily="34" charset="-122"/>
                <a:cs typeface="IBM Plex Sans Medium" pitchFamily="34" charset="-120"/>
              </a:rPr>
              <a:t>Separate-compute baseline</a:t>
            </a:r>
            <a:endParaRPr lang="en-US" sz="2000" dirty="0"/>
          </a:p>
        </p:txBody>
      </p:sp>
      <p:sp>
        <p:nvSpPr>
          <p:cNvPr id="25" name="Text 23"/>
          <p:cNvSpPr txBox="1"/>
          <p:nvPr/>
        </p:nvSpPr>
        <p:spPr>
          <a:xfrm>
            <a:off x="1371600" y="5001768"/>
            <a:ext cx="7680960" cy="365760"/>
          </a:xfrm>
          <a:prstGeom prst="rect">
            <a:avLst/>
          </a:prstGeom>
          <a:noFill/>
          <a:ln/>
        </p:spPr>
        <p:txBody>
          <a:bodyPr wrap="square" lIns="0" tIns="0" rIns="0" bIns="0" rtlCol="0" anchor="t"/>
          <a:lstStyle/>
          <a:p>
            <a:pPr indent="0" marL="0">
              <a:buNone/>
            </a:pPr>
            <a:r>
              <a:rPr lang="en-US" sz="1400" dirty="0">
                <a:solidFill>
                  <a:schemeClr val="tx2"/>
                </a:solidFill>
                <a:latin typeface="IBM Plex Sans" pitchFamily="34" charset="0"/>
                <a:ea typeface="IBM Plex Sans" pitchFamily="34" charset="-122"/>
                <a:cs typeface="IBM Plex Sans" pitchFamily="34" charset="-120"/>
              </a:rPr>
              <a:t>797 MB across the network and 304 s per shard, reproduced in a second run</a:t>
            </a:r>
            <a:endParaRPr lang="en-US" sz="1400" dirty="0"/>
          </a:p>
        </p:txBody>
      </p:sp>
      <p:sp>
        <p:nvSpPr>
          <p:cNvPr id="26" name="Text 24"/>
          <p:cNvSpPr txBox="1"/>
          <p:nvPr/>
        </p:nvSpPr>
        <p:spPr>
          <a:xfrm>
            <a:off x="9299448" y="4672584"/>
            <a:ext cx="2286000" cy="274320"/>
          </a:xfrm>
          <a:prstGeom prst="rect">
            <a:avLst/>
          </a:prstGeom>
          <a:noFill/>
          <a:ln/>
        </p:spPr>
        <p:txBody>
          <a:bodyPr wrap="square" lIns="0" tIns="0" rIns="0" bIns="0" rtlCol="0" anchor="t"/>
          <a:lstStyle/>
          <a:p>
            <a:pPr algn="r" indent="0" marL="0">
              <a:buNone/>
            </a:pPr>
            <a:r>
              <a:rPr lang="en-US" sz="1100" spc="50" kern="0" dirty="0">
                <a:solidFill>
                  <a:schemeClr val="tx2"/>
                </a:solidFill>
                <a:latin typeface="IBM Plex Mono" pitchFamily="34" charset="0"/>
                <a:ea typeface="IBM Plex Mono" pitchFamily="34" charset="-122"/>
                <a:cs typeface="IBM Plex Mono" pitchFamily="34" charset="-120"/>
              </a:rPr>
              <a:t>EXPERIMENTS 03, 07</a:t>
            </a:r>
            <a:endParaRPr lang="en-US" sz="1100" dirty="0"/>
          </a:p>
        </p:txBody>
      </p:sp>
      <p:sp>
        <p:nvSpPr>
          <p:cNvPr id="27" name="Shape 25"/>
          <p:cNvSpPr/>
          <p:nvPr/>
        </p:nvSpPr>
        <p:spPr>
          <a:xfrm>
            <a:off x="612648" y="5596128"/>
            <a:ext cx="10972800" cy="566928"/>
          </a:xfrm>
          <a:prstGeom prst="rect">
            <a:avLst/>
          </a:prstGeom>
          <a:solidFill>
            <a:schemeClr val="accent2"/>
          </a:solidFill>
          <a:ln/>
        </p:spPr>
      </p:sp>
      <p:sp>
        <p:nvSpPr>
          <p:cNvPr id="28" name="Text 26"/>
          <p:cNvSpPr txBox="1"/>
          <p:nvPr/>
        </p:nvSpPr>
        <p:spPr>
          <a:xfrm>
            <a:off x="841248" y="5596128"/>
            <a:ext cx="10515600" cy="566928"/>
          </a:xfrm>
          <a:prstGeom prst="rect">
            <a:avLst/>
          </a:prstGeom>
          <a:noFill/>
          <a:ln/>
        </p:spPr>
        <p:txBody>
          <a:bodyPr wrap="square" lIns="0" tIns="0" rIns="0" bIns="0" rtlCol="0" anchor="ctr"/>
          <a:lstStyle/>
          <a:p>
            <a:pPr indent="0" marL="0">
              <a:buNone/>
            </a:pPr>
            <a:r>
              <a:rPr lang="en-US" sz="1500" dirty="0">
                <a:solidFill>
                  <a:schemeClr val="accent1"/>
                </a:solidFill>
                <a:latin typeface="IBM Plex Sans Medium" pitchFamily="34" charset="0"/>
                <a:ea typeface="IBM Plex Sans Medium" pitchFamily="34" charset="-122"/>
                <a:cs typeface="IBM Plex Sans Medium" pitchFamily="34" charset="-120"/>
              </a:rPr>
              <a:t>Also measured: </a:t>
            </a:r>
            <a:pPr indent="0" marL="0">
              <a:buNone/>
            </a:pPr>
            <a:r>
              <a:rPr lang="en-US" sz="1500" dirty="0">
                <a:solidFill>
                  <a:schemeClr val="tx1"/>
                </a:solidFill>
                <a:latin typeface="IBM Plex Sans" pitchFamily="34" charset="0"/>
                <a:ea typeface="IBM Plex Sans" pitchFamily="34" charset="-122"/>
                <a:cs typeface="IBM Plex Sans" pitchFamily="34" charset="-120"/>
              </a:rPr>
              <a:t>the same jobs run on the storage node, compared against the baseline (results on slides 8–9)</a:t>
            </a:r>
            <a:endParaRPr lang="en-US" sz="1500" dirty="0"/>
          </a:p>
        </p:txBody>
      </p:sp>
      <p:sp>
        <p:nvSpPr>
          <p:cNvPr id="25" name="Slide Number Placeholder 0"/>
          <p:cNvSpPr>
            <a:spLocks noGrp="1"/>
          </p:cNvSpPr>
          <p:nvPr>
            <p:ph type="sldNum" sz="quarter" idx="4294967295"/>
          </p:nvPr>
        </p:nvSpPr>
        <p:spPr>
          <a:xfrm>
            <a:off x="11128248"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86574"/>
                </a:solidFill>
                <a:latin typeface="IBM Plex Mono"/>
                <a:ea typeface="IBM Plex Mono"/>
                <a:cs typeface="IBM Plex Mon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12648" y="393192"/>
            <a:ext cx="10972800" cy="594360"/>
          </a:xfrm>
          <a:prstGeom prst="rect">
            <a:avLst/>
          </a:prstGeom>
          <a:noFill/>
          <a:ln/>
        </p:spPr>
        <p:txBody>
          <a:bodyPr wrap="square" lIns="0" tIns="0" rIns="0" bIns="0" rtlCol="0" anchor="t"/>
          <a:lstStyle/>
          <a:p>
            <a:pPr algn="l" indent="0" marL="0">
              <a:buNone/>
            </a:pPr>
            <a:r>
              <a:rPr lang="en-US" sz="3400" dirty="0">
                <a:solidFill>
                  <a:schemeClr val="tx1"/>
                </a:solidFill>
              </a:rPr>
              <a:t>What changed since Demo 1</a:t>
            </a:r>
            <a:endParaRPr lang="en-US" sz="3400" dirty="0"/>
          </a:p>
        </p:txBody>
      </p:sp>
      <p:sp>
        <p:nvSpPr>
          <p:cNvPr id="3" name="Text 0"/>
          <p:cNvSpPr/>
          <p:nvPr>
            <p:ph idx="101" type="body" hasCustomPrompt="1"/>
          </p:nvPr>
        </p:nvSpPr>
        <p:spPr>
          <a:xfrm>
            <a:off x="612648" y="1088136"/>
            <a:ext cx="10972800" cy="365760"/>
          </a:xfrm>
          <a:prstGeom prst="rect">
            <a:avLst/>
          </a:prstGeom>
          <a:noFill/>
          <a:ln/>
        </p:spPr>
        <p:txBody>
          <a:bodyPr wrap="square" lIns="0" tIns="0" rIns="0" bIns="0" rtlCol="0" anchor="t"/>
          <a:lstStyle/>
          <a:p>
            <a:pPr indent="0" marL="0">
              <a:buNone/>
            </a:pPr>
            <a:r>
              <a:rPr lang="en-US" sz="1700" dirty="0">
                <a:solidFill>
                  <a:schemeClr val="tx2"/>
                </a:solidFill>
              </a:rPr>
              <a:t>From the proposal to a running system</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12648" y="1783080"/>
          <a:ext cx="10972800" cy="914400"/>
        </p:xfrm>
        <a:graphic>
          <a:graphicData uri="http://schemas.openxmlformats.org/drawingml/2006/table">
            <a:tbl>
              <a:tblPr/>
              <a:tblGrid>
                <a:gridCol w="1737360"/>
                <a:gridCol w="3657600"/>
                <a:gridCol w="5577840"/>
              </a:tblGrid>
              <a:tr h="384048">
                <a:tc>
                  <a:txBody>
                    <a:bodyPr/>
                    <a:lstStyle/>
                    <a:p>
                      <a:pPr indent="0" marL="0">
                        <a:buNone/>
                      </a:pPr>
                      <a:endParaRPr lang="en-US" sz="1100" dirty="0">
                        <a:latin typeface="IBM Plex Mono" charset="0"/>
                        <a:ea typeface="IBM Plex Mono" charset="0"/>
                        <a:cs typeface="IBM Plex Mono" charset="0"/>
                      </a:endParaRPr>
                    </a:p>
                  </a:txBody>
                  <a:tcPr marL="0" marR="91440" marT="0" marB="73152">
                    <a:lnL w="0" cap="flat" cmpd="sng" algn="ctr">
                      <a:noFill/>
                    </a:lnL>
                    <a:lnR w="0" cap="flat" cmpd="sng" algn="ctr">
                      <a:noFill/>
                    </a:lnR>
                    <a:lnT w="0" cap="flat" cmpd="sng" algn="ctr">
                      <a:noFill/>
                    </a:lnT>
                    <a:lnB w="9525" cap="flat" cmpd="sng" algn="ctr">
                      <a:solidFill>
                        <a:srgbClr val="C7D1DC"/>
                      </a:solidFill>
                      <a:prstDash val="solid"/>
                      <a:round/>
                      <a:headEnd type="none" w="med" len="med"/>
                      <a:tailEnd type="none" w="med" len="med"/>
                    </a:lnB>
                  </a:tcPr>
                </a:tc>
                <a:tc>
                  <a:txBody>
                    <a:bodyPr/>
                    <a:lstStyle/>
                    <a:p>
                      <a:pPr indent="0" marL="0">
                        <a:buNone/>
                      </a:pPr>
                      <a:r>
                        <a:rPr lang="en-US" sz="1100" dirty="0">
                          <a:solidFill>
                            <a:srgbClr val="586574"/>
                          </a:solidFill>
                          <a:latin typeface="IBM Plex Mono" pitchFamily="34" charset="0"/>
                          <a:ea typeface="IBM Plex Mono" pitchFamily="34" charset="-122"/>
                          <a:cs typeface="IBM Plex Mono" pitchFamily="34" charset="-120"/>
                        </a:rPr>
                        <a:t>DEMO 1: PROPOSED</a:t>
                      </a:r>
                      <a:endParaRPr lang="en-US" sz="1100" dirty="0">
                        <a:latin typeface="IBM Plex Mono" charset="0"/>
                        <a:ea typeface="IBM Plex Mono" charset="0"/>
                        <a:cs typeface="IBM Plex Mono" charset="0"/>
                      </a:endParaRPr>
                    </a:p>
                  </a:txBody>
                  <a:tcPr marL="0" marR="91440" marT="0" marB="73152">
                    <a:lnL w="0" cap="flat" cmpd="sng" algn="ctr">
                      <a:noFill/>
                    </a:lnL>
                    <a:lnR w="0" cap="flat" cmpd="sng" algn="ctr">
                      <a:noFill/>
                    </a:lnR>
                    <a:lnT w="0" cap="flat" cmpd="sng" algn="ctr">
                      <a:noFill/>
                    </a:lnT>
                    <a:lnB w="9525" cap="flat" cmpd="sng" algn="ctr">
                      <a:solidFill>
                        <a:srgbClr val="C7D1DC"/>
                      </a:solidFill>
                      <a:prstDash val="solid"/>
                      <a:round/>
                      <a:headEnd type="none" w="med" len="med"/>
                      <a:tailEnd type="none" w="med" len="med"/>
                    </a:lnB>
                  </a:tcPr>
                </a:tc>
                <a:tc>
                  <a:txBody>
                    <a:bodyPr/>
                    <a:lstStyle/>
                    <a:p>
                      <a:pPr indent="0" marL="0">
                        <a:buNone/>
                      </a:pPr>
                      <a:r>
                        <a:rPr lang="en-US" sz="1100" dirty="0">
                          <a:solidFill>
                            <a:srgbClr val="0F62FE"/>
                          </a:solidFill>
                          <a:latin typeface="IBM Plex Mono" pitchFamily="34" charset="0"/>
                          <a:ea typeface="IBM Plex Mono" pitchFamily="34" charset="-122"/>
                          <a:cs typeface="IBM Plex Mono" pitchFamily="34" charset="-120"/>
                        </a:rPr>
                        <a:t>DEMO 2: BUILT</a:t>
                      </a:r>
                      <a:endParaRPr lang="en-US" sz="1100" dirty="0">
                        <a:latin typeface="IBM Plex Mono" charset="0"/>
                        <a:ea typeface="IBM Plex Mono" charset="0"/>
                        <a:cs typeface="IBM Plex Mono" charset="0"/>
                      </a:endParaRPr>
                    </a:p>
                  </a:txBody>
                  <a:tcPr marL="0" marR="91440" marT="0" marB="73152">
                    <a:lnL w="0" cap="flat" cmpd="sng" algn="ctr">
                      <a:noFill/>
                    </a:lnL>
                    <a:lnR w="0" cap="flat" cmpd="sng" algn="ctr">
                      <a:noFill/>
                    </a:lnR>
                    <a:lnT w="0" cap="flat" cmpd="sng" algn="ctr">
                      <a:noFill/>
                    </a:lnT>
                    <a:lnB w="9525" cap="flat" cmpd="sng" algn="ctr">
                      <a:solidFill>
                        <a:srgbClr val="C7D1DC"/>
                      </a:solidFill>
                      <a:prstDash val="solid"/>
                      <a:round/>
                      <a:headEnd type="none" w="med" len="med"/>
                      <a:tailEnd type="none" w="med" len="med"/>
                    </a:lnB>
                  </a:tcPr>
                </a:tc>
              </a:tr>
              <a:tr h="786384">
                <a:tc>
                  <a:txBody>
                    <a:bodyPr/>
                    <a:lstStyle/>
                    <a:p>
                      <a:pPr indent="0" marL="0">
                        <a:buNone/>
                      </a:pPr>
                      <a:r>
                        <a:rPr lang="en-US" sz="1400" dirty="0">
                          <a:solidFill>
                            <a:srgbClr val="171B21"/>
                          </a:solidFill>
                          <a:latin typeface="IBM Plex Sans Medium" pitchFamily="34" charset="0"/>
                          <a:ea typeface="IBM Plex Sans Medium" pitchFamily="34" charset="-122"/>
                          <a:cs typeface="IBM Plex Sans Medium" pitchFamily="34" charset="-120"/>
                        </a:rPr>
                        <a:t>Storage</a:t>
                      </a:r>
                      <a:endParaRPr lang="en-US" sz="1400" dirty="0">
                        <a:latin typeface="IBM Plex Sans Medium" charset="0"/>
                        <a:ea typeface="IBM Plex Sans Medium" charset="0"/>
                        <a:cs typeface="IBM Plex Sans Medium" charset="0"/>
                      </a:endParaRPr>
                    </a:p>
                  </a:txBody>
                  <a:tcPr marL="0" marR="137160" marT="54864" marB="54864" anchor="ctr">
                    <a:lnL w="0" cap="flat" cmpd="sng" algn="ctr">
                      <a:noFill/>
                    </a:lnL>
                    <a:lnR w="0" cap="flat" cmpd="sng" algn="ctr">
                      <a:noFill/>
                    </a:lnR>
                    <a:lnT w="0" cap="flat" cmpd="sng" algn="ctr">
                      <a:noFill/>
                    </a:lnT>
                    <a:lnB w="9525" cap="flat" cmpd="sng" algn="ctr">
                      <a:solidFill>
                        <a:srgbClr val="C7D1DC"/>
                      </a:solidFill>
                      <a:prstDash val="solid"/>
                      <a:round/>
                      <a:headEnd type="none" w="med" len="med"/>
                      <a:tailEnd type="none" w="med" len="med"/>
                    </a:lnB>
                  </a:tcPr>
                </a:tc>
                <a:tc>
                  <a:txBody>
                    <a:bodyPr/>
                    <a:lstStyle/>
                    <a:p>
                      <a:pPr indent="0" marL="0">
                        <a:buNone/>
                      </a:pPr>
                      <a:r>
                        <a:rPr lang="en-US" sz="1400" dirty="0">
                          <a:solidFill>
                            <a:srgbClr val="586574"/>
                          </a:solidFill>
                          <a:latin typeface="IBM Plex Sans" pitchFamily="34" charset="0"/>
                          <a:ea typeface="IBM Plex Sans" pitchFamily="34" charset="-122"/>
                          <a:cs typeface="IBM Plex Sans" pitchFamily="34" charset="-120"/>
                        </a:rPr>
                        <a:t>Ceph on Kubernetes with Rook</a:t>
                      </a:r>
                      <a:endParaRPr lang="en-US" sz="1400" dirty="0">
                        <a:latin typeface="IBM Plex Sans" charset="0"/>
                        <a:ea typeface="IBM Plex Sans" charset="0"/>
                        <a:cs typeface="IBM Plex Sans" charset="0"/>
                      </a:endParaRPr>
                    </a:p>
                  </a:txBody>
                  <a:tcPr marL="0" marR="137160" marT="54864" marB="54864" anchor="ctr">
                    <a:lnL w="0" cap="flat" cmpd="sng" algn="ctr">
                      <a:noFill/>
                    </a:lnL>
                    <a:lnR w="0" cap="flat" cmpd="sng" algn="ctr">
                      <a:noFill/>
                    </a:lnR>
                    <a:lnT w="0" cap="flat" cmpd="sng" algn="ctr">
                      <a:noFill/>
                    </a:lnT>
                    <a:lnB w="9525" cap="flat" cmpd="sng" algn="ctr">
                      <a:solidFill>
                        <a:srgbClr val="C7D1DC"/>
                      </a:solidFill>
                      <a:prstDash val="solid"/>
                      <a:round/>
                      <a:headEnd type="none" w="med" len="med"/>
                      <a:tailEnd type="none" w="med" len="med"/>
                    </a:lnB>
                  </a:tcPr>
                </a:tc>
                <a:tc>
                  <a:txBody>
                    <a:bodyPr/>
                    <a:lstStyle/>
                    <a:p>
                      <a:pPr indent="0" marL="0">
                        <a:buNone/>
                      </a:pPr>
                      <a:r>
                        <a:rPr lang="en-US" sz="1400" dirty="0">
                          <a:solidFill>
                            <a:srgbClr val="171B21"/>
                          </a:solidFill>
                          <a:latin typeface="IBM Plex Sans" pitchFamily="34" charset="0"/>
                          <a:ea typeface="IBM Plex Sans" pitchFamily="34" charset="-122"/>
                          <a:cs typeface="IBM Plex Sans" pitchFamily="34" charset="-120"/>
                        </a:rPr>
                        <a:t>Single-node MicroCeph + CephFS; Rook arrives with multiple nodes in Demo 3, as planned</a:t>
                      </a:r>
                      <a:endParaRPr lang="en-US" sz="1400" dirty="0">
                        <a:latin typeface="IBM Plex Sans" charset="0"/>
                        <a:ea typeface="IBM Plex Sans" charset="0"/>
                        <a:cs typeface="IBM Plex Sans" charset="0"/>
                      </a:endParaRPr>
                    </a:p>
                  </a:txBody>
                  <a:tcPr marL="0" marR="137160" marT="54864" marB="54864" anchor="ctr">
                    <a:lnL w="0" cap="flat" cmpd="sng" algn="ctr">
                      <a:noFill/>
                    </a:lnL>
                    <a:lnR w="0" cap="flat" cmpd="sng" algn="ctr">
                      <a:noFill/>
                    </a:lnR>
                    <a:lnT w="0" cap="flat" cmpd="sng" algn="ctr">
                      <a:noFill/>
                    </a:lnT>
                    <a:lnB w="9525" cap="flat" cmpd="sng" algn="ctr">
                      <a:solidFill>
                        <a:srgbClr val="C7D1DC"/>
                      </a:solidFill>
                      <a:prstDash val="solid"/>
                      <a:round/>
                      <a:headEnd type="none" w="med" len="med"/>
                      <a:tailEnd type="none" w="med" len="med"/>
                    </a:lnB>
                  </a:tcPr>
                </a:tc>
              </a:tr>
              <a:tr h="786384">
                <a:tc>
                  <a:txBody>
                    <a:bodyPr/>
                    <a:lstStyle/>
                    <a:p>
                      <a:pPr indent="0" marL="0">
                        <a:buNone/>
                      </a:pPr>
                      <a:r>
                        <a:rPr lang="en-US" sz="1400" dirty="0">
                          <a:solidFill>
                            <a:srgbClr val="171B21"/>
                          </a:solidFill>
                          <a:latin typeface="IBM Plex Sans Medium" pitchFamily="34" charset="0"/>
                          <a:ea typeface="IBM Plex Sans Medium" pitchFamily="34" charset="-122"/>
                          <a:cs typeface="IBM Plex Sans Medium" pitchFamily="34" charset="-120"/>
                        </a:rPr>
                        <a:t>Interface</a:t>
                      </a:r>
                      <a:endParaRPr lang="en-US" sz="1400" dirty="0">
                        <a:latin typeface="IBM Plex Sans Medium" charset="0"/>
                        <a:ea typeface="IBM Plex Sans Medium" charset="0"/>
                        <a:cs typeface="IBM Plex Sans Medium" charset="0"/>
                      </a:endParaRPr>
                    </a:p>
                  </a:txBody>
                  <a:tcPr marL="0" marR="137160" marT="54864" marB="54864" anchor="ctr">
                    <a:lnL w="0" cap="flat" cmpd="sng" algn="ctr">
                      <a:noFill/>
                    </a:lnL>
                    <a:lnR w="0" cap="flat" cmpd="sng" algn="ctr">
                      <a:noFill/>
                    </a:lnR>
                    <a:lnT w="0" cap="flat" cmpd="sng" algn="ctr">
                      <a:noFill/>
                    </a:lnT>
                    <a:lnB w="9525" cap="flat" cmpd="sng" algn="ctr">
                      <a:solidFill>
                        <a:srgbClr val="C7D1DC"/>
                      </a:solidFill>
                      <a:prstDash val="solid"/>
                      <a:round/>
                      <a:headEnd type="none" w="med" len="med"/>
                      <a:tailEnd type="none" w="med" len="med"/>
                    </a:lnB>
                  </a:tcPr>
                </a:tc>
                <a:tc>
                  <a:txBody>
                    <a:bodyPr/>
                    <a:lstStyle/>
                    <a:p>
                      <a:pPr indent="0" marL="0">
                        <a:buNone/>
                      </a:pPr>
                      <a:r>
                        <a:rPr lang="en-US" sz="1400" dirty="0">
                          <a:solidFill>
                            <a:srgbClr val="586574"/>
                          </a:solidFill>
                          <a:latin typeface="IBM Plex Sans" pitchFamily="34" charset="0"/>
                          <a:ea typeface="IBM Plex Sans" pitchFamily="34" charset="-122"/>
                          <a:cs typeface="IBM Plex Sans" pitchFamily="34" charset="-120"/>
                        </a:rPr>
                        <a:t>Function, inputs and dependencies</a:t>
                      </a:r>
                      <a:endParaRPr lang="en-US" sz="1400" dirty="0">
                        <a:latin typeface="IBM Plex Sans" charset="0"/>
                        <a:ea typeface="IBM Plex Sans" charset="0"/>
                        <a:cs typeface="IBM Plex Sans" charset="0"/>
                      </a:endParaRPr>
                    </a:p>
                  </a:txBody>
                  <a:tcPr marL="0" marR="137160" marT="54864" marB="54864" anchor="ctr">
                    <a:lnL w="0" cap="flat" cmpd="sng" algn="ctr">
                      <a:noFill/>
                    </a:lnL>
                    <a:lnR w="0" cap="flat" cmpd="sng" algn="ctr">
                      <a:noFill/>
                    </a:lnR>
                    <a:lnT w="0" cap="flat" cmpd="sng" algn="ctr">
                      <a:noFill/>
                    </a:lnT>
                    <a:lnB w="9525" cap="flat" cmpd="sng" algn="ctr">
                      <a:solidFill>
                        <a:srgbClr val="C7D1DC"/>
                      </a:solidFill>
                      <a:prstDash val="solid"/>
                      <a:round/>
                      <a:headEnd type="none" w="med" len="med"/>
                      <a:tailEnd type="none" w="med" len="med"/>
                    </a:lnB>
                  </a:tcPr>
                </a:tc>
                <a:tc>
                  <a:txBody>
                    <a:bodyPr/>
                    <a:lstStyle/>
                    <a:p>
                      <a:pPr indent="0" marL="0">
                        <a:buNone/>
                      </a:pPr>
                      <a:r>
                        <a:rPr lang="en-US" sz="1400" dirty="0">
                          <a:solidFill>
                            <a:srgbClr val="171B21"/>
                          </a:solidFill>
                          <a:latin typeface="IBM Plex Sans" pitchFamily="34" charset="0"/>
                          <a:ea typeface="IBM Plex Sans" pitchFamily="34" charset="-122"/>
                          <a:cs typeface="IBM Plex Sans" pitchFamily="34" charset="-120"/>
                        </a:rPr>
                        <a:t>A job is a function, its declared input files and an output directory; Demo 3's placement reads the input list</a:t>
                      </a:r>
                      <a:endParaRPr lang="en-US" sz="1400" dirty="0">
                        <a:latin typeface="IBM Plex Sans" charset="0"/>
                        <a:ea typeface="IBM Plex Sans" charset="0"/>
                        <a:cs typeface="IBM Plex Sans" charset="0"/>
                      </a:endParaRPr>
                    </a:p>
                  </a:txBody>
                  <a:tcPr marL="0" marR="137160" marT="54864" marB="54864" anchor="ctr">
                    <a:lnL w="0" cap="flat" cmpd="sng" algn="ctr">
                      <a:noFill/>
                    </a:lnL>
                    <a:lnR w="0" cap="flat" cmpd="sng" algn="ctr">
                      <a:noFill/>
                    </a:lnR>
                    <a:lnT w="0" cap="flat" cmpd="sng" algn="ctr">
                      <a:noFill/>
                    </a:lnT>
                    <a:lnB w="9525" cap="flat" cmpd="sng" algn="ctr">
                      <a:solidFill>
                        <a:srgbClr val="C7D1DC"/>
                      </a:solidFill>
                      <a:prstDash val="solid"/>
                      <a:round/>
                      <a:headEnd type="none" w="med" len="med"/>
                      <a:tailEnd type="none" w="med" len="med"/>
                    </a:lnB>
                  </a:tcPr>
                </a:tc>
              </a:tr>
              <a:tr h="786384">
                <a:tc>
                  <a:txBody>
                    <a:bodyPr/>
                    <a:lstStyle/>
                    <a:p>
                      <a:pPr indent="0" marL="0">
                        <a:buNone/>
                      </a:pPr>
                      <a:r>
                        <a:rPr lang="en-US" sz="1400" dirty="0">
                          <a:solidFill>
                            <a:srgbClr val="171B21"/>
                          </a:solidFill>
                          <a:latin typeface="IBM Plex Sans Medium" pitchFamily="34" charset="0"/>
                          <a:ea typeface="IBM Plex Sans Medium" pitchFamily="34" charset="-122"/>
                          <a:cs typeface="IBM Plex Sans Medium" pitchFamily="34" charset="-120"/>
                        </a:rPr>
                        <a:t>Workers</a:t>
                      </a:r>
                      <a:endParaRPr lang="en-US" sz="1400" dirty="0">
                        <a:latin typeface="IBM Plex Sans Medium" charset="0"/>
                        <a:ea typeface="IBM Plex Sans Medium" charset="0"/>
                        <a:cs typeface="IBM Plex Sans Medium" charset="0"/>
                      </a:endParaRPr>
                    </a:p>
                  </a:txBody>
                  <a:tcPr marL="0" marR="137160" marT="54864" marB="54864" anchor="ctr">
                    <a:lnL w="0" cap="flat" cmpd="sng" algn="ctr">
                      <a:noFill/>
                    </a:lnL>
                    <a:lnR w="0" cap="flat" cmpd="sng" algn="ctr">
                      <a:noFill/>
                    </a:lnR>
                    <a:lnT w="0" cap="flat" cmpd="sng" algn="ctr">
                      <a:noFill/>
                    </a:lnT>
                    <a:lnB w="9525" cap="flat" cmpd="sng" algn="ctr">
                      <a:solidFill>
                        <a:srgbClr val="C7D1DC"/>
                      </a:solidFill>
                      <a:prstDash val="solid"/>
                      <a:round/>
                      <a:headEnd type="none" w="med" len="med"/>
                      <a:tailEnd type="none" w="med" len="med"/>
                    </a:lnB>
                  </a:tcPr>
                </a:tc>
                <a:tc>
                  <a:txBody>
                    <a:bodyPr/>
                    <a:lstStyle/>
                    <a:p>
                      <a:pPr indent="0" marL="0">
                        <a:buNone/>
                      </a:pPr>
                      <a:r>
                        <a:rPr lang="en-US" sz="1400" dirty="0">
                          <a:solidFill>
                            <a:srgbClr val="586574"/>
                          </a:solidFill>
                          <a:latin typeface="IBM Plex Sans" pitchFamily="34" charset="0"/>
                          <a:ea typeface="IBM Plex Sans" pitchFamily="34" charset="-122"/>
                          <a:cs typeface="IBM Plex Sans" pitchFamily="34" charset="-120"/>
                        </a:rPr>
                        <a:t>Containers beside storage, with limits</a:t>
                      </a:r>
                      <a:endParaRPr lang="en-US" sz="1400" dirty="0">
                        <a:latin typeface="IBM Plex Sans" charset="0"/>
                        <a:ea typeface="IBM Plex Sans" charset="0"/>
                        <a:cs typeface="IBM Plex Sans" charset="0"/>
                      </a:endParaRPr>
                    </a:p>
                  </a:txBody>
                  <a:tcPr marL="0" marR="137160" marT="54864" marB="54864" anchor="ctr">
                    <a:lnL w="0" cap="flat" cmpd="sng" algn="ctr">
                      <a:noFill/>
                    </a:lnL>
                    <a:lnR w="0" cap="flat" cmpd="sng" algn="ctr">
                      <a:noFill/>
                    </a:lnR>
                    <a:lnT w="0" cap="flat" cmpd="sng" algn="ctr">
                      <a:noFill/>
                    </a:lnT>
                    <a:lnB w="9525" cap="flat" cmpd="sng" algn="ctr">
                      <a:solidFill>
                        <a:srgbClr val="C7D1DC"/>
                      </a:solidFill>
                      <a:prstDash val="solid"/>
                      <a:round/>
                      <a:headEnd type="none" w="med" len="med"/>
                      <a:tailEnd type="none" w="med" len="med"/>
                    </a:lnB>
                  </a:tcPr>
                </a:tc>
                <a:tc>
                  <a:txBody>
                    <a:bodyPr/>
                    <a:lstStyle/>
                    <a:p>
                      <a:pPr indent="0" marL="0">
                        <a:buNone/>
                      </a:pPr>
                      <a:r>
                        <a:rPr lang="en-US" sz="1400" dirty="0">
                          <a:solidFill>
                            <a:srgbClr val="171B21"/>
                          </a:solidFill>
                          <a:latin typeface="IBM Plex Sans" pitchFamily="34" charset="0"/>
                          <a:ea typeface="IBM Plex Sans" pitchFamily="34" charset="-122"/>
                          <a:cs typeface="IBM Plex Sans" pitchFamily="34" charset="-120"/>
                        </a:rPr>
                        <a:t>One pinned image on both nodes: 7 CPUs, 8 GiB, no network inside</a:t>
                      </a:r>
                      <a:endParaRPr lang="en-US" sz="1400" dirty="0">
                        <a:latin typeface="IBM Plex Sans" charset="0"/>
                        <a:ea typeface="IBM Plex Sans" charset="0"/>
                        <a:cs typeface="IBM Plex Sans" charset="0"/>
                      </a:endParaRPr>
                    </a:p>
                  </a:txBody>
                  <a:tcPr marL="0" marR="137160" marT="54864" marB="54864" anchor="ctr">
                    <a:lnL w="0" cap="flat" cmpd="sng" algn="ctr">
                      <a:noFill/>
                    </a:lnL>
                    <a:lnR w="0" cap="flat" cmpd="sng" algn="ctr">
                      <a:noFill/>
                    </a:lnR>
                    <a:lnT w="0" cap="flat" cmpd="sng" algn="ctr">
                      <a:noFill/>
                    </a:lnT>
                    <a:lnB w="9525" cap="flat" cmpd="sng" algn="ctr">
                      <a:solidFill>
                        <a:srgbClr val="C7D1DC"/>
                      </a:solidFill>
                      <a:prstDash val="solid"/>
                      <a:round/>
                      <a:headEnd type="none" w="med" len="med"/>
                      <a:tailEnd type="none" w="med" len="med"/>
                    </a:lnB>
                  </a:tcPr>
                </a:tc>
              </a:tr>
              <a:tr h="786384">
                <a:tc>
                  <a:txBody>
                    <a:bodyPr/>
                    <a:lstStyle/>
                    <a:p>
                      <a:pPr indent="0" marL="0">
                        <a:buNone/>
                      </a:pPr>
                      <a:r>
                        <a:rPr lang="en-US" sz="1400" dirty="0">
                          <a:solidFill>
                            <a:srgbClr val="171B21"/>
                          </a:solidFill>
                          <a:latin typeface="IBM Plex Sans Medium" pitchFamily="34" charset="0"/>
                          <a:ea typeface="IBM Plex Sans Medium" pitchFamily="34" charset="-122"/>
                          <a:cs typeface="IBM Plex Sans Medium" pitchFamily="34" charset="-120"/>
                        </a:rPr>
                        <a:t>Workload</a:t>
                      </a:r>
                      <a:endParaRPr lang="en-US" sz="1400" dirty="0">
                        <a:latin typeface="IBM Plex Sans Medium" charset="0"/>
                        <a:ea typeface="IBM Plex Sans Medium" charset="0"/>
                        <a:cs typeface="IBM Plex Sans Medium" charset="0"/>
                      </a:endParaRPr>
                    </a:p>
                  </a:txBody>
                  <a:tcPr marL="0" marR="137160" marT="54864" marB="54864" anchor="ctr">
                    <a:lnL w="0" cap="flat" cmpd="sng" algn="ctr">
                      <a:noFill/>
                    </a:lnL>
                    <a:lnR w="0" cap="flat" cmpd="sng" algn="ctr">
                      <a:noFill/>
                    </a:lnR>
                    <a:lnT w="0" cap="flat" cmpd="sng" algn="ctr">
                      <a:noFill/>
                    </a:lnT>
                    <a:lnB w="9525" cap="flat" cmpd="sng" algn="ctr">
                      <a:solidFill>
                        <a:srgbClr val="C7D1DC"/>
                      </a:solidFill>
                      <a:prstDash val="solid"/>
                      <a:round/>
                      <a:headEnd type="none" w="med" len="med"/>
                      <a:tailEnd type="none" w="med" len="med"/>
                    </a:lnB>
                  </a:tcPr>
                </a:tc>
                <a:tc>
                  <a:txBody>
                    <a:bodyPr/>
                    <a:lstStyle/>
                    <a:p>
                      <a:pPr indent="0" marL="0">
                        <a:buNone/>
                      </a:pPr>
                      <a:r>
                        <a:rPr lang="en-US" sz="1400" dirty="0">
                          <a:solidFill>
                            <a:srgbClr val="586574"/>
                          </a:solidFill>
                          <a:latin typeface="IBM Plex Sans" pitchFamily="34" charset="0"/>
                          <a:ea typeface="IBM Plex Sans" pitchFamily="34" charset="-122"/>
                          <a:cs typeface="IBM Plex Sans" pitchFamily="34" charset="-120"/>
                        </a:rPr>
                        <a:t>RLDS → LeRobot with Hugging Face's converter</a:t>
                      </a:r>
                      <a:endParaRPr lang="en-US" sz="1400" dirty="0">
                        <a:latin typeface="IBM Plex Sans" charset="0"/>
                        <a:ea typeface="IBM Plex Sans" charset="0"/>
                        <a:cs typeface="IBM Plex Sans" charset="0"/>
                      </a:endParaRPr>
                    </a:p>
                  </a:txBody>
                  <a:tcPr marL="0" marR="137160" marT="54864" marB="54864" anchor="ctr">
                    <a:lnL w="0" cap="flat" cmpd="sng" algn="ctr">
                      <a:noFill/>
                    </a:lnL>
                    <a:lnR w="0" cap="flat" cmpd="sng" algn="ctr">
                      <a:noFill/>
                    </a:lnR>
                    <a:lnT w="0" cap="flat" cmpd="sng" algn="ctr">
                      <a:noFill/>
                    </a:lnT>
                    <a:lnB w="9525" cap="flat" cmpd="sng" algn="ctr">
                      <a:solidFill>
                        <a:srgbClr val="C7D1DC"/>
                      </a:solidFill>
                      <a:prstDash val="solid"/>
                      <a:round/>
                      <a:headEnd type="none" w="med" len="med"/>
                      <a:tailEnd type="none" w="med" len="med"/>
                    </a:lnB>
                  </a:tcPr>
                </a:tc>
                <a:tc>
                  <a:txBody>
                    <a:bodyPr/>
                    <a:lstStyle/>
                    <a:p>
                      <a:pPr indent="0" marL="0">
                        <a:buNone/>
                      </a:pPr>
                      <a:r>
                        <a:rPr lang="en-US" sz="1400" dirty="0">
                          <a:solidFill>
                            <a:srgbClr val="171B21"/>
                          </a:solidFill>
                          <a:latin typeface="IBM Plex Sans" pitchFamily="34" charset="0"/>
                          <a:ea typeface="IBM Plex Sans" pitchFamily="34" charset="-122"/>
                          <a:cs typeface="IBM Plex Sans" pitchFamily="34" charset="-120"/>
                        </a:rPr>
                        <a:t>port_droid.py v0.6.1, unmodified, on real DROID 1.0.1 shards</a:t>
                      </a:r>
                      <a:endParaRPr lang="en-US" sz="1400" dirty="0">
                        <a:latin typeface="IBM Plex Sans" charset="0"/>
                        <a:ea typeface="IBM Plex Sans" charset="0"/>
                        <a:cs typeface="IBM Plex Sans" charset="0"/>
                      </a:endParaRPr>
                    </a:p>
                  </a:txBody>
                  <a:tcPr marL="0" marR="137160" marT="54864" marB="54864" anchor="ctr">
                    <a:lnL w="0" cap="flat" cmpd="sng" algn="ctr">
                      <a:noFill/>
                    </a:lnL>
                    <a:lnR w="0" cap="flat" cmpd="sng" algn="ctr">
                      <a:noFill/>
                    </a:lnR>
                    <a:lnT w="0" cap="flat" cmpd="sng" algn="ctr">
                      <a:noFill/>
                    </a:lnT>
                    <a:lnB w="9525" cap="flat" cmpd="sng" algn="ctr">
                      <a:solidFill>
                        <a:srgbClr val="C7D1DC"/>
                      </a:solidFill>
                      <a:prstDash val="solid"/>
                      <a:round/>
                      <a:headEnd type="none" w="med" len="med"/>
                      <a:tailEnd type="none" w="med" len="med"/>
                    </a:lnB>
                  </a:tcPr>
                </a:tc>
              </a:tr>
              <a:tr h="786384">
                <a:tc>
                  <a:txBody>
                    <a:bodyPr/>
                    <a:lstStyle/>
                    <a:p>
                      <a:pPr indent="0" marL="0">
                        <a:buNone/>
                      </a:pPr>
                      <a:r>
                        <a:rPr lang="en-US" sz="1400" dirty="0">
                          <a:solidFill>
                            <a:srgbClr val="171B21"/>
                          </a:solidFill>
                          <a:latin typeface="IBM Plex Sans Medium" pitchFamily="34" charset="0"/>
                          <a:ea typeface="IBM Plex Sans Medium" pitchFamily="34" charset="-122"/>
                          <a:cs typeface="IBM Plex Sans Medium" pitchFamily="34" charset="-120"/>
                        </a:rPr>
                        <a:t>Measurement</a:t>
                      </a:r>
                      <a:endParaRPr lang="en-US" sz="1400" dirty="0">
                        <a:latin typeface="IBM Plex Sans Medium" charset="0"/>
                        <a:ea typeface="IBM Plex Sans Medium" charset="0"/>
                        <a:cs typeface="IBM Plex Sans Medium" charset="0"/>
                      </a:endParaRPr>
                    </a:p>
                  </a:txBody>
                  <a:tcPr marL="0" marR="137160" marT="54864" marB="54864" anchor="ctr">
                    <a:lnL w="0" cap="flat" cmpd="sng" algn="ctr">
                      <a:noFill/>
                    </a:lnL>
                    <a:lnR w="0" cap="flat" cmpd="sng" algn="ctr">
                      <a:noFill/>
                    </a:lnR>
                    <a:lnT w="0" cap="flat" cmpd="sng" algn="ctr">
                      <a:noFill/>
                    </a:lnT>
                    <a:lnB w="9525" cap="flat" cmpd="sng" algn="ctr">
                      <a:solidFill>
                        <a:srgbClr val="C7D1DC"/>
                      </a:solidFill>
                      <a:prstDash val="solid"/>
                      <a:round/>
                      <a:headEnd type="none" w="med" len="med"/>
                      <a:tailEnd type="none" w="med" len="med"/>
                    </a:lnB>
                  </a:tcPr>
                </a:tc>
                <a:tc>
                  <a:txBody>
                    <a:bodyPr/>
                    <a:lstStyle/>
                    <a:p>
                      <a:pPr indent="0" marL="0">
                        <a:buNone/>
                      </a:pPr>
                      <a:r>
                        <a:rPr lang="en-US" sz="1400" dirty="0">
                          <a:solidFill>
                            <a:srgbClr val="586574"/>
                          </a:solidFill>
                          <a:latin typeface="IBM Plex Sans" pitchFamily="34" charset="0"/>
                          <a:ea typeface="IBM Plex Sans" pitchFamily="34" charset="-122"/>
                          <a:cs typeface="IBM Plex Sans" pitchFamily="34" charset="-120"/>
                        </a:rPr>
                        <a:t>Cross-host bytes and end-to-end time</a:t>
                      </a:r>
                      <a:endParaRPr lang="en-US" sz="1400" dirty="0">
                        <a:latin typeface="IBM Plex Sans" charset="0"/>
                        <a:ea typeface="IBM Plex Sans" charset="0"/>
                        <a:cs typeface="IBM Plex Sans" charset="0"/>
                      </a:endParaRPr>
                    </a:p>
                  </a:txBody>
                  <a:tcPr marL="0" marR="137160" marT="54864" marB="54864" anchor="ctr">
                    <a:lnL w="0" cap="flat" cmpd="sng" algn="ctr">
                      <a:noFill/>
                    </a:lnL>
                    <a:lnR w="0" cap="flat" cmpd="sng" algn="ctr">
                      <a:noFill/>
                    </a:lnR>
                    <a:lnT w="0" cap="flat" cmpd="sng" algn="ctr">
                      <a:noFill/>
                    </a:lnT>
                    <a:lnB w="9525" cap="flat" cmpd="sng" algn="ctr">
                      <a:solidFill>
                        <a:srgbClr val="C7D1DC"/>
                      </a:solidFill>
                      <a:prstDash val="solid"/>
                      <a:round/>
                      <a:headEnd type="none" w="med" len="med"/>
                      <a:tailEnd type="none" w="med" len="med"/>
                    </a:lnB>
                  </a:tcPr>
                </a:tc>
                <a:tc>
                  <a:txBody>
                    <a:bodyPr/>
                    <a:lstStyle/>
                    <a:p>
                      <a:pPr indent="0" marL="0">
                        <a:buNone/>
                      </a:pPr>
                      <a:r>
                        <a:rPr lang="en-US" sz="1400" dirty="0">
                          <a:solidFill>
                            <a:srgbClr val="171B21"/>
                          </a:solidFill>
                          <a:latin typeface="IBM Plex Sans" pitchFamily="34" charset="0"/>
                          <a:ea typeface="IBM Plex Sans" pitchFamily="34" charset="-122"/>
                          <a:cs typeface="IBM Plex Sans" pitchFamily="34" charset="-120"/>
                        </a:rPr>
                        <a:t>NIC counters, cold caches, and a byte-level comparison of the outputs</a:t>
                      </a:r>
                      <a:endParaRPr lang="en-US" sz="1400" dirty="0">
                        <a:latin typeface="IBM Plex Sans" charset="0"/>
                        <a:ea typeface="IBM Plex Sans" charset="0"/>
                        <a:cs typeface="IBM Plex Sans" charset="0"/>
                      </a:endParaRPr>
                    </a:p>
                  </a:txBody>
                  <a:tcPr marL="0" marR="137160" marT="54864" marB="54864" anchor="ctr">
                    <a:lnL w="0" cap="flat" cmpd="sng" algn="ctr">
                      <a:noFill/>
                    </a:lnL>
                    <a:lnR w="0" cap="flat" cmpd="sng" algn="ctr">
                      <a:noFill/>
                    </a:lnR>
                    <a:lnT w="0" cap="flat" cmpd="sng" algn="ctr">
                      <a:noFill/>
                    </a:lnT>
                    <a:lnB w="9525" cap="flat" cmpd="sng" algn="ctr">
                      <a:solidFill>
                        <a:srgbClr val="C7D1D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28248"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86574"/>
                </a:solidFill>
                <a:latin typeface="IBM Plex Mono"/>
                <a:ea typeface="IBM Plex Mono"/>
                <a:cs typeface="IBM Plex Mon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12648" y="393192"/>
            <a:ext cx="10972800" cy="594360"/>
          </a:xfrm>
          <a:prstGeom prst="rect">
            <a:avLst/>
          </a:prstGeom>
          <a:noFill/>
          <a:ln/>
        </p:spPr>
        <p:txBody>
          <a:bodyPr wrap="square" lIns="0" tIns="0" rIns="0" bIns="0" rtlCol="0" anchor="t"/>
          <a:lstStyle/>
          <a:p>
            <a:pPr algn="l" indent="0" marL="0">
              <a:buNone/>
            </a:pPr>
            <a:r>
              <a:rPr lang="en-US" sz="3400" dirty="0">
                <a:solidFill>
                  <a:schemeClr val="tx1"/>
                </a:solidFill>
              </a:rPr>
              <a:t>Testbed</a:t>
            </a:r>
            <a:endParaRPr lang="en-US" sz="3400" dirty="0"/>
          </a:p>
        </p:txBody>
      </p:sp>
      <p:sp>
        <p:nvSpPr>
          <p:cNvPr id="3" name="Text 0"/>
          <p:cNvSpPr/>
          <p:nvPr>
            <p:ph idx="101" type="body" hasCustomPrompt="1"/>
          </p:nvPr>
        </p:nvSpPr>
        <p:spPr>
          <a:xfrm>
            <a:off x="612648" y="1088136"/>
            <a:ext cx="10972800" cy="365760"/>
          </a:xfrm>
          <a:prstGeom prst="rect">
            <a:avLst/>
          </a:prstGeom>
          <a:noFill/>
          <a:ln/>
        </p:spPr>
        <p:txBody>
          <a:bodyPr wrap="square" lIns="0" tIns="0" rIns="0" bIns="0" rtlCol="0" anchor="t"/>
          <a:lstStyle/>
          <a:p>
            <a:pPr indent="0" marL="0">
              <a:buNone/>
            </a:pPr>
            <a:r>
              <a:rPr lang="en-US" sz="1700" dirty="0">
                <a:solidFill>
                  <a:schemeClr val="tx2"/>
                </a:solidFill>
              </a:rPr>
              <a:t>Two EC2 m6i.2xlarge in one subnet, with the same worker image and limits on both nodes</a:t>
            </a:r>
            <a:endParaRPr lang="en-US" sz="1700" dirty="0"/>
          </a:p>
        </p:txBody>
      </p:sp>
      <p:sp>
        <p:nvSpPr>
          <p:cNvPr id="4" name="Shape 2"/>
          <p:cNvSpPr/>
          <p:nvPr/>
        </p:nvSpPr>
        <p:spPr>
          <a:xfrm>
            <a:off x="612648" y="1783080"/>
            <a:ext cx="4480560" cy="4389120"/>
          </a:xfrm>
          <a:prstGeom prst="rect">
            <a:avLst/>
          </a:prstGeom>
          <a:solidFill>
            <a:schemeClr val="bg1"/>
          </a:solidFill>
          <a:ln w="9525">
            <a:solidFill>
              <a:schemeClr val="accent3"/>
            </a:solidFill>
            <a:prstDash val="solid"/>
          </a:ln>
        </p:spPr>
      </p:sp>
      <p:sp>
        <p:nvSpPr>
          <p:cNvPr id="5" name="Text 3"/>
          <p:cNvSpPr txBox="1"/>
          <p:nvPr/>
        </p:nvSpPr>
        <p:spPr>
          <a:xfrm>
            <a:off x="841248" y="1920240"/>
            <a:ext cx="4023360" cy="365760"/>
          </a:xfrm>
          <a:prstGeom prst="rect">
            <a:avLst/>
          </a:prstGeom>
          <a:noFill/>
          <a:ln/>
        </p:spPr>
        <p:txBody>
          <a:bodyPr wrap="square" lIns="0" tIns="0" rIns="0" bIns="0" rtlCol="0" anchor="t"/>
          <a:lstStyle/>
          <a:p>
            <a:pPr indent="0" marL="0">
              <a:buNone/>
            </a:pPr>
            <a:r>
              <a:rPr lang="en-US" sz="1800" dirty="0">
                <a:solidFill>
                  <a:schemeClr val="tx1"/>
                </a:solidFill>
                <a:latin typeface="IBM Plex Sans Medium" pitchFamily="34" charset="0"/>
                <a:ea typeface="IBM Plex Sans Medium" pitchFamily="34" charset="-122"/>
                <a:cs typeface="IBM Plex Sans Medium" pitchFamily="34" charset="-120"/>
              </a:rPr>
              <a:t>Compute node</a:t>
            </a:r>
            <a:endParaRPr lang="en-US" sz="1800" dirty="0"/>
          </a:p>
        </p:txBody>
      </p:sp>
      <p:sp>
        <p:nvSpPr>
          <p:cNvPr id="6" name="Text 4"/>
          <p:cNvSpPr txBox="1"/>
          <p:nvPr/>
        </p:nvSpPr>
        <p:spPr>
          <a:xfrm>
            <a:off x="841248" y="2304288"/>
            <a:ext cx="4023360" cy="274320"/>
          </a:xfrm>
          <a:prstGeom prst="rect">
            <a:avLst/>
          </a:prstGeom>
          <a:noFill/>
          <a:ln/>
        </p:spPr>
        <p:txBody>
          <a:bodyPr wrap="square" lIns="0" tIns="0" rIns="0" bIns="0" rtlCol="0" anchor="t"/>
          <a:lstStyle/>
          <a:p>
            <a:pPr indent="0" marL="0">
              <a:buNone/>
            </a:pPr>
            <a:r>
              <a:rPr lang="en-US" sz="1100" spc="50" kern="0" dirty="0">
                <a:solidFill>
                  <a:schemeClr val="tx2"/>
                </a:solidFill>
                <a:latin typeface="IBM Plex Mono" pitchFamily="34" charset="0"/>
                <a:ea typeface="IBM Plex Mono" pitchFamily="34" charset="-122"/>
                <a:cs typeface="IBM Plex Mono" pitchFamily="34" charset="-120"/>
              </a:rPr>
              <a:t>BASELINE: SEPARATE MODE</a:t>
            </a:r>
            <a:endParaRPr lang="en-US" sz="1100" dirty="0"/>
          </a:p>
        </p:txBody>
      </p:sp>
      <p:sp>
        <p:nvSpPr>
          <p:cNvPr id="7" name="Shape 5"/>
          <p:cNvSpPr/>
          <p:nvPr/>
        </p:nvSpPr>
        <p:spPr>
          <a:xfrm>
            <a:off x="841248" y="2743200"/>
            <a:ext cx="4023360" cy="868680"/>
          </a:xfrm>
          <a:prstGeom prst="rect">
            <a:avLst/>
          </a:prstGeom>
          <a:solidFill>
            <a:schemeClr val="accent2"/>
          </a:solidFill>
          <a:ln w="9525">
            <a:solidFill>
              <a:schemeClr val="accent1"/>
            </a:solidFill>
            <a:prstDash val="solid"/>
          </a:ln>
        </p:spPr>
      </p:sp>
      <p:sp>
        <p:nvSpPr>
          <p:cNvPr id="8" name="Text 6"/>
          <p:cNvSpPr txBox="1"/>
          <p:nvPr/>
        </p:nvSpPr>
        <p:spPr>
          <a:xfrm>
            <a:off x="1024128" y="2834640"/>
            <a:ext cx="3657600" cy="320040"/>
          </a:xfrm>
          <a:prstGeom prst="rect">
            <a:avLst/>
          </a:prstGeom>
          <a:noFill/>
          <a:ln/>
        </p:spPr>
        <p:txBody>
          <a:bodyPr wrap="square" lIns="0" tIns="0" rIns="0" bIns="0" rtlCol="0" anchor="t"/>
          <a:lstStyle/>
          <a:p>
            <a:pPr indent="0" marL="0">
              <a:buNone/>
            </a:pPr>
            <a:r>
              <a:rPr lang="en-US" sz="1500" dirty="0">
                <a:solidFill>
                  <a:schemeClr val="tx1"/>
                </a:solidFill>
                <a:latin typeface="IBM Plex Sans Medium" pitchFamily="34" charset="0"/>
                <a:ea typeface="IBM Plex Sans Medium" pitchFamily="34" charset="-122"/>
                <a:cs typeface="IBM Plex Sans Medium" pitchFamily="34" charset="-120"/>
              </a:rPr>
              <a:t>CephFS client</a:t>
            </a:r>
            <a:endParaRPr lang="en-US" sz="1500" dirty="0"/>
          </a:p>
        </p:txBody>
      </p:sp>
      <p:sp>
        <p:nvSpPr>
          <p:cNvPr id="9" name="Text 7"/>
          <p:cNvSpPr txBox="1"/>
          <p:nvPr/>
        </p:nvSpPr>
        <p:spPr>
          <a:xfrm>
            <a:off x="1024128" y="3200400"/>
            <a:ext cx="3657600" cy="274320"/>
          </a:xfrm>
          <a:prstGeom prst="rect">
            <a:avLst/>
          </a:prstGeom>
          <a:noFill/>
          <a:ln/>
        </p:spPr>
        <p:txBody>
          <a:bodyPr wrap="square" lIns="0" tIns="0" rIns="0" bIns="0" rtlCol="0" anchor="t"/>
          <a:lstStyle/>
          <a:p>
            <a:pPr indent="0" marL="0">
              <a:buNone/>
            </a:pPr>
            <a:r>
              <a:rPr lang="en-US" sz="1050" dirty="0">
                <a:solidFill>
                  <a:schemeClr val="tx2"/>
                </a:solidFill>
                <a:latin typeface="IBM Plex Mono" pitchFamily="34" charset="0"/>
                <a:ea typeface="IBM Plex Mono" pitchFamily="34" charset="-122"/>
                <a:cs typeface="IBM Plex Mono" pitchFamily="34" charset="-120"/>
              </a:rPr>
              <a:t>/mnt/cephfs, same paths as storage</a:t>
            </a:r>
            <a:endParaRPr lang="en-US" sz="1050" dirty="0"/>
          </a:p>
        </p:txBody>
      </p:sp>
      <p:sp>
        <p:nvSpPr>
          <p:cNvPr id="10" name="Shape 8"/>
          <p:cNvSpPr/>
          <p:nvPr/>
        </p:nvSpPr>
        <p:spPr>
          <a:xfrm>
            <a:off x="841248" y="3749040"/>
            <a:ext cx="4023360" cy="868680"/>
          </a:xfrm>
          <a:prstGeom prst="rect">
            <a:avLst/>
          </a:prstGeom>
          <a:solidFill>
            <a:schemeClr val="bg2"/>
          </a:solidFill>
          <a:ln/>
        </p:spPr>
      </p:sp>
      <p:sp>
        <p:nvSpPr>
          <p:cNvPr id="11" name="Text 9"/>
          <p:cNvSpPr txBox="1"/>
          <p:nvPr/>
        </p:nvSpPr>
        <p:spPr>
          <a:xfrm>
            <a:off x="1024128" y="3840480"/>
            <a:ext cx="3657600" cy="320040"/>
          </a:xfrm>
          <a:prstGeom prst="rect">
            <a:avLst/>
          </a:prstGeom>
          <a:noFill/>
          <a:ln/>
        </p:spPr>
        <p:txBody>
          <a:bodyPr wrap="square" lIns="0" tIns="0" rIns="0" bIns="0" rtlCol="0" anchor="t"/>
          <a:lstStyle/>
          <a:p>
            <a:pPr indent="0" marL="0">
              <a:buNone/>
            </a:pPr>
            <a:r>
              <a:rPr lang="en-US" sz="1500" dirty="0">
                <a:solidFill>
                  <a:schemeClr val="tx1"/>
                </a:solidFill>
                <a:latin typeface="IBM Plex Sans Medium" pitchFamily="34" charset="0"/>
                <a:ea typeface="IBM Plex Sans Medium" pitchFamily="34" charset="-122"/>
                <a:cs typeface="IBM Plex Sans Medium" pitchFamily="34" charset="-120"/>
              </a:rPr>
              <a:t>Worker container</a:t>
            </a:r>
            <a:endParaRPr lang="en-US" sz="1500" dirty="0"/>
          </a:p>
        </p:txBody>
      </p:sp>
      <p:sp>
        <p:nvSpPr>
          <p:cNvPr id="12" name="Text 10"/>
          <p:cNvSpPr txBox="1"/>
          <p:nvPr/>
        </p:nvSpPr>
        <p:spPr>
          <a:xfrm>
            <a:off x="1024128" y="4206240"/>
            <a:ext cx="3657600" cy="274320"/>
          </a:xfrm>
          <a:prstGeom prst="rect">
            <a:avLst/>
          </a:prstGeom>
          <a:noFill/>
          <a:ln/>
        </p:spPr>
        <p:txBody>
          <a:bodyPr wrap="square" lIns="0" tIns="0" rIns="0" bIns="0" rtlCol="0" anchor="t"/>
          <a:lstStyle/>
          <a:p>
            <a:pPr indent="0" marL="0">
              <a:buNone/>
            </a:pPr>
            <a:r>
              <a:rPr lang="en-US" sz="1050" dirty="0">
                <a:solidFill>
                  <a:schemeClr val="tx2"/>
                </a:solidFill>
                <a:latin typeface="IBM Plex Mono" pitchFamily="34" charset="0"/>
                <a:ea typeface="IBM Plex Mono" pitchFamily="34" charset="-122"/>
                <a:cs typeface="IBM Plex Mono" pitchFamily="34" charset="-120"/>
              </a:rPr>
              <a:t>port_droid.py · 7 CPUs · 8 GiB · no network</a:t>
            </a:r>
            <a:endParaRPr lang="en-US" sz="1050" dirty="0"/>
          </a:p>
        </p:txBody>
      </p:sp>
      <p:sp>
        <p:nvSpPr>
          <p:cNvPr id="13" name="Shape 11"/>
          <p:cNvSpPr/>
          <p:nvPr/>
        </p:nvSpPr>
        <p:spPr>
          <a:xfrm>
            <a:off x="841248" y="4754880"/>
            <a:ext cx="4023360" cy="548640"/>
          </a:xfrm>
          <a:prstGeom prst="rect">
            <a:avLst/>
          </a:prstGeom>
          <a:solidFill>
            <a:schemeClr val="bg2"/>
          </a:solidFill>
          <a:ln/>
        </p:spPr>
      </p:sp>
      <p:sp>
        <p:nvSpPr>
          <p:cNvPr id="14" name="Text 12"/>
          <p:cNvSpPr txBox="1"/>
          <p:nvPr/>
        </p:nvSpPr>
        <p:spPr>
          <a:xfrm>
            <a:off x="1024128" y="4754880"/>
            <a:ext cx="3657600" cy="548640"/>
          </a:xfrm>
          <a:prstGeom prst="rect">
            <a:avLst/>
          </a:prstGeom>
          <a:noFill/>
          <a:ln/>
        </p:spPr>
        <p:txBody>
          <a:bodyPr wrap="square" lIns="0" tIns="0" rIns="0" bIns="0" rtlCol="0" anchor="ctr"/>
          <a:lstStyle/>
          <a:p>
            <a:pPr indent="0" marL="0">
              <a:buNone/>
            </a:pPr>
            <a:r>
              <a:rPr lang="en-US" sz="1300" dirty="0">
                <a:solidFill>
                  <a:schemeClr val="tx1"/>
                </a:solidFill>
                <a:latin typeface="IBM Plex Sans" pitchFamily="34" charset="0"/>
                <a:ea typeface="IBM Plex Sans" pitchFamily="34" charset="-122"/>
                <a:cs typeface="IBM Plex Sans" pitchFamily="34" charset="-120"/>
              </a:rPr>
              <a:t>Local scratch for the converter's temp files</a:t>
            </a:r>
            <a:endParaRPr lang="en-US" sz="1300" dirty="0"/>
          </a:p>
        </p:txBody>
      </p:sp>
      <p:sp>
        <p:nvSpPr>
          <p:cNvPr id="15" name="Text 13"/>
          <p:cNvSpPr txBox="1"/>
          <p:nvPr/>
        </p:nvSpPr>
        <p:spPr>
          <a:xfrm>
            <a:off x="841248" y="5504688"/>
            <a:ext cx="4023360" cy="502920"/>
          </a:xfrm>
          <a:prstGeom prst="rect">
            <a:avLst/>
          </a:prstGeom>
          <a:noFill/>
          <a:ln/>
        </p:spPr>
        <p:txBody>
          <a:bodyPr wrap="square" lIns="0" tIns="0" rIns="0" bIns="0" rtlCol="0" anchor="t"/>
          <a:lstStyle/>
          <a:p>
            <a:pPr indent="0" marL="0">
              <a:buNone/>
            </a:pPr>
            <a:r>
              <a:rPr lang="en-US" sz="1100" spc="50" kern="0" dirty="0">
                <a:solidFill>
                  <a:schemeClr val="tx2"/>
                </a:solidFill>
                <a:latin typeface="IBM Plex Mono" pitchFamily="34" charset="0"/>
                <a:ea typeface="IBM Plex Mono" pitchFamily="34" charset="-122"/>
                <a:cs typeface="IBM Plex Mono" pitchFamily="34" charset="-120"/>
              </a:rPr>
              <a:t>runs the experiments, drops caches, reads NIC counters</a:t>
            </a:r>
            <a:endParaRPr lang="en-US" sz="1100" dirty="0"/>
          </a:p>
        </p:txBody>
      </p:sp>
      <p:sp>
        <p:nvSpPr>
          <p:cNvPr id="16" name="Shape 14"/>
          <p:cNvSpPr/>
          <p:nvPr/>
        </p:nvSpPr>
        <p:spPr>
          <a:xfrm>
            <a:off x="7104888" y="1783080"/>
            <a:ext cx="4480560" cy="4389120"/>
          </a:xfrm>
          <a:prstGeom prst="rect">
            <a:avLst/>
          </a:prstGeom>
          <a:solidFill>
            <a:schemeClr val="bg1"/>
          </a:solidFill>
          <a:ln w="9525">
            <a:solidFill>
              <a:schemeClr val="accent3"/>
            </a:solidFill>
            <a:prstDash val="solid"/>
          </a:ln>
        </p:spPr>
      </p:sp>
      <p:sp>
        <p:nvSpPr>
          <p:cNvPr id="17" name="Text 15"/>
          <p:cNvSpPr txBox="1"/>
          <p:nvPr/>
        </p:nvSpPr>
        <p:spPr>
          <a:xfrm>
            <a:off x="7333488" y="1920240"/>
            <a:ext cx="4023360" cy="365760"/>
          </a:xfrm>
          <a:prstGeom prst="rect">
            <a:avLst/>
          </a:prstGeom>
          <a:noFill/>
          <a:ln/>
        </p:spPr>
        <p:txBody>
          <a:bodyPr wrap="square" lIns="0" tIns="0" rIns="0" bIns="0" rtlCol="0" anchor="t"/>
          <a:lstStyle/>
          <a:p>
            <a:pPr indent="0" marL="0">
              <a:buNone/>
            </a:pPr>
            <a:r>
              <a:rPr lang="en-US" sz="1800" dirty="0">
                <a:solidFill>
                  <a:schemeClr val="tx1"/>
                </a:solidFill>
                <a:latin typeface="IBM Plex Sans Medium" pitchFamily="34" charset="0"/>
                <a:ea typeface="IBM Plex Sans Medium" pitchFamily="34" charset="-122"/>
                <a:cs typeface="IBM Plex Sans Medium" pitchFamily="34" charset="-120"/>
              </a:rPr>
              <a:t>Storage node</a:t>
            </a:r>
            <a:endParaRPr lang="en-US" sz="1800" dirty="0"/>
          </a:p>
        </p:txBody>
      </p:sp>
      <p:sp>
        <p:nvSpPr>
          <p:cNvPr id="18" name="Text 16"/>
          <p:cNvSpPr txBox="1"/>
          <p:nvPr/>
        </p:nvSpPr>
        <p:spPr>
          <a:xfrm>
            <a:off x="7333488" y="2304288"/>
            <a:ext cx="4023360" cy="274320"/>
          </a:xfrm>
          <a:prstGeom prst="rect">
            <a:avLst/>
          </a:prstGeom>
          <a:noFill/>
          <a:ln/>
        </p:spPr>
        <p:txBody>
          <a:bodyPr wrap="square" lIns="0" tIns="0" rIns="0" bIns="0" rtlCol="0" anchor="t"/>
          <a:lstStyle/>
          <a:p>
            <a:pPr indent="0" marL="0">
              <a:buNone/>
            </a:pPr>
            <a:r>
              <a:rPr lang="en-US" sz="1100" spc="50" kern="0" dirty="0">
                <a:solidFill>
                  <a:schemeClr val="tx2"/>
                </a:solidFill>
                <a:latin typeface="IBM Plex Mono" pitchFamily="34" charset="0"/>
                <a:ea typeface="IBM Plex Mono" pitchFamily="34" charset="-122"/>
                <a:cs typeface="IBM Plex Mono" pitchFamily="34" charset="-120"/>
              </a:rPr>
              <a:t>MICROCEPH · CEPH 19.2</a:t>
            </a:r>
            <a:endParaRPr lang="en-US" sz="1100" dirty="0"/>
          </a:p>
        </p:txBody>
      </p:sp>
      <p:sp>
        <p:nvSpPr>
          <p:cNvPr id="19" name="Shape 17"/>
          <p:cNvSpPr/>
          <p:nvPr/>
        </p:nvSpPr>
        <p:spPr>
          <a:xfrm>
            <a:off x="7333488" y="2743200"/>
            <a:ext cx="4023360" cy="868680"/>
          </a:xfrm>
          <a:prstGeom prst="rect">
            <a:avLst/>
          </a:prstGeom>
          <a:solidFill>
            <a:schemeClr val="accent2"/>
          </a:solidFill>
          <a:ln w="9525">
            <a:solidFill>
              <a:schemeClr val="accent1"/>
            </a:solidFill>
            <a:prstDash val="solid"/>
          </a:ln>
        </p:spPr>
      </p:sp>
      <p:sp>
        <p:nvSpPr>
          <p:cNvPr id="20" name="Text 18"/>
          <p:cNvSpPr txBox="1"/>
          <p:nvPr/>
        </p:nvSpPr>
        <p:spPr>
          <a:xfrm>
            <a:off x="7516368" y="2834640"/>
            <a:ext cx="3657600" cy="320040"/>
          </a:xfrm>
          <a:prstGeom prst="rect">
            <a:avLst/>
          </a:prstGeom>
          <a:noFill/>
          <a:ln/>
        </p:spPr>
        <p:txBody>
          <a:bodyPr wrap="square" lIns="0" tIns="0" rIns="0" bIns="0" rtlCol="0" anchor="t"/>
          <a:lstStyle/>
          <a:p>
            <a:pPr indent="0" marL="0">
              <a:buNone/>
            </a:pPr>
            <a:r>
              <a:rPr lang="en-US" sz="1500" dirty="0">
                <a:solidFill>
                  <a:schemeClr val="tx1"/>
                </a:solidFill>
                <a:latin typeface="IBM Plex Sans Medium" pitchFamily="34" charset="0"/>
                <a:ea typeface="IBM Plex Sans Medium" pitchFamily="34" charset="-122"/>
                <a:cs typeface="IBM Plex Sans Medium" pitchFamily="34" charset="-120"/>
              </a:rPr>
              <a:t>Ceph + CephFS</a:t>
            </a:r>
            <a:endParaRPr lang="en-US" sz="1500" dirty="0"/>
          </a:p>
        </p:txBody>
      </p:sp>
      <p:sp>
        <p:nvSpPr>
          <p:cNvPr id="21" name="Text 19"/>
          <p:cNvSpPr txBox="1"/>
          <p:nvPr/>
        </p:nvSpPr>
        <p:spPr>
          <a:xfrm>
            <a:off x="7516368" y="3200400"/>
            <a:ext cx="3657600" cy="274320"/>
          </a:xfrm>
          <a:prstGeom prst="rect">
            <a:avLst/>
          </a:prstGeom>
          <a:noFill/>
          <a:ln/>
        </p:spPr>
        <p:txBody>
          <a:bodyPr wrap="square" lIns="0" tIns="0" rIns="0" bIns="0" rtlCol="0" anchor="t"/>
          <a:lstStyle/>
          <a:p>
            <a:pPr indent="0" marL="0">
              <a:buNone/>
            </a:pPr>
            <a:r>
              <a:rPr lang="en-US" sz="1050" dirty="0">
                <a:solidFill>
                  <a:schemeClr val="tx2"/>
                </a:solidFill>
                <a:latin typeface="IBM Plex Mono" pitchFamily="34" charset="0"/>
                <a:ea typeface="IBM Plex Mono" pitchFamily="34" charset="-122"/>
                <a:cs typeface="IBM Plex Mono" pitchFamily="34" charset="-120"/>
              </a:rPr>
              <a:t>mon · mgr · mds · 3 OSDs · 3× replication</a:t>
            </a:r>
            <a:endParaRPr lang="en-US" sz="1050" dirty="0"/>
          </a:p>
        </p:txBody>
      </p:sp>
      <p:sp>
        <p:nvSpPr>
          <p:cNvPr id="22" name="Shape 20"/>
          <p:cNvSpPr/>
          <p:nvPr/>
        </p:nvSpPr>
        <p:spPr>
          <a:xfrm>
            <a:off x="7333488" y="3749040"/>
            <a:ext cx="4023360" cy="868680"/>
          </a:xfrm>
          <a:prstGeom prst="rect">
            <a:avLst/>
          </a:prstGeom>
          <a:solidFill>
            <a:schemeClr val="bg2"/>
          </a:solidFill>
          <a:ln/>
        </p:spPr>
      </p:sp>
      <p:sp>
        <p:nvSpPr>
          <p:cNvPr id="23" name="Text 21"/>
          <p:cNvSpPr txBox="1"/>
          <p:nvPr/>
        </p:nvSpPr>
        <p:spPr>
          <a:xfrm>
            <a:off x="7516368" y="3840480"/>
            <a:ext cx="3657600" cy="320040"/>
          </a:xfrm>
          <a:prstGeom prst="rect">
            <a:avLst/>
          </a:prstGeom>
          <a:noFill/>
          <a:ln/>
        </p:spPr>
        <p:txBody>
          <a:bodyPr wrap="square" lIns="0" tIns="0" rIns="0" bIns="0" rtlCol="0" anchor="t"/>
          <a:lstStyle/>
          <a:p>
            <a:pPr indent="0" marL="0">
              <a:buNone/>
            </a:pPr>
            <a:r>
              <a:rPr lang="en-US" sz="1500" dirty="0">
                <a:solidFill>
                  <a:schemeClr val="tx1"/>
                </a:solidFill>
                <a:latin typeface="IBM Plex Sans Medium" pitchFamily="34" charset="0"/>
                <a:ea typeface="IBM Plex Sans Medium" pitchFamily="34" charset="-122"/>
                <a:cs typeface="IBM Plex Sans Medium" pitchFamily="34" charset="-120"/>
              </a:rPr>
              <a:t>Worker container</a:t>
            </a:r>
            <a:endParaRPr lang="en-US" sz="1500" dirty="0"/>
          </a:p>
        </p:txBody>
      </p:sp>
      <p:sp>
        <p:nvSpPr>
          <p:cNvPr id="24" name="Text 22"/>
          <p:cNvSpPr txBox="1"/>
          <p:nvPr/>
        </p:nvSpPr>
        <p:spPr>
          <a:xfrm>
            <a:off x="7516368" y="4206240"/>
            <a:ext cx="3657600" cy="274320"/>
          </a:xfrm>
          <a:prstGeom prst="rect">
            <a:avLst/>
          </a:prstGeom>
          <a:noFill/>
          <a:ln/>
        </p:spPr>
        <p:txBody>
          <a:bodyPr wrap="square" lIns="0" tIns="0" rIns="0" bIns="0" rtlCol="0" anchor="t"/>
          <a:lstStyle/>
          <a:p>
            <a:pPr indent="0" marL="0">
              <a:buNone/>
            </a:pPr>
            <a:r>
              <a:rPr lang="en-US" sz="1050" dirty="0">
                <a:solidFill>
                  <a:schemeClr val="tx2"/>
                </a:solidFill>
                <a:latin typeface="IBM Plex Mono" pitchFamily="34" charset="0"/>
                <a:ea typeface="IBM Plex Mono" pitchFamily="34" charset="-122"/>
                <a:cs typeface="IBM Plex Mono" pitchFamily="34" charset="-120"/>
              </a:rPr>
              <a:t>storage mode: same image, same limits</a:t>
            </a:r>
            <a:endParaRPr lang="en-US" sz="1050" dirty="0"/>
          </a:p>
        </p:txBody>
      </p:sp>
      <p:sp>
        <p:nvSpPr>
          <p:cNvPr id="25" name="Shape 23"/>
          <p:cNvSpPr/>
          <p:nvPr/>
        </p:nvSpPr>
        <p:spPr>
          <a:xfrm>
            <a:off x="7333488" y="4754880"/>
            <a:ext cx="4023360" cy="548640"/>
          </a:xfrm>
          <a:prstGeom prst="rect">
            <a:avLst/>
          </a:prstGeom>
          <a:solidFill>
            <a:schemeClr val="bg2"/>
          </a:solidFill>
          <a:ln/>
        </p:spPr>
      </p:sp>
      <p:sp>
        <p:nvSpPr>
          <p:cNvPr id="26" name="Text 24"/>
          <p:cNvSpPr txBox="1"/>
          <p:nvPr/>
        </p:nvSpPr>
        <p:spPr>
          <a:xfrm>
            <a:off x="7516368" y="4754880"/>
            <a:ext cx="3657600" cy="548640"/>
          </a:xfrm>
          <a:prstGeom prst="rect">
            <a:avLst/>
          </a:prstGeom>
          <a:noFill/>
          <a:ln/>
        </p:spPr>
        <p:txBody>
          <a:bodyPr wrap="square" lIns="0" tIns="0" rIns="0" bIns="0" rtlCol="0" anchor="ctr"/>
          <a:lstStyle/>
          <a:p>
            <a:pPr indent="0" marL="0">
              <a:buNone/>
            </a:pPr>
            <a:r>
              <a:rPr lang="en-US" sz="1300" dirty="0">
                <a:solidFill>
                  <a:schemeClr val="tx1"/>
                </a:solidFill>
                <a:latin typeface="IBM Plex Sans" pitchFamily="34" charset="0"/>
                <a:ea typeface="IBM Plex Sans" pitchFamily="34" charset="-122"/>
                <a:cs typeface="IBM Plex Sans" pitchFamily="34" charset="-120"/>
              </a:rPr>
              <a:t>cstore-service: converts newly loaded data</a:t>
            </a:r>
            <a:endParaRPr lang="en-US" sz="1300" dirty="0"/>
          </a:p>
        </p:txBody>
      </p:sp>
      <p:sp>
        <p:nvSpPr>
          <p:cNvPr id="27" name="Text 25"/>
          <p:cNvSpPr txBox="1"/>
          <p:nvPr/>
        </p:nvSpPr>
        <p:spPr>
          <a:xfrm>
            <a:off x="7333488" y="5504688"/>
            <a:ext cx="4023360" cy="502920"/>
          </a:xfrm>
          <a:prstGeom prst="rect">
            <a:avLst/>
          </a:prstGeom>
          <a:noFill/>
          <a:ln/>
        </p:spPr>
        <p:txBody>
          <a:bodyPr wrap="square" lIns="0" tIns="0" rIns="0" bIns="0" rtlCol="0" anchor="t"/>
          <a:lstStyle/>
          <a:p>
            <a:pPr indent="0" marL="0">
              <a:buNone/>
            </a:pPr>
            <a:r>
              <a:rPr lang="en-US" sz="1100" spc="50" kern="0" dirty="0">
                <a:solidFill>
                  <a:schemeClr val="tx2"/>
                </a:solidFill>
                <a:latin typeface="IBM Plex Mono" pitchFamily="34" charset="0"/>
                <a:ea typeface="IBM Plex Mono" pitchFamily="34" charset="-122"/>
                <a:cs typeface="IBM Plex Mono" pitchFamily="34" charset="-120"/>
              </a:rPr>
              <a:t>DROID shards loaded from Google Cloud Storage, MD5-checked</a:t>
            </a:r>
            <a:endParaRPr lang="en-US" sz="1100" dirty="0"/>
          </a:p>
        </p:txBody>
      </p:sp>
      <p:sp>
        <p:nvSpPr>
          <p:cNvPr id="28" name="Shape 26"/>
          <p:cNvSpPr/>
          <p:nvPr/>
        </p:nvSpPr>
        <p:spPr>
          <a:xfrm>
            <a:off x="4864608" y="3172968"/>
            <a:ext cx="2468880" cy="0"/>
          </a:xfrm>
          <a:prstGeom prst="line">
            <a:avLst/>
          </a:prstGeom>
          <a:noFill/>
          <a:ln w="25400">
            <a:solidFill>
              <a:schemeClr val="accent1"/>
            </a:solidFill>
            <a:prstDash val="solid"/>
            <a:headEnd type="triangle"/>
            <a:tailEnd type="triangle"/>
          </a:ln>
        </p:spPr>
      </p:sp>
      <p:sp>
        <p:nvSpPr>
          <p:cNvPr id="29" name="Text 27"/>
          <p:cNvSpPr txBox="1"/>
          <p:nvPr/>
        </p:nvSpPr>
        <p:spPr>
          <a:xfrm>
            <a:off x="4983480" y="2834640"/>
            <a:ext cx="2240280" cy="274320"/>
          </a:xfrm>
          <a:prstGeom prst="rect">
            <a:avLst/>
          </a:prstGeom>
          <a:noFill/>
          <a:ln/>
        </p:spPr>
        <p:txBody>
          <a:bodyPr wrap="square" lIns="0" tIns="0" rIns="0" bIns="0" rtlCol="0" anchor="t"/>
          <a:lstStyle/>
          <a:p>
            <a:pPr algn="ctr" indent="0" marL="0">
              <a:buNone/>
            </a:pPr>
            <a:r>
              <a:rPr lang="en-US" sz="1100" spc="50" kern="0" dirty="0">
                <a:solidFill>
                  <a:schemeClr val="accent1"/>
                </a:solidFill>
                <a:latin typeface="IBM Plex Mono" pitchFamily="34" charset="0"/>
                <a:ea typeface="IBM Plex Mono" pitchFamily="34" charset="-122"/>
                <a:cs typeface="IBM Plex Mono" pitchFamily="34" charset="-120"/>
              </a:rPr>
              <a:t>NETWORK</a:t>
            </a:r>
            <a:endParaRPr lang="en-US" sz="1100" dirty="0"/>
          </a:p>
        </p:txBody>
      </p:sp>
      <p:sp>
        <p:nvSpPr>
          <p:cNvPr id="30" name="Text 28"/>
          <p:cNvSpPr txBox="1"/>
          <p:nvPr/>
        </p:nvSpPr>
        <p:spPr>
          <a:xfrm>
            <a:off x="5120640" y="3310128"/>
            <a:ext cx="1965960" cy="731520"/>
          </a:xfrm>
          <a:prstGeom prst="rect">
            <a:avLst/>
          </a:prstGeom>
          <a:noFill/>
          <a:ln/>
        </p:spPr>
        <p:txBody>
          <a:bodyPr wrap="square" lIns="0" tIns="0" rIns="0" bIns="0" rtlCol="0" anchor="t"/>
          <a:lstStyle/>
          <a:p>
            <a:pPr algn="ctr" indent="0" marL="0">
              <a:buNone/>
            </a:pPr>
            <a:r>
              <a:rPr lang="en-US" sz="1200" dirty="0">
                <a:solidFill>
                  <a:schemeClr val="accent1"/>
                </a:solidFill>
                <a:latin typeface="IBM Plex Sans" pitchFamily="34" charset="0"/>
                <a:ea typeface="IBM Plex Sans" pitchFamily="34" charset="-122"/>
                <a:cs typeface="IBM Plex Sans" pitchFamily="34" charset="-120"/>
              </a:rPr>
              <a:t>separate mode: shard read, output written back</a:t>
            </a:r>
            <a:endParaRPr lang="en-US" sz="1200" dirty="0"/>
          </a:p>
        </p:txBody>
      </p:sp>
      <p:sp>
        <p:nvSpPr>
          <p:cNvPr id="31" name="Text 29"/>
          <p:cNvSpPr txBox="1"/>
          <p:nvPr/>
        </p:nvSpPr>
        <p:spPr>
          <a:xfrm>
            <a:off x="5120640" y="4343400"/>
            <a:ext cx="1965960" cy="914400"/>
          </a:xfrm>
          <a:prstGeom prst="rect">
            <a:avLst/>
          </a:prstGeom>
          <a:noFill/>
          <a:ln/>
        </p:spPr>
        <p:txBody>
          <a:bodyPr wrap="square" lIns="0" tIns="0" rIns="0" bIns="0" rtlCol="0" anchor="t"/>
          <a:lstStyle/>
          <a:p>
            <a:pPr algn="ctr" indent="0" marL="0">
              <a:buNone/>
            </a:pPr>
            <a:r>
              <a:rPr lang="en-US" sz="1200" dirty="0">
                <a:solidFill>
                  <a:schemeClr val="tx2"/>
                </a:solidFill>
                <a:latin typeface="IBM Plex Sans" pitchFamily="34" charset="0"/>
                <a:ea typeface="IBM Plex Sans" pitchFamily="34" charset="-122"/>
                <a:cs typeface="IBM Plex Sans" pitchFamily="34" charset="-120"/>
              </a:rPr>
              <a:t>cross-host bytes = the storage node's NIC rx + tx</a:t>
            </a:r>
            <a:endParaRPr lang="en-US" sz="1200" dirty="0"/>
          </a:p>
        </p:txBody>
      </p:sp>
      <p:sp>
        <p:nvSpPr>
          <p:cNvPr id="25" name="Slide Number Placeholder 0"/>
          <p:cNvSpPr>
            <a:spLocks noGrp="1"/>
          </p:cNvSpPr>
          <p:nvPr>
            <p:ph type="sldNum" sz="quarter" idx="4294967295"/>
          </p:nvPr>
        </p:nvSpPr>
        <p:spPr>
          <a:xfrm>
            <a:off x="11128248"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86574"/>
                </a:solidFill>
                <a:latin typeface="IBM Plex Mono"/>
                <a:ea typeface="IBM Plex Mono"/>
                <a:cs typeface="IBM Plex Mon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12648" y="393192"/>
            <a:ext cx="10972800" cy="594360"/>
          </a:xfrm>
          <a:prstGeom prst="rect">
            <a:avLst/>
          </a:prstGeom>
          <a:noFill/>
          <a:ln/>
        </p:spPr>
        <p:txBody>
          <a:bodyPr wrap="square" lIns="0" tIns="0" rIns="0" bIns="0" rtlCol="0" anchor="t"/>
          <a:lstStyle/>
          <a:p>
            <a:pPr algn="l" indent="0" marL="0">
              <a:buNone/>
            </a:pPr>
            <a:r>
              <a:rPr lang="en-US" sz="3400" dirty="0">
                <a:solidFill>
                  <a:schemeClr val="tx1"/>
                </a:solidFill>
              </a:rPr>
              <a:t>How one job runs</a:t>
            </a:r>
            <a:endParaRPr lang="en-US" sz="3400" dirty="0"/>
          </a:p>
        </p:txBody>
      </p:sp>
      <p:sp>
        <p:nvSpPr>
          <p:cNvPr id="3" name="Text 0"/>
          <p:cNvSpPr/>
          <p:nvPr>
            <p:ph idx="101" type="body" hasCustomPrompt="1"/>
          </p:nvPr>
        </p:nvSpPr>
        <p:spPr>
          <a:xfrm>
            <a:off x="612648" y="1088136"/>
            <a:ext cx="10972800" cy="365760"/>
          </a:xfrm>
          <a:prstGeom prst="rect">
            <a:avLst/>
          </a:prstGeom>
          <a:noFill/>
          <a:ln/>
        </p:spPr>
        <p:txBody>
          <a:bodyPr wrap="square" lIns="0" tIns="0" rIns="0" bIns="0" rtlCol="0" anchor="t"/>
          <a:lstStyle/>
          <a:p>
            <a:pPr indent="0" marL="0">
              <a:buNone/>
            </a:pPr>
            <a:r>
              <a:rPr lang="en-US" sz="1700" dirty="0">
                <a:solidFill>
                  <a:schemeClr val="tx2"/>
                </a:solidFill>
              </a:rPr>
              <a:t>One DROID shard in, one LeRobot dataset out (times measured on shard 2)</a:t>
            </a:r>
            <a:endParaRPr lang="en-US" sz="1700" dirty="0"/>
          </a:p>
        </p:txBody>
      </p:sp>
      <p:sp>
        <p:nvSpPr>
          <p:cNvPr id="4" name="Shape 2"/>
          <p:cNvSpPr/>
          <p:nvPr/>
        </p:nvSpPr>
        <p:spPr>
          <a:xfrm>
            <a:off x="612648" y="1783080"/>
            <a:ext cx="2514600" cy="1783080"/>
          </a:xfrm>
          <a:prstGeom prst="rect">
            <a:avLst/>
          </a:prstGeom>
          <a:solidFill>
            <a:schemeClr val="bg2"/>
          </a:solidFill>
          <a:ln/>
        </p:spPr>
      </p:sp>
      <p:sp>
        <p:nvSpPr>
          <p:cNvPr id="5" name="Text 3"/>
          <p:cNvSpPr txBox="1"/>
          <p:nvPr/>
        </p:nvSpPr>
        <p:spPr>
          <a:xfrm>
            <a:off x="795528" y="1901952"/>
            <a:ext cx="914400" cy="274320"/>
          </a:xfrm>
          <a:prstGeom prst="rect">
            <a:avLst/>
          </a:prstGeom>
          <a:noFill/>
          <a:ln/>
        </p:spPr>
        <p:txBody>
          <a:bodyPr wrap="square" lIns="0" tIns="0" rIns="0" bIns="0" rtlCol="0" anchor="t"/>
          <a:lstStyle/>
          <a:p>
            <a:pPr indent="0" marL="0">
              <a:buNone/>
            </a:pPr>
            <a:r>
              <a:rPr lang="en-US" sz="1200" spc="50" kern="0" dirty="0">
                <a:solidFill>
                  <a:schemeClr val="accent1"/>
                </a:solidFill>
                <a:latin typeface="IBM Plex Mono" pitchFamily="34" charset="0"/>
                <a:ea typeface="IBM Plex Mono" pitchFamily="34" charset="-122"/>
                <a:cs typeface="IBM Plex Mono" pitchFamily="34" charset="-120"/>
              </a:rPr>
              <a:t>01</a:t>
            </a:r>
            <a:endParaRPr lang="en-US" sz="1200" dirty="0"/>
          </a:p>
        </p:txBody>
      </p:sp>
      <p:sp>
        <p:nvSpPr>
          <p:cNvPr id="6" name="Text 4"/>
          <p:cNvSpPr txBox="1"/>
          <p:nvPr/>
        </p:nvSpPr>
        <p:spPr>
          <a:xfrm>
            <a:off x="795528" y="2176272"/>
            <a:ext cx="2148840" cy="365760"/>
          </a:xfrm>
          <a:prstGeom prst="rect">
            <a:avLst/>
          </a:prstGeom>
          <a:noFill/>
          <a:ln/>
        </p:spPr>
        <p:txBody>
          <a:bodyPr wrap="square" lIns="0" tIns="0" rIns="0" bIns="0" rtlCol="0" anchor="t"/>
          <a:lstStyle/>
          <a:p>
            <a:pPr indent="0" marL="0">
              <a:buNone/>
            </a:pPr>
            <a:r>
              <a:rPr lang="en-US" sz="1800" dirty="0">
                <a:solidFill>
                  <a:schemeClr val="tx1"/>
                </a:solidFill>
                <a:latin typeface="IBM Plex Sans Medium" pitchFamily="34" charset="0"/>
                <a:ea typeface="IBM Plex Sans Medium" pitchFamily="34" charset="-122"/>
                <a:cs typeface="IBM Plex Sans Medium" pitchFamily="34" charset="-120"/>
              </a:rPr>
              <a:t>Job spec</a:t>
            </a:r>
            <a:endParaRPr lang="en-US" sz="1800" dirty="0"/>
          </a:p>
        </p:txBody>
      </p:sp>
      <p:sp>
        <p:nvSpPr>
          <p:cNvPr id="7" name="Text 5"/>
          <p:cNvSpPr txBox="1"/>
          <p:nvPr/>
        </p:nvSpPr>
        <p:spPr>
          <a:xfrm>
            <a:off x="795528" y="2560320"/>
            <a:ext cx="2148840" cy="594360"/>
          </a:xfrm>
          <a:prstGeom prst="rect">
            <a:avLst/>
          </a:prstGeom>
          <a:noFill/>
          <a:ln/>
        </p:spPr>
        <p:txBody>
          <a:bodyPr wrap="square" lIns="0" tIns="0" rIns="0" bIns="0" rtlCol="0" anchor="t"/>
          <a:lstStyle/>
          <a:p>
            <a:pPr indent="0" marL="0">
              <a:buNone/>
            </a:pPr>
            <a:r>
              <a:rPr lang="en-US" sz="1200" dirty="0">
                <a:solidFill>
                  <a:schemeClr val="tx2"/>
                </a:solidFill>
                <a:latin typeface="IBM Plex Sans" pitchFamily="34" charset="0"/>
                <a:ea typeface="IBM Plex Sans" pitchFamily="34" charset="-122"/>
                <a:cs typeface="IBM Plex Sans" pitchFamily="34" charset="-120"/>
              </a:rPr>
              <a:t>Function, declared input files, output directory</a:t>
            </a:r>
            <a:endParaRPr lang="en-US" sz="1200" dirty="0"/>
          </a:p>
        </p:txBody>
      </p:sp>
      <p:sp>
        <p:nvSpPr>
          <p:cNvPr id="8" name="Text 6"/>
          <p:cNvSpPr txBox="1"/>
          <p:nvPr/>
        </p:nvSpPr>
        <p:spPr>
          <a:xfrm>
            <a:off x="795528" y="3200400"/>
            <a:ext cx="2148840" cy="274320"/>
          </a:xfrm>
          <a:prstGeom prst="rect">
            <a:avLst/>
          </a:prstGeom>
          <a:noFill/>
          <a:ln/>
        </p:spPr>
        <p:txBody>
          <a:bodyPr wrap="square" lIns="0" tIns="0" rIns="0" bIns="0" rtlCol="0" anchor="t"/>
          <a:lstStyle/>
          <a:p>
            <a:pPr indent="0" marL="0">
              <a:buNone/>
            </a:pPr>
            <a:r>
              <a:rPr lang="en-US" sz="1200" spc="50" kern="0" dirty="0">
                <a:solidFill>
                  <a:schemeClr val="tx1"/>
                </a:solidFill>
                <a:latin typeface="IBM Plex Mono" pitchFamily="34" charset="0"/>
                <a:ea typeface="IBM Plex Mono" pitchFamily="34" charset="-122"/>
                <a:cs typeface="IBM Plex Mono" pitchFamily="34" charset="-120"/>
              </a:rPr>
              <a:t>jobs.py</a:t>
            </a:r>
            <a:endParaRPr lang="en-US" sz="1200" dirty="0"/>
          </a:p>
        </p:txBody>
      </p:sp>
      <p:sp>
        <p:nvSpPr>
          <p:cNvPr id="9" name="Shape 7"/>
          <p:cNvSpPr/>
          <p:nvPr/>
        </p:nvSpPr>
        <p:spPr>
          <a:xfrm>
            <a:off x="3182112" y="2670048"/>
            <a:ext cx="195072" cy="0"/>
          </a:xfrm>
          <a:prstGeom prst="line">
            <a:avLst/>
          </a:prstGeom>
          <a:noFill/>
          <a:ln w="12700">
            <a:solidFill>
              <a:schemeClr val="tx1"/>
            </a:solidFill>
            <a:prstDash val="solid"/>
            <a:tailEnd type="triangle"/>
          </a:ln>
        </p:spPr>
      </p:sp>
      <p:sp>
        <p:nvSpPr>
          <p:cNvPr id="10" name="Shape 8"/>
          <p:cNvSpPr/>
          <p:nvPr/>
        </p:nvSpPr>
        <p:spPr>
          <a:xfrm>
            <a:off x="3432048" y="1783080"/>
            <a:ext cx="2514600" cy="1783080"/>
          </a:xfrm>
          <a:prstGeom prst="rect">
            <a:avLst/>
          </a:prstGeom>
          <a:solidFill>
            <a:schemeClr val="accent2"/>
          </a:solidFill>
          <a:ln/>
        </p:spPr>
      </p:sp>
      <p:sp>
        <p:nvSpPr>
          <p:cNvPr id="11" name="Text 9"/>
          <p:cNvSpPr txBox="1"/>
          <p:nvPr/>
        </p:nvSpPr>
        <p:spPr>
          <a:xfrm>
            <a:off x="3614928" y="1901952"/>
            <a:ext cx="914400" cy="274320"/>
          </a:xfrm>
          <a:prstGeom prst="rect">
            <a:avLst/>
          </a:prstGeom>
          <a:noFill/>
          <a:ln/>
        </p:spPr>
        <p:txBody>
          <a:bodyPr wrap="square" lIns="0" tIns="0" rIns="0" bIns="0" rtlCol="0" anchor="t"/>
          <a:lstStyle/>
          <a:p>
            <a:pPr indent="0" marL="0">
              <a:buNone/>
            </a:pPr>
            <a:r>
              <a:rPr lang="en-US" sz="1200" spc="50" kern="0" dirty="0">
                <a:solidFill>
                  <a:schemeClr val="accent1"/>
                </a:solidFill>
                <a:latin typeface="IBM Plex Mono" pitchFamily="34" charset="0"/>
                <a:ea typeface="IBM Plex Mono" pitchFamily="34" charset="-122"/>
                <a:cs typeface="IBM Plex Mono" pitchFamily="34" charset="-120"/>
              </a:rPr>
              <a:t>02</a:t>
            </a:r>
            <a:endParaRPr lang="en-US" sz="1200" dirty="0"/>
          </a:p>
        </p:txBody>
      </p:sp>
      <p:sp>
        <p:nvSpPr>
          <p:cNvPr id="12" name="Text 10"/>
          <p:cNvSpPr txBox="1"/>
          <p:nvPr/>
        </p:nvSpPr>
        <p:spPr>
          <a:xfrm>
            <a:off x="3614928" y="2176272"/>
            <a:ext cx="2148840" cy="365760"/>
          </a:xfrm>
          <a:prstGeom prst="rect">
            <a:avLst/>
          </a:prstGeom>
          <a:noFill/>
          <a:ln/>
        </p:spPr>
        <p:txBody>
          <a:bodyPr wrap="square" lIns="0" tIns="0" rIns="0" bIns="0" rtlCol="0" anchor="t"/>
          <a:lstStyle/>
          <a:p>
            <a:pPr indent="0" marL="0">
              <a:buNone/>
            </a:pPr>
            <a:r>
              <a:rPr lang="en-US" sz="1800" dirty="0">
                <a:solidFill>
                  <a:schemeClr val="tx1"/>
                </a:solidFill>
                <a:latin typeface="IBM Plex Sans Medium" pitchFamily="34" charset="0"/>
                <a:ea typeface="IBM Plex Sans Medium" pitchFamily="34" charset="-122"/>
                <a:cs typeface="IBM Plex Sans Medium" pitchFamily="34" charset="-120"/>
              </a:rPr>
              <a:t>Convert</a:t>
            </a:r>
            <a:endParaRPr lang="en-US" sz="1800" dirty="0"/>
          </a:p>
        </p:txBody>
      </p:sp>
      <p:sp>
        <p:nvSpPr>
          <p:cNvPr id="13" name="Text 11"/>
          <p:cNvSpPr txBox="1"/>
          <p:nvPr/>
        </p:nvSpPr>
        <p:spPr>
          <a:xfrm>
            <a:off x="3614928" y="2560320"/>
            <a:ext cx="2148840" cy="594360"/>
          </a:xfrm>
          <a:prstGeom prst="rect">
            <a:avLst/>
          </a:prstGeom>
          <a:noFill/>
          <a:ln/>
        </p:spPr>
        <p:txBody>
          <a:bodyPr wrap="square" lIns="0" tIns="0" rIns="0" bIns="0" rtlCol="0" anchor="t"/>
          <a:lstStyle/>
          <a:p>
            <a:pPr indent="0" marL="0">
              <a:buNone/>
            </a:pPr>
            <a:r>
              <a:rPr lang="en-US" sz="1200" dirty="0">
                <a:solidFill>
                  <a:schemeClr val="tx2"/>
                </a:solidFill>
                <a:latin typeface="IBM Plex Sans" pitchFamily="34" charset="0"/>
                <a:ea typeface="IBM Plex Sans" pitchFamily="34" charset="-122"/>
                <a:cs typeface="IBM Plex Sans" pitchFamily="34" charset="-120"/>
              </a:rPr>
              <a:t>Reads the shard from CephFS, writes to local scratch</a:t>
            </a:r>
            <a:endParaRPr lang="en-US" sz="1200" dirty="0"/>
          </a:p>
        </p:txBody>
      </p:sp>
      <p:sp>
        <p:nvSpPr>
          <p:cNvPr id="14" name="Text 12"/>
          <p:cNvSpPr txBox="1"/>
          <p:nvPr/>
        </p:nvSpPr>
        <p:spPr>
          <a:xfrm>
            <a:off x="3614928" y="3200400"/>
            <a:ext cx="2148840" cy="274320"/>
          </a:xfrm>
          <a:prstGeom prst="rect">
            <a:avLst/>
          </a:prstGeom>
          <a:noFill/>
          <a:ln/>
        </p:spPr>
        <p:txBody>
          <a:bodyPr wrap="square" lIns="0" tIns="0" rIns="0" bIns="0" rtlCol="0" anchor="t"/>
          <a:lstStyle/>
          <a:p>
            <a:pPr indent="0" marL="0">
              <a:buNone/>
            </a:pPr>
            <a:r>
              <a:rPr lang="en-US" sz="1200" spc="50" kern="0" dirty="0">
                <a:solidFill>
                  <a:schemeClr val="tx1"/>
                </a:solidFill>
                <a:latin typeface="IBM Plex Mono" pitchFamily="34" charset="0"/>
                <a:ea typeface="IBM Plex Mono" pitchFamily="34" charset="-122"/>
                <a:cs typeface="IBM Plex Mono" pitchFamily="34" charset="-120"/>
              </a:rPr>
              <a:t>301 s</a:t>
            </a:r>
            <a:endParaRPr lang="en-US" sz="1200" dirty="0"/>
          </a:p>
        </p:txBody>
      </p:sp>
      <p:sp>
        <p:nvSpPr>
          <p:cNvPr id="15" name="Shape 13"/>
          <p:cNvSpPr/>
          <p:nvPr/>
        </p:nvSpPr>
        <p:spPr>
          <a:xfrm>
            <a:off x="6001512" y="2670048"/>
            <a:ext cx="195072" cy="0"/>
          </a:xfrm>
          <a:prstGeom prst="line">
            <a:avLst/>
          </a:prstGeom>
          <a:noFill/>
          <a:ln w="12700">
            <a:solidFill>
              <a:schemeClr val="tx1"/>
            </a:solidFill>
            <a:prstDash val="solid"/>
            <a:tailEnd type="triangle"/>
          </a:ln>
        </p:spPr>
      </p:sp>
      <p:sp>
        <p:nvSpPr>
          <p:cNvPr id="16" name="Shape 14"/>
          <p:cNvSpPr/>
          <p:nvPr/>
        </p:nvSpPr>
        <p:spPr>
          <a:xfrm>
            <a:off x="6251448" y="1783080"/>
            <a:ext cx="2514600" cy="1783080"/>
          </a:xfrm>
          <a:prstGeom prst="rect">
            <a:avLst/>
          </a:prstGeom>
          <a:solidFill>
            <a:schemeClr val="bg2"/>
          </a:solidFill>
          <a:ln/>
        </p:spPr>
      </p:sp>
      <p:sp>
        <p:nvSpPr>
          <p:cNvPr id="17" name="Text 15"/>
          <p:cNvSpPr txBox="1"/>
          <p:nvPr/>
        </p:nvSpPr>
        <p:spPr>
          <a:xfrm>
            <a:off x="6434328" y="1901952"/>
            <a:ext cx="914400" cy="274320"/>
          </a:xfrm>
          <a:prstGeom prst="rect">
            <a:avLst/>
          </a:prstGeom>
          <a:noFill/>
          <a:ln/>
        </p:spPr>
        <p:txBody>
          <a:bodyPr wrap="square" lIns="0" tIns="0" rIns="0" bIns="0" rtlCol="0" anchor="t"/>
          <a:lstStyle/>
          <a:p>
            <a:pPr indent="0" marL="0">
              <a:buNone/>
            </a:pPr>
            <a:r>
              <a:rPr lang="en-US" sz="1200" spc="50" kern="0" dirty="0">
                <a:solidFill>
                  <a:schemeClr val="accent1"/>
                </a:solidFill>
                <a:latin typeface="IBM Plex Mono" pitchFamily="34" charset="0"/>
                <a:ea typeface="IBM Plex Mono" pitchFamily="34" charset="-122"/>
                <a:cs typeface="IBM Plex Mono" pitchFamily="34" charset="-120"/>
              </a:rPr>
              <a:t>03</a:t>
            </a:r>
            <a:endParaRPr lang="en-US" sz="1200" dirty="0"/>
          </a:p>
        </p:txBody>
      </p:sp>
      <p:sp>
        <p:nvSpPr>
          <p:cNvPr id="18" name="Text 16"/>
          <p:cNvSpPr txBox="1"/>
          <p:nvPr/>
        </p:nvSpPr>
        <p:spPr>
          <a:xfrm>
            <a:off x="6434328" y="2176272"/>
            <a:ext cx="2148840" cy="365760"/>
          </a:xfrm>
          <a:prstGeom prst="rect">
            <a:avLst/>
          </a:prstGeom>
          <a:noFill/>
          <a:ln/>
        </p:spPr>
        <p:txBody>
          <a:bodyPr wrap="square" lIns="0" tIns="0" rIns="0" bIns="0" rtlCol="0" anchor="t"/>
          <a:lstStyle/>
          <a:p>
            <a:pPr indent="0" marL="0">
              <a:buNone/>
            </a:pPr>
            <a:r>
              <a:rPr lang="en-US" sz="1800" dirty="0">
                <a:solidFill>
                  <a:schemeClr val="tx1"/>
                </a:solidFill>
                <a:latin typeface="IBM Plex Sans Medium" pitchFamily="34" charset="0"/>
                <a:ea typeface="IBM Plex Sans Medium" pitchFamily="34" charset="-122"/>
                <a:cs typeface="IBM Plex Sans Medium" pitchFamily="34" charset="-120"/>
              </a:rPr>
              <a:t>Publish</a:t>
            </a:r>
            <a:endParaRPr lang="en-US" sz="1800" dirty="0"/>
          </a:p>
        </p:txBody>
      </p:sp>
      <p:sp>
        <p:nvSpPr>
          <p:cNvPr id="19" name="Text 17"/>
          <p:cNvSpPr txBox="1"/>
          <p:nvPr/>
        </p:nvSpPr>
        <p:spPr>
          <a:xfrm>
            <a:off x="6434328" y="2560320"/>
            <a:ext cx="2148840" cy="594360"/>
          </a:xfrm>
          <a:prstGeom prst="rect">
            <a:avLst/>
          </a:prstGeom>
          <a:noFill/>
          <a:ln/>
        </p:spPr>
        <p:txBody>
          <a:bodyPr wrap="square" lIns="0" tIns="0" rIns="0" bIns="0" rtlCol="0" anchor="t"/>
          <a:lstStyle/>
          <a:p>
            <a:pPr indent="0" marL="0">
              <a:buNone/>
            </a:pPr>
            <a:r>
              <a:rPr lang="en-US" sz="1200" dirty="0">
                <a:solidFill>
                  <a:schemeClr val="tx2"/>
                </a:solidFill>
                <a:latin typeface="IBM Plex Sans" pitchFamily="34" charset="0"/>
                <a:ea typeface="IBM Plex Sans" pitchFamily="34" charset="-122"/>
                <a:cs typeface="IBM Plex Sans" pitchFamily="34" charset="-120"/>
              </a:rPr>
              <a:t>Copy and fsync onto CephFS, then one atomic rename</a:t>
            </a:r>
            <a:endParaRPr lang="en-US" sz="1200" dirty="0"/>
          </a:p>
        </p:txBody>
      </p:sp>
      <p:sp>
        <p:nvSpPr>
          <p:cNvPr id="20" name="Text 18"/>
          <p:cNvSpPr txBox="1"/>
          <p:nvPr/>
        </p:nvSpPr>
        <p:spPr>
          <a:xfrm>
            <a:off x="6434328" y="3200400"/>
            <a:ext cx="2148840" cy="274320"/>
          </a:xfrm>
          <a:prstGeom prst="rect">
            <a:avLst/>
          </a:prstGeom>
          <a:noFill/>
          <a:ln/>
        </p:spPr>
        <p:txBody>
          <a:bodyPr wrap="square" lIns="0" tIns="0" rIns="0" bIns="0" rtlCol="0" anchor="t"/>
          <a:lstStyle/>
          <a:p>
            <a:pPr indent="0" marL="0">
              <a:buNone/>
            </a:pPr>
            <a:r>
              <a:rPr lang="en-US" sz="1200" spc="50" kern="0" dirty="0">
                <a:solidFill>
                  <a:schemeClr val="tx1"/>
                </a:solidFill>
                <a:latin typeface="IBM Plex Mono" pitchFamily="34" charset="0"/>
                <a:ea typeface="IBM Plex Mono" pitchFamily="34" charset="-122"/>
                <a:cs typeface="IBM Plex Mono" pitchFamily="34" charset="-120"/>
              </a:rPr>
              <a:t>0.8 s · 141.5 MB</a:t>
            </a:r>
            <a:endParaRPr lang="en-US" sz="1200" dirty="0"/>
          </a:p>
        </p:txBody>
      </p:sp>
      <p:sp>
        <p:nvSpPr>
          <p:cNvPr id="21" name="Shape 19"/>
          <p:cNvSpPr/>
          <p:nvPr/>
        </p:nvSpPr>
        <p:spPr>
          <a:xfrm>
            <a:off x="8820912" y="2670048"/>
            <a:ext cx="195072" cy="0"/>
          </a:xfrm>
          <a:prstGeom prst="line">
            <a:avLst/>
          </a:prstGeom>
          <a:noFill/>
          <a:ln w="12700">
            <a:solidFill>
              <a:schemeClr val="tx1"/>
            </a:solidFill>
            <a:prstDash val="solid"/>
            <a:tailEnd type="triangle"/>
          </a:ln>
        </p:spPr>
      </p:sp>
      <p:sp>
        <p:nvSpPr>
          <p:cNvPr id="22" name="Shape 20"/>
          <p:cNvSpPr/>
          <p:nvPr/>
        </p:nvSpPr>
        <p:spPr>
          <a:xfrm>
            <a:off x="9070848" y="1783080"/>
            <a:ext cx="2514600" cy="1783080"/>
          </a:xfrm>
          <a:prstGeom prst="rect">
            <a:avLst/>
          </a:prstGeom>
          <a:solidFill>
            <a:schemeClr val="bg2"/>
          </a:solidFill>
          <a:ln/>
        </p:spPr>
      </p:sp>
      <p:sp>
        <p:nvSpPr>
          <p:cNvPr id="23" name="Text 21"/>
          <p:cNvSpPr txBox="1"/>
          <p:nvPr/>
        </p:nvSpPr>
        <p:spPr>
          <a:xfrm>
            <a:off x="9253728" y="1901952"/>
            <a:ext cx="914400" cy="274320"/>
          </a:xfrm>
          <a:prstGeom prst="rect">
            <a:avLst/>
          </a:prstGeom>
          <a:noFill/>
          <a:ln/>
        </p:spPr>
        <p:txBody>
          <a:bodyPr wrap="square" lIns="0" tIns="0" rIns="0" bIns="0" rtlCol="0" anchor="t"/>
          <a:lstStyle/>
          <a:p>
            <a:pPr indent="0" marL="0">
              <a:buNone/>
            </a:pPr>
            <a:r>
              <a:rPr lang="en-US" sz="1200" spc="50" kern="0" dirty="0">
                <a:solidFill>
                  <a:schemeClr val="accent1"/>
                </a:solidFill>
                <a:latin typeface="IBM Plex Mono" pitchFamily="34" charset="0"/>
                <a:ea typeface="IBM Plex Mono" pitchFamily="34" charset="-122"/>
                <a:cs typeface="IBM Plex Mono" pitchFamily="34" charset="-120"/>
              </a:rPr>
              <a:t>04</a:t>
            </a:r>
            <a:endParaRPr lang="en-US" sz="1200" dirty="0"/>
          </a:p>
        </p:txBody>
      </p:sp>
      <p:sp>
        <p:nvSpPr>
          <p:cNvPr id="24" name="Text 22"/>
          <p:cNvSpPr txBox="1"/>
          <p:nvPr/>
        </p:nvSpPr>
        <p:spPr>
          <a:xfrm>
            <a:off x="9253728" y="2176272"/>
            <a:ext cx="2148840" cy="365760"/>
          </a:xfrm>
          <a:prstGeom prst="rect">
            <a:avLst/>
          </a:prstGeom>
          <a:noFill/>
          <a:ln/>
        </p:spPr>
        <p:txBody>
          <a:bodyPr wrap="square" lIns="0" tIns="0" rIns="0" bIns="0" rtlCol="0" anchor="t"/>
          <a:lstStyle/>
          <a:p>
            <a:pPr indent="0" marL="0">
              <a:buNone/>
            </a:pPr>
            <a:r>
              <a:rPr lang="en-US" sz="1800" dirty="0">
                <a:solidFill>
                  <a:schemeClr val="tx1"/>
                </a:solidFill>
                <a:latin typeface="IBM Plex Sans Medium" pitchFamily="34" charset="0"/>
                <a:ea typeface="IBM Plex Sans Medium" pitchFamily="34" charset="-122"/>
                <a:cs typeface="IBM Plex Sans Medium" pitchFamily="34" charset="-120"/>
              </a:rPr>
              <a:t>Verify</a:t>
            </a:r>
            <a:endParaRPr lang="en-US" sz="1800" dirty="0"/>
          </a:p>
        </p:txBody>
      </p:sp>
      <p:sp>
        <p:nvSpPr>
          <p:cNvPr id="25" name="Text 23"/>
          <p:cNvSpPr txBox="1"/>
          <p:nvPr/>
        </p:nvSpPr>
        <p:spPr>
          <a:xfrm>
            <a:off x="9253728" y="2560320"/>
            <a:ext cx="2148840" cy="594360"/>
          </a:xfrm>
          <a:prstGeom prst="rect">
            <a:avLst/>
          </a:prstGeom>
          <a:noFill/>
          <a:ln/>
        </p:spPr>
        <p:txBody>
          <a:bodyPr wrap="square" lIns="0" tIns="0" rIns="0" bIns="0" rtlCol="0" anchor="t"/>
          <a:lstStyle/>
          <a:p>
            <a:pPr indent="0" marL="0">
              <a:buNone/>
            </a:pPr>
            <a:r>
              <a:rPr lang="en-US" sz="1200" dirty="0">
                <a:solidFill>
                  <a:schemeClr val="tx2"/>
                </a:solidFill>
                <a:latin typeface="IBM Plex Sans" pitchFamily="34" charset="0"/>
                <a:ea typeface="IBM Plex Sans" pitchFamily="34" charset="-122"/>
                <a:cs typeface="IBM Plex Sans" pitchFamily="34" charset="-120"/>
              </a:rPr>
              <a:t>LeRobot's loader; frame counts across data and 3 videos</a:t>
            </a:r>
            <a:endParaRPr lang="en-US" sz="1200" dirty="0"/>
          </a:p>
        </p:txBody>
      </p:sp>
      <p:sp>
        <p:nvSpPr>
          <p:cNvPr id="26" name="Text 24"/>
          <p:cNvSpPr txBox="1"/>
          <p:nvPr/>
        </p:nvSpPr>
        <p:spPr>
          <a:xfrm>
            <a:off x="9253728" y="3200400"/>
            <a:ext cx="2148840" cy="274320"/>
          </a:xfrm>
          <a:prstGeom prst="rect">
            <a:avLst/>
          </a:prstGeom>
          <a:noFill/>
          <a:ln/>
        </p:spPr>
        <p:txBody>
          <a:bodyPr wrap="square" lIns="0" tIns="0" rIns="0" bIns="0" rtlCol="0" anchor="t"/>
          <a:lstStyle/>
          <a:p>
            <a:pPr indent="0" marL="0">
              <a:buNone/>
            </a:pPr>
            <a:r>
              <a:rPr lang="en-US" sz="1200" spc="50" kern="0" dirty="0">
                <a:solidFill>
                  <a:schemeClr val="tx1"/>
                </a:solidFill>
                <a:latin typeface="IBM Plex Mono" pitchFamily="34" charset="0"/>
                <a:ea typeface="IBM Plex Mono" pitchFamily="34" charset="-122"/>
                <a:cs typeface="IBM Plex Mono" pitchFamily="34" charset="-120"/>
              </a:rPr>
              <a:t>39 / 39 episodes</a:t>
            </a:r>
            <a:endParaRPr lang="en-US" sz="1200" dirty="0"/>
          </a:p>
        </p:txBody>
      </p:sp>
      <p:sp>
        <p:nvSpPr>
          <p:cNvPr id="27" name="Text 25"/>
          <p:cNvSpPr txBox="1"/>
          <p:nvPr/>
        </p:nvSpPr>
        <p:spPr>
          <a:xfrm>
            <a:off x="612648" y="3886200"/>
            <a:ext cx="3657600" cy="274320"/>
          </a:xfrm>
          <a:prstGeom prst="rect">
            <a:avLst/>
          </a:prstGeom>
          <a:noFill/>
          <a:ln/>
        </p:spPr>
        <p:txBody>
          <a:bodyPr wrap="square" lIns="0" tIns="0" rIns="0" bIns="0" rtlCol="0" anchor="t"/>
          <a:lstStyle/>
          <a:p>
            <a:pPr indent="0" marL="0">
              <a:buNone/>
            </a:pPr>
            <a:r>
              <a:rPr lang="en-US" sz="1100" spc="50" kern="0" dirty="0">
                <a:solidFill>
                  <a:schemeClr val="tx2"/>
                </a:solidFill>
                <a:latin typeface="IBM Plex Mono" pitchFamily="34" charset="0"/>
                <a:ea typeface="IBM Plex Mono" pitchFamily="34" charset="-122"/>
                <a:cs typeface="IBM Plex Mono" pitchFamily="34" charset="-120"/>
              </a:rPr>
              <a:t>DESIGN DECISIONS</a:t>
            </a:r>
            <a:endParaRPr lang="en-US" sz="1100" dirty="0"/>
          </a:p>
        </p:txBody>
      </p:sp>
      <p:sp>
        <p:nvSpPr>
          <p:cNvPr id="28" name="Shape 26"/>
          <p:cNvSpPr/>
          <p:nvPr/>
        </p:nvSpPr>
        <p:spPr>
          <a:xfrm>
            <a:off x="612648" y="4224528"/>
            <a:ext cx="3456432" cy="1920240"/>
          </a:xfrm>
          <a:prstGeom prst="rect">
            <a:avLst/>
          </a:prstGeom>
          <a:solidFill>
            <a:schemeClr val="bg1"/>
          </a:solidFill>
          <a:ln w="9525">
            <a:solidFill>
              <a:schemeClr val="accent3"/>
            </a:solidFill>
            <a:prstDash val="solid"/>
          </a:ln>
        </p:spPr>
      </p:sp>
      <p:sp>
        <p:nvSpPr>
          <p:cNvPr id="29" name="Text 27"/>
          <p:cNvSpPr txBox="1"/>
          <p:nvPr/>
        </p:nvSpPr>
        <p:spPr>
          <a:xfrm>
            <a:off x="813816" y="4370832"/>
            <a:ext cx="3054096" cy="365760"/>
          </a:xfrm>
          <a:prstGeom prst="rect">
            <a:avLst/>
          </a:prstGeom>
          <a:noFill/>
          <a:ln/>
        </p:spPr>
        <p:txBody>
          <a:bodyPr wrap="square" lIns="0" tIns="0" rIns="0" bIns="0" rtlCol="0" anchor="t"/>
          <a:lstStyle/>
          <a:p>
            <a:pPr indent="0" marL="0">
              <a:buNone/>
            </a:pPr>
            <a:r>
              <a:rPr lang="en-US" sz="1600" dirty="0">
                <a:solidFill>
                  <a:schemeClr val="tx1"/>
                </a:solidFill>
                <a:latin typeface="IBM Plex Sans Medium" pitchFamily="34" charset="0"/>
                <a:ea typeface="IBM Plex Sans Medium" pitchFamily="34" charset="-122"/>
                <a:cs typeface="IBM Plex Sans Medium" pitchFamily="34" charset="-120"/>
              </a:rPr>
              <a:t>Reuse the converter unmodified</a:t>
            </a:r>
            <a:endParaRPr lang="en-US" sz="1600" dirty="0"/>
          </a:p>
        </p:txBody>
      </p:sp>
      <p:sp>
        <p:nvSpPr>
          <p:cNvPr id="30" name="Text 28"/>
          <p:cNvSpPr txBox="1"/>
          <p:nvPr/>
        </p:nvSpPr>
        <p:spPr>
          <a:xfrm>
            <a:off x="813816" y="4800600"/>
            <a:ext cx="3054096" cy="1234440"/>
          </a:xfrm>
          <a:prstGeom prst="rect">
            <a:avLst/>
          </a:prstGeom>
          <a:noFill/>
          <a:ln/>
        </p:spPr>
        <p:txBody>
          <a:bodyPr wrap="square" lIns="0" tIns="0" rIns="0" bIns="0" rtlCol="0" anchor="t"/>
          <a:lstStyle/>
          <a:p>
            <a:pPr indent="0" marL="0">
              <a:buNone/>
            </a:pPr>
            <a:r>
              <a:rPr lang="en-US" sz="1400" dirty="0">
                <a:solidFill>
                  <a:schemeClr val="tx2"/>
                </a:solidFill>
                <a:latin typeface="IBM Plex Sans" pitchFamily="34" charset="0"/>
                <a:ea typeface="IBM Plex Sans" pitchFamily="34" charset="-122"/>
                <a:cs typeface="IBM Plex Sans" pitchFamily="34" charset="-120"/>
              </a:rPr>
              <a:t>Hugging Face's port_droid.py, verified by checksum before every run, so where it runs is the only thing that changes.</a:t>
            </a:r>
            <a:endParaRPr lang="en-US" sz="1400" dirty="0"/>
          </a:p>
        </p:txBody>
      </p:sp>
      <p:sp>
        <p:nvSpPr>
          <p:cNvPr id="31" name="Shape 29"/>
          <p:cNvSpPr/>
          <p:nvPr/>
        </p:nvSpPr>
        <p:spPr>
          <a:xfrm>
            <a:off x="4370832" y="4224528"/>
            <a:ext cx="3456432" cy="1920240"/>
          </a:xfrm>
          <a:prstGeom prst="rect">
            <a:avLst/>
          </a:prstGeom>
          <a:solidFill>
            <a:schemeClr val="bg1"/>
          </a:solidFill>
          <a:ln w="9525">
            <a:solidFill>
              <a:schemeClr val="accent3"/>
            </a:solidFill>
            <a:prstDash val="solid"/>
          </a:ln>
        </p:spPr>
      </p:sp>
      <p:sp>
        <p:nvSpPr>
          <p:cNvPr id="32" name="Text 30"/>
          <p:cNvSpPr txBox="1"/>
          <p:nvPr/>
        </p:nvSpPr>
        <p:spPr>
          <a:xfrm>
            <a:off x="4572000" y="4370832"/>
            <a:ext cx="3054096" cy="365760"/>
          </a:xfrm>
          <a:prstGeom prst="rect">
            <a:avLst/>
          </a:prstGeom>
          <a:noFill/>
          <a:ln/>
        </p:spPr>
        <p:txBody>
          <a:bodyPr wrap="square" lIns="0" tIns="0" rIns="0" bIns="0" rtlCol="0" anchor="t"/>
          <a:lstStyle/>
          <a:p>
            <a:pPr indent="0" marL="0">
              <a:buNone/>
            </a:pPr>
            <a:r>
              <a:rPr lang="en-US" sz="1600" dirty="0">
                <a:solidFill>
                  <a:schemeClr val="tx1"/>
                </a:solidFill>
                <a:latin typeface="IBM Plex Sans Medium" pitchFamily="34" charset="0"/>
                <a:ea typeface="IBM Plex Sans Medium" pitchFamily="34" charset="-122"/>
                <a:cs typeface="IBM Plex Sans Medium" pitchFamily="34" charset="-120"/>
              </a:rPr>
              <a:t>Same container in both modes</a:t>
            </a:r>
            <a:endParaRPr lang="en-US" sz="1600" dirty="0"/>
          </a:p>
        </p:txBody>
      </p:sp>
      <p:sp>
        <p:nvSpPr>
          <p:cNvPr id="33" name="Text 31"/>
          <p:cNvSpPr txBox="1"/>
          <p:nvPr/>
        </p:nvSpPr>
        <p:spPr>
          <a:xfrm>
            <a:off x="4572000" y="4800600"/>
            <a:ext cx="3054096" cy="1234440"/>
          </a:xfrm>
          <a:prstGeom prst="rect">
            <a:avLst/>
          </a:prstGeom>
          <a:noFill/>
          <a:ln/>
        </p:spPr>
        <p:txBody>
          <a:bodyPr wrap="square" lIns="0" tIns="0" rIns="0" bIns="0" rtlCol="0" anchor="t"/>
          <a:lstStyle/>
          <a:p>
            <a:pPr indent="0" marL="0">
              <a:buNone/>
            </a:pPr>
            <a:r>
              <a:rPr lang="en-US" sz="1400" dirty="0">
                <a:solidFill>
                  <a:schemeClr val="tx2"/>
                </a:solidFill>
                <a:latin typeface="IBM Plex Sans" pitchFamily="34" charset="0"/>
                <a:ea typeface="IBM Plex Sans" pitchFamily="34" charset="-122"/>
                <a:cs typeface="IBM Plex Sans" pitchFamily="34" charset="-120"/>
              </a:rPr>
              <a:t>Same image, CPU and memory limits, and no network inside: every byte goes through CephFS, where we count it.</a:t>
            </a:r>
            <a:endParaRPr lang="en-US" sz="1400" dirty="0"/>
          </a:p>
        </p:txBody>
      </p:sp>
      <p:sp>
        <p:nvSpPr>
          <p:cNvPr id="34" name="Shape 32"/>
          <p:cNvSpPr/>
          <p:nvPr/>
        </p:nvSpPr>
        <p:spPr>
          <a:xfrm>
            <a:off x="8129016" y="4224528"/>
            <a:ext cx="3456432" cy="1920240"/>
          </a:xfrm>
          <a:prstGeom prst="rect">
            <a:avLst/>
          </a:prstGeom>
          <a:solidFill>
            <a:schemeClr val="bg1"/>
          </a:solidFill>
          <a:ln w="9525">
            <a:solidFill>
              <a:schemeClr val="accent3"/>
            </a:solidFill>
            <a:prstDash val="solid"/>
          </a:ln>
        </p:spPr>
      </p:sp>
      <p:sp>
        <p:nvSpPr>
          <p:cNvPr id="35" name="Text 33"/>
          <p:cNvSpPr txBox="1"/>
          <p:nvPr/>
        </p:nvSpPr>
        <p:spPr>
          <a:xfrm>
            <a:off x="8330184" y="4370832"/>
            <a:ext cx="3054096" cy="365760"/>
          </a:xfrm>
          <a:prstGeom prst="rect">
            <a:avLst/>
          </a:prstGeom>
          <a:noFill/>
          <a:ln/>
        </p:spPr>
        <p:txBody>
          <a:bodyPr wrap="square" lIns="0" tIns="0" rIns="0" bIns="0" rtlCol="0" anchor="t"/>
          <a:lstStyle/>
          <a:p>
            <a:pPr indent="0" marL="0">
              <a:buNone/>
            </a:pPr>
            <a:r>
              <a:rPr lang="en-US" sz="1600" dirty="0">
                <a:solidFill>
                  <a:schemeClr val="tx1"/>
                </a:solidFill>
                <a:latin typeface="IBM Plex Sans Medium" pitchFamily="34" charset="0"/>
                <a:ea typeface="IBM Plex Sans Medium" pitchFamily="34" charset="-122"/>
                <a:cs typeface="IBM Plex Sans Medium" pitchFamily="34" charset="-120"/>
              </a:rPr>
              <a:t>Publish atomically</a:t>
            </a:r>
            <a:endParaRPr lang="en-US" sz="1600" dirty="0"/>
          </a:p>
        </p:txBody>
      </p:sp>
      <p:sp>
        <p:nvSpPr>
          <p:cNvPr id="36" name="Text 34"/>
          <p:cNvSpPr txBox="1"/>
          <p:nvPr/>
        </p:nvSpPr>
        <p:spPr>
          <a:xfrm>
            <a:off x="8330184" y="4800600"/>
            <a:ext cx="3054096" cy="1234440"/>
          </a:xfrm>
          <a:prstGeom prst="rect">
            <a:avLst/>
          </a:prstGeom>
          <a:noFill/>
          <a:ln/>
        </p:spPr>
        <p:txBody>
          <a:bodyPr wrap="square" lIns="0" tIns="0" rIns="0" bIns="0" rtlCol="0" anchor="t"/>
          <a:lstStyle/>
          <a:p>
            <a:pPr indent="0" marL="0">
              <a:buNone/>
            </a:pPr>
            <a:r>
              <a:rPr lang="en-US" sz="1400" dirty="0">
                <a:solidFill>
                  <a:schemeClr val="tx2"/>
                </a:solidFill>
                <a:latin typeface="IBM Plex Sans" pitchFamily="34" charset="0"/>
                <a:ea typeface="IBM Plex Sans" pitchFamily="34" charset="-122"/>
                <a:cs typeface="IBM Plex Sans" pitchFamily="34" charset="-120"/>
              </a:rPr>
              <a:t>The service and other readers never see a half-written dataset, and a dataset is either complete or absent.</a:t>
            </a:r>
            <a:endParaRPr lang="en-US" sz="1400" dirty="0"/>
          </a:p>
        </p:txBody>
      </p:sp>
      <p:sp>
        <p:nvSpPr>
          <p:cNvPr id="25" name="Slide Number Placeholder 0"/>
          <p:cNvSpPr>
            <a:spLocks noGrp="1"/>
          </p:cNvSpPr>
          <p:nvPr>
            <p:ph type="sldNum" sz="quarter" idx="4294967295"/>
          </p:nvPr>
        </p:nvSpPr>
        <p:spPr>
          <a:xfrm>
            <a:off x="11128248"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86574"/>
                </a:solidFill>
                <a:latin typeface="IBM Plex Mono"/>
                <a:ea typeface="IBM Plex Mono"/>
                <a:cs typeface="IBM Plex Mon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12648" y="393192"/>
            <a:ext cx="10972800" cy="594360"/>
          </a:xfrm>
          <a:prstGeom prst="rect">
            <a:avLst/>
          </a:prstGeom>
          <a:noFill/>
          <a:ln/>
        </p:spPr>
        <p:txBody>
          <a:bodyPr wrap="square" lIns="0" tIns="0" rIns="0" bIns="0" rtlCol="0" anchor="t"/>
          <a:lstStyle/>
          <a:p>
            <a:pPr algn="l" indent="0" marL="0">
              <a:buNone/>
            </a:pPr>
            <a:r>
              <a:rPr lang="en-US" sz="3400" dirty="0">
                <a:solidFill>
                  <a:schemeClr val="tx1"/>
                </a:solidFill>
              </a:rPr>
              <a:t>Background conversion service</a:t>
            </a:r>
            <a:endParaRPr lang="en-US" sz="3400" dirty="0"/>
          </a:p>
        </p:txBody>
      </p:sp>
      <p:sp>
        <p:nvSpPr>
          <p:cNvPr id="3" name="Text 0"/>
          <p:cNvSpPr/>
          <p:nvPr>
            <p:ph idx="101" type="body" hasCustomPrompt="1"/>
          </p:nvPr>
        </p:nvSpPr>
        <p:spPr>
          <a:xfrm>
            <a:off x="612648" y="1088136"/>
            <a:ext cx="10972800" cy="365760"/>
          </a:xfrm>
          <a:prstGeom prst="rect">
            <a:avLst/>
          </a:prstGeom>
          <a:noFill/>
          <a:ln/>
        </p:spPr>
        <p:txBody>
          <a:bodyPr wrap="square" lIns="0" tIns="0" rIns="0" bIns="0" rtlCol="0" anchor="t"/>
          <a:lstStyle/>
          <a:p>
            <a:pPr indent="0" marL="0">
              <a:buNone/>
            </a:pPr>
            <a:r>
              <a:rPr lang="en-US" sz="1700" dirty="0">
                <a:solidFill>
                  <a:schemeClr val="tx2"/>
                </a:solidFill>
              </a:rPr>
              <a:t>Newly loaded data is converted with no manual step (demo video)</a:t>
            </a:r>
            <a:endParaRPr lang="en-US" sz="1700" dirty="0"/>
          </a:p>
        </p:txBody>
      </p:sp>
      <p:sp>
        <p:nvSpPr>
          <p:cNvPr id="4" name="Shape 2"/>
          <p:cNvSpPr/>
          <p:nvPr/>
        </p:nvSpPr>
        <p:spPr>
          <a:xfrm>
            <a:off x="612648" y="1783080"/>
            <a:ext cx="457200" cy="457200"/>
          </a:xfrm>
          <a:prstGeom prst="ellipse">
            <a:avLst/>
          </a:prstGeom>
          <a:solidFill>
            <a:schemeClr val="bg1"/>
          </a:solidFill>
          <a:ln w="15875">
            <a:solidFill>
              <a:schemeClr val="accent1"/>
            </a:solidFill>
            <a:prstDash val="solid"/>
          </a:ln>
        </p:spPr>
      </p:sp>
      <p:sp>
        <p:nvSpPr>
          <p:cNvPr id="5" name="Text 3"/>
          <p:cNvSpPr txBox="1"/>
          <p:nvPr/>
        </p:nvSpPr>
        <p:spPr>
          <a:xfrm>
            <a:off x="612648" y="1783080"/>
            <a:ext cx="457200" cy="457200"/>
          </a:xfrm>
          <a:prstGeom prst="rect">
            <a:avLst/>
          </a:prstGeom>
          <a:noFill/>
          <a:ln/>
        </p:spPr>
        <p:txBody>
          <a:bodyPr wrap="square" lIns="0" tIns="0" rIns="0" bIns="0" rtlCol="0" anchor="ctr"/>
          <a:lstStyle/>
          <a:p>
            <a:pPr algn="ctr" indent="0" marL="0">
              <a:buNone/>
            </a:pPr>
            <a:r>
              <a:rPr lang="en-US" sz="1400" dirty="0">
                <a:solidFill>
                  <a:schemeClr val="accent1"/>
                </a:solidFill>
                <a:latin typeface="IBM Plex Mono" pitchFamily="34" charset="0"/>
                <a:ea typeface="IBM Plex Mono" pitchFamily="34" charset="-122"/>
                <a:cs typeface="IBM Plex Mono" pitchFamily="34" charset="-120"/>
              </a:rPr>
              <a:t>1</a:t>
            </a:r>
            <a:endParaRPr lang="en-US" sz="1400" dirty="0"/>
          </a:p>
        </p:txBody>
      </p:sp>
      <p:sp>
        <p:nvSpPr>
          <p:cNvPr id="6" name="Shape 4"/>
          <p:cNvSpPr/>
          <p:nvPr/>
        </p:nvSpPr>
        <p:spPr>
          <a:xfrm>
            <a:off x="841248" y="2286000"/>
            <a:ext cx="0" cy="548640"/>
          </a:xfrm>
          <a:prstGeom prst="line">
            <a:avLst/>
          </a:prstGeom>
          <a:noFill/>
          <a:ln w="12700">
            <a:solidFill>
              <a:schemeClr val="accent3"/>
            </a:solidFill>
            <a:prstDash val="solid"/>
          </a:ln>
        </p:spPr>
      </p:sp>
      <p:sp>
        <p:nvSpPr>
          <p:cNvPr id="7" name="Text 5"/>
          <p:cNvSpPr txBox="1"/>
          <p:nvPr/>
        </p:nvSpPr>
        <p:spPr>
          <a:xfrm>
            <a:off x="1325880" y="1801368"/>
            <a:ext cx="4206240" cy="365760"/>
          </a:xfrm>
          <a:prstGeom prst="rect">
            <a:avLst/>
          </a:prstGeom>
          <a:noFill/>
          <a:ln/>
        </p:spPr>
        <p:txBody>
          <a:bodyPr wrap="square" lIns="0" tIns="0" rIns="0" bIns="0" rtlCol="0" anchor="t"/>
          <a:lstStyle/>
          <a:p>
            <a:pPr indent="0" marL="0">
              <a:buNone/>
            </a:pPr>
            <a:r>
              <a:rPr lang="en-US" sz="1700" dirty="0">
                <a:solidFill>
                  <a:schemeClr val="tx1"/>
                </a:solidFill>
                <a:latin typeface="IBM Plex Sans Medium" pitchFamily="34" charset="0"/>
                <a:ea typeface="IBM Plex Sans Medium" pitchFamily="34" charset="-122"/>
                <a:cs typeface="IBM Plex Sans Medium" pitchFamily="34" charset="-120"/>
              </a:rPr>
              <a:t>Shard loaded</a:t>
            </a:r>
            <a:endParaRPr lang="en-US" sz="1700" dirty="0"/>
          </a:p>
        </p:txBody>
      </p:sp>
      <p:sp>
        <p:nvSpPr>
          <p:cNvPr id="8" name="Text 6"/>
          <p:cNvSpPr txBox="1"/>
          <p:nvPr/>
        </p:nvSpPr>
        <p:spPr>
          <a:xfrm>
            <a:off x="1325880" y="2167128"/>
            <a:ext cx="4389120" cy="548640"/>
          </a:xfrm>
          <a:prstGeom prst="rect">
            <a:avLst/>
          </a:prstGeom>
          <a:noFill/>
          <a:ln/>
        </p:spPr>
        <p:txBody>
          <a:bodyPr wrap="square" lIns="0" tIns="0" rIns="0" bIns="0" rtlCol="0" anchor="t"/>
          <a:lstStyle/>
          <a:p>
            <a:pPr indent="0" marL="0">
              <a:buNone/>
            </a:pPr>
            <a:r>
              <a:rPr lang="en-US" sz="1400" dirty="0">
                <a:solidFill>
                  <a:schemeClr val="tx2"/>
                </a:solidFill>
                <a:latin typeface="IBM Plex Sans" pitchFamily="34" charset="0"/>
                <a:ea typeface="IBM Plex Sans" pitchFamily="34" charset="-122"/>
                <a:cs typeface="IBM Plex Sans" pitchFamily="34" charset="-120"/>
              </a:rPr>
              <a:t>bin/cstore load-droid writes it to CephFS</a:t>
            </a:r>
            <a:endParaRPr lang="en-US" sz="1400" dirty="0"/>
          </a:p>
        </p:txBody>
      </p:sp>
      <p:sp>
        <p:nvSpPr>
          <p:cNvPr id="9" name="Shape 7"/>
          <p:cNvSpPr/>
          <p:nvPr/>
        </p:nvSpPr>
        <p:spPr>
          <a:xfrm>
            <a:off x="612648" y="2862072"/>
            <a:ext cx="457200" cy="457200"/>
          </a:xfrm>
          <a:prstGeom prst="ellipse">
            <a:avLst/>
          </a:prstGeom>
          <a:solidFill>
            <a:schemeClr val="bg1"/>
          </a:solidFill>
          <a:ln w="15875">
            <a:solidFill>
              <a:schemeClr val="accent1"/>
            </a:solidFill>
            <a:prstDash val="solid"/>
          </a:ln>
        </p:spPr>
      </p:sp>
      <p:sp>
        <p:nvSpPr>
          <p:cNvPr id="10" name="Text 8"/>
          <p:cNvSpPr txBox="1"/>
          <p:nvPr/>
        </p:nvSpPr>
        <p:spPr>
          <a:xfrm>
            <a:off x="612648" y="2862072"/>
            <a:ext cx="457200" cy="457200"/>
          </a:xfrm>
          <a:prstGeom prst="rect">
            <a:avLst/>
          </a:prstGeom>
          <a:noFill/>
          <a:ln/>
        </p:spPr>
        <p:txBody>
          <a:bodyPr wrap="square" lIns="0" tIns="0" rIns="0" bIns="0" rtlCol="0" anchor="ctr"/>
          <a:lstStyle/>
          <a:p>
            <a:pPr algn="ctr" indent="0" marL="0">
              <a:buNone/>
            </a:pPr>
            <a:r>
              <a:rPr lang="en-US" sz="1400" dirty="0">
                <a:solidFill>
                  <a:schemeClr val="accent1"/>
                </a:solidFill>
                <a:latin typeface="IBM Plex Mono" pitchFamily="34" charset="0"/>
                <a:ea typeface="IBM Plex Mono" pitchFamily="34" charset="-122"/>
                <a:cs typeface="IBM Plex Mono" pitchFamily="34" charset="-120"/>
              </a:rPr>
              <a:t>2</a:t>
            </a:r>
            <a:endParaRPr lang="en-US" sz="1400" dirty="0"/>
          </a:p>
        </p:txBody>
      </p:sp>
      <p:sp>
        <p:nvSpPr>
          <p:cNvPr id="11" name="Shape 9"/>
          <p:cNvSpPr/>
          <p:nvPr/>
        </p:nvSpPr>
        <p:spPr>
          <a:xfrm>
            <a:off x="841248" y="3364992"/>
            <a:ext cx="0" cy="548640"/>
          </a:xfrm>
          <a:prstGeom prst="line">
            <a:avLst/>
          </a:prstGeom>
          <a:noFill/>
          <a:ln w="12700">
            <a:solidFill>
              <a:schemeClr val="accent3"/>
            </a:solidFill>
            <a:prstDash val="solid"/>
          </a:ln>
        </p:spPr>
      </p:sp>
      <p:sp>
        <p:nvSpPr>
          <p:cNvPr id="12" name="Text 10"/>
          <p:cNvSpPr txBox="1"/>
          <p:nvPr/>
        </p:nvSpPr>
        <p:spPr>
          <a:xfrm>
            <a:off x="1325880" y="2880360"/>
            <a:ext cx="4206240" cy="365760"/>
          </a:xfrm>
          <a:prstGeom prst="rect">
            <a:avLst/>
          </a:prstGeom>
          <a:noFill/>
          <a:ln/>
        </p:spPr>
        <p:txBody>
          <a:bodyPr wrap="square" lIns="0" tIns="0" rIns="0" bIns="0" rtlCol="0" anchor="t"/>
          <a:lstStyle/>
          <a:p>
            <a:pPr indent="0" marL="0">
              <a:buNone/>
            </a:pPr>
            <a:r>
              <a:rPr lang="en-US" sz="1700" dirty="0">
                <a:solidFill>
                  <a:schemeClr val="tx1"/>
                </a:solidFill>
                <a:latin typeface="IBM Plex Sans Medium" pitchFamily="34" charset="0"/>
                <a:ea typeface="IBM Plex Sans Medium" pitchFamily="34" charset="-122"/>
                <a:cs typeface="IBM Plex Sans Medium" pitchFamily="34" charset="-120"/>
              </a:rPr>
              <a:t>Service notices it</a:t>
            </a:r>
            <a:endParaRPr lang="en-US" sz="1700" dirty="0"/>
          </a:p>
        </p:txBody>
      </p:sp>
      <p:sp>
        <p:nvSpPr>
          <p:cNvPr id="13" name="Text 11"/>
          <p:cNvSpPr txBox="1"/>
          <p:nvPr/>
        </p:nvSpPr>
        <p:spPr>
          <a:xfrm>
            <a:off x="1325880" y="3246120"/>
            <a:ext cx="4389120" cy="548640"/>
          </a:xfrm>
          <a:prstGeom prst="rect">
            <a:avLst/>
          </a:prstGeom>
          <a:noFill/>
          <a:ln/>
        </p:spPr>
        <p:txBody>
          <a:bodyPr wrap="square" lIns="0" tIns="0" rIns="0" bIns="0" rtlCol="0" anchor="t"/>
          <a:lstStyle/>
          <a:p>
            <a:pPr indent="0" marL="0">
              <a:buNone/>
            </a:pPr>
            <a:r>
              <a:rPr lang="en-US" sz="1400" dirty="0">
                <a:solidFill>
                  <a:schemeClr val="tx2"/>
                </a:solidFill>
                <a:latin typeface="IBM Plex Sans" pitchFamily="34" charset="0"/>
                <a:ea typeface="IBM Plex Sans" pitchFamily="34" charset="-122"/>
                <a:cs typeface="IBM Plex Sans" pitchFamily="34" charset="-120"/>
              </a:rPr>
              <a:t>no LeRobot output yet → a job in queue/pending/</a:t>
            </a:r>
            <a:endParaRPr lang="en-US" sz="1400" dirty="0"/>
          </a:p>
        </p:txBody>
      </p:sp>
      <p:sp>
        <p:nvSpPr>
          <p:cNvPr id="14" name="Shape 12"/>
          <p:cNvSpPr/>
          <p:nvPr/>
        </p:nvSpPr>
        <p:spPr>
          <a:xfrm>
            <a:off x="612648" y="3941064"/>
            <a:ext cx="457200" cy="457200"/>
          </a:xfrm>
          <a:prstGeom prst="ellipse">
            <a:avLst/>
          </a:prstGeom>
          <a:solidFill>
            <a:schemeClr val="bg1"/>
          </a:solidFill>
          <a:ln w="15875">
            <a:solidFill>
              <a:schemeClr val="accent1"/>
            </a:solidFill>
            <a:prstDash val="solid"/>
          </a:ln>
        </p:spPr>
      </p:sp>
      <p:sp>
        <p:nvSpPr>
          <p:cNvPr id="15" name="Text 13"/>
          <p:cNvSpPr txBox="1"/>
          <p:nvPr/>
        </p:nvSpPr>
        <p:spPr>
          <a:xfrm>
            <a:off x="612648" y="3941064"/>
            <a:ext cx="457200" cy="457200"/>
          </a:xfrm>
          <a:prstGeom prst="rect">
            <a:avLst/>
          </a:prstGeom>
          <a:noFill/>
          <a:ln/>
        </p:spPr>
        <p:txBody>
          <a:bodyPr wrap="square" lIns="0" tIns="0" rIns="0" bIns="0" rtlCol="0" anchor="ctr"/>
          <a:lstStyle/>
          <a:p>
            <a:pPr algn="ctr" indent="0" marL="0">
              <a:buNone/>
            </a:pPr>
            <a:r>
              <a:rPr lang="en-US" sz="1400" dirty="0">
                <a:solidFill>
                  <a:schemeClr val="accent1"/>
                </a:solidFill>
                <a:latin typeface="IBM Plex Mono" pitchFamily="34" charset="0"/>
                <a:ea typeface="IBM Plex Mono" pitchFamily="34" charset="-122"/>
                <a:cs typeface="IBM Plex Mono" pitchFamily="34" charset="-120"/>
              </a:rPr>
              <a:t>3</a:t>
            </a:r>
            <a:endParaRPr lang="en-US" sz="1400" dirty="0"/>
          </a:p>
        </p:txBody>
      </p:sp>
      <p:sp>
        <p:nvSpPr>
          <p:cNvPr id="16" name="Shape 14"/>
          <p:cNvSpPr/>
          <p:nvPr/>
        </p:nvSpPr>
        <p:spPr>
          <a:xfrm>
            <a:off x="841248" y="4443984"/>
            <a:ext cx="0" cy="548640"/>
          </a:xfrm>
          <a:prstGeom prst="line">
            <a:avLst/>
          </a:prstGeom>
          <a:noFill/>
          <a:ln w="12700">
            <a:solidFill>
              <a:schemeClr val="accent3"/>
            </a:solidFill>
            <a:prstDash val="solid"/>
          </a:ln>
        </p:spPr>
      </p:sp>
      <p:sp>
        <p:nvSpPr>
          <p:cNvPr id="17" name="Text 15"/>
          <p:cNvSpPr txBox="1"/>
          <p:nvPr/>
        </p:nvSpPr>
        <p:spPr>
          <a:xfrm>
            <a:off x="1325880" y="3959352"/>
            <a:ext cx="4206240" cy="365760"/>
          </a:xfrm>
          <a:prstGeom prst="rect">
            <a:avLst/>
          </a:prstGeom>
          <a:noFill/>
          <a:ln/>
        </p:spPr>
        <p:txBody>
          <a:bodyPr wrap="square" lIns="0" tIns="0" rIns="0" bIns="0" rtlCol="0" anchor="t"/>
          <a:lstStyle/>
          <a:p>
            <a:pPr indent="0" marL="0">
              <a:buNone/>
            </a:pPr>
            <a:r>
              <a:rPr lang="en-US" sz="1700" dirty="0">
                <a:solidFill>
                  <a:schemeClr val="tx1"/>
                </a:solidFill>
                <a:latin typeface="IBM Plex Sans Medium" pitchFamily="34" charset="0"/>
                <a:ea typeface="IBM Plex Sans Medium" pitchFamily="34" charset="-122"/>
                <a:cs typeface="IBM Plex Sans Medium" pitchFamily="34" charset="-120"/>
              </a:rPr>
              <a:t>Claimed and run</a:t>
            </a:r>
            <a:endParaRPr lang="en-US" sz="1700" dirty="0"/>
          </a:p>
        </p:txBody>
      </p:sp>
      <p:sp>
        <p:nvSpPr>
          <p:cNvPr id="18" name="Text 16"/>
          <p:cNvSpPr txBox="1"/>
          <p:nvPr/>
        </p:nvSpPr>
        <p:spPr>
          <a:xfrm>
            <a:off x="1325880" y="4325112"/>
            <a:ext cx="4389120" cy="548640"/>
          </a:xfrm>
          <a:prstGeom prst="rect">
            <a:avLst/>
          </a:prstGeom>
          <a:noFill/>
          <a:ln/>
        </p:spPr>
        <p:txBody>
          <a:bodyPr wrap="square" lIns="0" tIns="0" rIns="0" bIns="0" rtlCol="0" anchor="t"/>
          <a:lstStyle/>
          <a:p>
            <a:pPr indent="0" marL="0">
              <a:buNone/>
            </a:pPr>
            <a:r>
              <a:rPr lang="en-US" sz="1400" dirty="0">
                <a:solidFill>
                  <a:schemeClr val="tx2"/>
                </a:solidFill>
                <a:latin typeface="IBM Plex Sans" pitchFamily="34" charset="0"/>
                <a:ea typeface="IBM Plex Sans" pitchFamily="34" charset="-122"/>
                <a:cs typeface="IBM Plex Sans" pitchFamily="34" charset="-120"/>
              </a:rPr>
              <a:t>atomic rename into running/, then a worker runs it</a:t>
            </a:r>
            <a:endParaRPr lang="en-US" sz="1400" dirty="0"/>
          </a:p>
        </p:txBody>
      </p:sp>
      <p:sp>
        <p:nvSpPr>
          <p:cNvPr id="19" name="Shape 17"/>
          <p:cNvSpPr/>
          <p:nvPr/>
        </p:nvSpPr>
        <p:spPr>
          <a:xfrm>
            <a:off x="612648" y="5020056"/>
            <a:ext cx="457200" cy="457200"/>
          </a:xfrm>
          <a:prstGeom prst="ellipse">
            <a:avLst/>
          </a:prstGeom>
          <a:solidFill>
            <a:schemeClr val="bg1"/>
          </a:solidFill>
          <a:ln w="15875">
            <a:solidFill>
              <a:schemeClr val="accent1"/>
            </a:solidFill>
            <a:prstDash val="solid"/>
          </a:ln>
        </p:spPr>
      </p:sp>
      <p:sp>
        <p:nvSpPr>
          <p:cNvPr id="20" name="Text 18"/>
          <p:cNvSpPr txBox="1"/>
          <p:nvPr/>
        </p:nvSpPr>
        <p:spPr>
          <a:xfrm>
            <a:off x="612648" y="5020056"/>
            <a:ext cx="457200" cy="457200"/>
          </a:xfrm>
          <a:prstGeom prst="rect">
            <a:avLst/>
          </a:prstGeom>
          <a:noFill/>
          <a:ln/>
        </p:spPr>
        <p:txBody>
          <a:bodyPr wrap="square" lIns="0" tIns="0" rIns="0" bIns="0" rtlCol="0" anchor="ctr"/>
          <a:lstStyle/>
          <a:p>
            <a:pPr algn="ctr" indent="0" marL="0">
              <a:buNone/>
            </a:pPr>
            <a:r>
              <a:rPr lang="en-US" sz="1400" dirty="0">
                <a:solidFill>
                  <a:schemeClr val="accent1"/>
                </a:solidFill>
                <a:latin typeface="IBM Plex Mono" pitchFamily="34" charset="0"/>
                <a:ea typeface="IBM Plex Mono" pitchFamily="34" charset="-122"/>
                <a:cs typeface="IBM Plex Mono" pitchFamily="34" charset="-120"/>
              </a:rPr>
              <a:t>4</a:t>
            </a:r>
            <a:endParaRPr lang="en-US" sz="1400" dirty="0"/>
          </a:p>
        </p:txBody>
      </p:sp>
      <p:sp>
        <p:nvSpPr>
          <p:cNvPr id="21" name="Text 19"/>
          <p:cNvSpPr txBox="1"/>
          <p:nvPr/>
        </p:nvSpPr>
        <p:spPr>
          <a:xfrm>
            <a:off x="1325880" y="5038344"/>
            <a:ext cx="4206240" cy="365760"/>
          </a:xfrm>
          <a:prstGeom prst="rect">
            <a:avLst/>
          </a:prstGeom>
          <a:noFill/>
          <a:ln/>
        </p:spPr>
        <p:txBody>
          <a:bodyPr wrap="square" lIns="0" tIns="0" rIns="0" bIns="0" rtlCol="0" anchor="t"/>
          <a:lstStyle/>
          <a:p>
            <a:pPr indent="0" marL="0">
              <a:buNone/>
            </a:pPr>
            <a:r>
              <a:rPr lang="en-US" sz="1700" dirty="0">
                <a:solidFill>
                  <a:schemeClr val="tx1"/>
                </a:solidFill>
                <a:latin typeface="IBM Plex Sans Medium" pitchFamily="34" charset="0"/>
                <a:ea typeface="IBM Plex Sans Medium" pitchFamily="34" charset="-122"/>
                <a:cs typeface="IBM Plex Sans Medium" pitchFamily="34" charset="-120"/>
              </a:rPr>
              <a:t>Done and verified</a:t>
            </a:r>
            <a:endParaRPr lang="en-US" sz="1700" dirty="0"/>
          </a:p>
        </p:txBody>
      </p:sp>
      <p:sp>
        <p:nvSpPr>
          <p:cNvPr id="22" name="Text 20"/>
          <p:cNvSpPr txBox="1"/>
          <p:nvPr/>
        </p:nvSpPr>
        <p:spPr>
          <a:xfrm>
            <a:off x="1325880" y="5404104"/>
            <a:ext cx="4389120" cy="548640"/>
          </a:xfrm>
          <a:prstGeom prst="rect">
            <a:avLst/>
          </a:prstGeom>
          <a:noFill/>
          <a:ln/>
        </p:spPr>
        <p:txBody>
          <a:bodyPr wrap="square" lIns="0" tIns="0" rIns="0" bIns="0" rtlCol="0" anchor="t"/>
          <a:lstStyle/>
          <a:p>
            <a:pPr indent="0" marL="0">
              <a:buNone/>
            </a:pPr>
            <a:r>
              <a:rPr lang="en-US" sz="1400" dirty="0">
                <a:solidFill>
                  <a:schemeClr val="tx2"/>
                </a:solidFill>
                <a:latin typeface="IBM Plex Sans" pitchFamily="34" charset="0"/>
                <a:ea typeface="IBM Plex Sans" pitchFamily="34" charset="-122"/>
                <a:cs typeface="IBM Plex Sans" pitchFamily="34" charset="-120"/>
              </a:rPr>
              <a:t>done/, a result record, VERIFY OK</a:t>
            </a:r>
            <a:endParaRPr lang="en-US" sz="1400" dirty="0"/>
          </a:p>
        </p:txBody>
      </p:sp>
      <p:sp>
        <p:nvSpPr>
          <p:cNvPr id="23" name="Shape 21"/>
          <p:cNvSpPr/>
          <p:nvPr/>
        </p:nvSpPr>
        <p:spPr>
          <a:xfrm>
            <a:off x="6035040" y="1783080"/>
            <a:ext cx="5550408" cy="2468880"/>
          </a:xfrm>
          <a:prstGeom prst="rect">
            <a:avLst/>
          </a:prstGeom>
          <a:solidFill>
            <a:schemeClr val="tx1"/>
          </a:solidFill>
          <a:ln/>
        </p:spPr>
      </p:sp>
      <p:sp>
        <p:nvSpPr>
          <p:cNvPr id="24" name="Text 22"/>
          <p:cNvSpPr txBox="1"/>
          <p:nvPr/>
        </p:nvSpPr>
        <p:spPr>
          <a:xfrm>
            <a:off x="6263640" y="1920240"/>
            <a:ext cx="5120640" cy="274320"/>
          </a:xfrm>
          <a:prstGeom prst="rect">
            <a:avLst/>
          </a:prstGeom>
          <a:noFill/>
          <a:ln/>
        </p:spPr>
        <p:txBody>
          <a:bodyPr wrap="square" lIns="0" tIns="0" rIns="0" bIns="0" rtlCol="0" anchor="t"/>
          <a:lstStyle/>
          <a:p>
            <a:pPr indent="0" marL="0">
              <a:buNone/>
            </a:pPr>
            <a:r>
              <a:rPr lang="en-US" sz="1000" spc="50" kern="0" dirty="0">
                <a:solidFill>
                  <a:schemeClr val="accent3"/>
                </a:solidFill>
                <a:latin typeface="IBM Plex Mono" pitchFamily="34" charset="0"/>
                <a:ea typeface="IBM Plex Mono" pitchFamily="34" charset="-122"/>
                <a:cs typeface="IBM Plex Mono" pitchFamily="34" charset="-120"/>
              </a:rPr>
              <a:t>SERVICE LOG AND VERIFICATION · AWS RUN 2, 2026-10-18</a:t>
            </a:r>
            <a:endParaRPr lang="en-US" sz="1000" dirty="0"/>
          </a:p>
        </p:txBody>
      </p:sp>
      <p:sp>
        <p:nvSpPr>
          <p:cNvPr id="25" name="Text 23"/>
          <p:cNvSpPr txBox="1"/>
          <p:nvPr/>
        </p:nvSpPr>
        <p:spPr>
          <a:xfrm>
            <a:off x="6263640" y="2331720"/>
            <a:ext cx="5120640" cy="2011680"/>
          </a:xfrm>
          <a:prstGeom prst="rect">
            <a:avLst/>
          </a:prstGeom>
          <a:noFill/>
          <a:ln/>
        </p:spPr>
        <p:txBody>
          <a:bodyPr wrap="square" lIns="0" tIns="0" rIns="0" bIns="0" rtlCol="0" anchor="t"/>
          <a:lstStyle/>
          <a:p>
            <a:pPr indent="0" marL="0">
              <a:lnSpc>
                <a:spcPct val="110000"/>
              </a:lnSpc>
              <a:buNone/>
            </a:pPr>
            <a:r>
              <a:rPr lang="en-US" sz="1250" dirty="0">
                <a:solidFill>
                  <a:schemeClr val="bg1"/>
                </a:solidFill>
                <a:latin typeface="IBM Plex Mono" pitchFamily="34" charset="0"/>
                <a:ea typeface="IBM Plex Mono" pitchFamily="34" charset="-122"/>
                <a:cs typeface="IBM Plex Mono" pitchFamily="34" charset="-120"/>
              </a:rPr>
              <a:t>18:54:53  queued   svc-shard-00002</a:t>
            </a:r>
            <a:endParaRPr lang="en-US" sz="1250" dirty="0"/>
          </a:p>
          <a:p>
            <a:pPr indent="0" marL="0">
              <a:lnSpc>
                <a:spcPct val="110000"/>
              </a:lnSpc>
              <a:buNone/>
            </a:pPr>
            <a:r>
              <a:rPr lang="en-US" sz="1250" dirty="0">
                <a:solidFill>
                  <a:schemeClr val="accent3"/>
                </a:solidFill>
                <a:latin typeface="IBM Plex Mono" pitchFamily="34" charset="0"/>
                <a:ea typeface="IBM Plex Mono" pitchFamily="34" charset="-122"/>
                <a:cs typeface="IBM Plex Mono" pitchFamily="34" charset="-120"/>
              </a:rPr>
              <a:t>          new shard 2 has no converted output</a:t>
            </a:r>
            <a:endParaRPr lang="en-US" sz="1250" dirty="0"/>
          </a:p>
          <a:p>
            <a:pPr indent="0" marL="0">
              <a:lnSpc>
                <a:spcPct val="110000"/>
              </a:lnSpc>
              <a:buNone/>
            </a:pPr>
            <a:r>
              <a:rPr lang="en-US" sz="1250" dirty="0">
                <a:solidFill>
                  <a:schemeClr val="bg1"/>
                </a:solidFill>
                <a:latin typeface="IBM Plex Mono" pitchFamily="34" charset="0"/>
                <a:ea typeface="IBM Plex Mono" pitchFamily="34" charset="-122"/>
                <a:cs typeface="IBM Plex Mono" pitchFamily="34" charset="-120"/>
              </a:rPr>
              <a:t> </a:t>
            </a:r>
            <a:endParaRPr lang="en-US" sz="1250" dirty="0"/>
          </a:p>
          <a:p>
            <a:pPr indent="0" marL="0">
              <a:lnSpc>
                <a:spcPct val="110000"/>
              </a:lnSpc>
              <a:buNone/>
            </a:pPr>
            <a:r>
              <a:rPr lang="en-US" sz="1250" dirty="0">
                <a:solidFill>
                  <a:schemeClr val="bg1"/>
                </a:solidFill>
                <a:latin typeface="IBM Plex Mono" pitchFamily="34" charset="0"/>
                <a:ea typeface="IBM Plex Mono" pitchFamily="34" charset="-122"/>
                <a:cs typeface="IBM Plex Mono" pitchFamily="34" charset="-120"/>
              </a:rPr>
              <a:t>18:54:54  running  droid_rlds_to_lerobot</a:t>
            </a:r>
            <a:endParaRPr lang="en-US" sz="1250" dirty="0"/>
          </a:p>
          <a:p>
            <a:pPr indent="0" marL="0">
              <a:lnSpc>
                <a:spcPct val="110000"/>
              </a:lnSpc>
              <a:buNone/>
            </a:pPr>
            <a:r>
              <a:rPr lang="en-US" sz="1250" dirty="0">
                <a:solidFill>
                  <a:schemeClr val="bg1"/>
                </a:solidFill>
                <a:latin typeface="IBM Plex Mono" pitchFamily="34" charset="0"/>
                <a:ea typeface="IBM Plex Mono" pitchFamily="34" charset="-122"/>
                <a:cs typeface="IBM Plex Mono" pitchFamily="34" charset="-120"/>
              </a:rPr>
              <a:t> </a:t>
            </a:r>
            <a:endParaRPr lang="en-US" sz="1250" dirty="0"/>
          </a:p>
          <a:p>
            <a:pPr indent="0" marL="0">
              <a:lnSpc>
                <a:spcPct val="110000"/>
              </a:lnSpc>
              <a:buNone/>
            </a:pPr>
            <a:r>
              <a:rPr lang="en-US" sz="1250" dirty="0">
                <a:solidFill>
                  <a:schemeClr val="bg1"/>
                </a:solidFill>
                <a:latin typeface="IBM Plex Mono" pitchFamily="34" charset="0"/>
                <a:ea typeface="IBM Plex Mono" pitchFamily="34" charset="-122"/>
                <a:cs typeface="IBM Plex Mono" pitchFamily="34" charset="-120"/>
              </a:rPr>
              <a:t>18:59:46  finished wall 292.5 s · 141.5 MB</a:t>
            </a:r>
            <a:endParaRPr lang="en-US" sz="1250" dirty="0"/>
          </a:p>
          <a:p>
            <a:pPr indent="0" marL="0">
              <a:lnSpc>
                <a:spcPct val="110000"/>
              </a:lnSpc>
              <a:buNone/>
            </a:pPr>
            <a:r>
              <a:rPr lang="en-US" sz="1250" dirty="0">
                <a:solidFill>
                  <a:srgbClr val="8AB4FF"/>
                </a:solidFill>
                <a:latin typeface="IBM Plex Mono" pitchFamily="34" charset="0"/>
                <a:ea typeface="IBM Plex Mono" pitchFamily="34" charset="-122"/>
                <a:cs typeface="IBM Plex Mono" pitchFamily="34" charset="-120"/>
              </a:rPr>
              <a:t>          VERIFY OK · 39 episodes · 9,829 frames</a:t>
            </a:r>
            <a:endParaRPr lang="en-US" sz="1250" dirty="0"/>
          </a:p>
        </p:txBody>
      </p:sp>
      <p:sp>
        <p:nvSpPr>
          <p:cNvPr id="26" name="Text 24"/>
          <p:cNvSpPr txBox="1"/>
          <p:nvPr/>
        </p:nvSpPr>
        <p:spPr>
          <a:xfrm>
            <a:off x="6035040" y="4572000"/>
            <a:ext cx="1828800" cy="685800"/>
          </a:xfrm>
          <a:prstGeom prst="rect">
            <a:avLst/>
          </a:prstGeom>
          <a:noFill/>
          <a:ln/>
        </p:spPr>
        <p:txBody>
          <a:bodyPr wrap="square" lIns="0" tIns="0" rIns="0" bIns="0" rtlCol="0" anchor="ctr"/>
          <a:lstStyle/>
          <a:p>
            <a:pPr indent="0" marL="0">
              <a:buNone/>
            </a:pPr>
            <a:r>
              <a:rPr lang="en-US" sz="4000" dirty="0">
                <a:solidFill>
                  <a:schemeClr val="accent1"/>
                </a:solidFill>
                <a:latin typeface="IBM Plex Sans Medium" pitchFamily="34" charset="0"/>
                <a:ea typeface="IBM Plex Sans Medium" pitchFamily="34" charset="-122"/>
                <a:cs typeface="IBM Plex Sans Medium" pitchFamily="34" charset="-120"/>
              </a:rPr>
              <a:t>292 s</a:t>
            </a:r>
            <a:endParaRPr lang="en-US" sz="4000" dirty="0"/>
          </a:p>
        </p:txBody>
      </p:sp>
      <p:sp>
        <p:nvSpPr>
          <p:cNvPr id="27" name="Text 25"/>
          <p:cNvSpPr txBox="1"/>
          <p:nvPr/>
        </p:nvSpPr>
        <p:spPr>
          <a:xfrm>
            <a:off x="7909560" y="4572000"/>
            <a:ext cx="3657600" cy="685800"/>
          </a:xfrm>
          <a:prstGeom prst="rect">
            <a:avLst/>
          </a:prstGeom>
          <a:noFill/>
          <a:ln/>
        </p:spPr>
        <p:txBody>
          <a:bodyPr wrap="square" lIns="0" tIns="0" rIns="0" bIns="0" rtlCol="0" anchor="ctr"/>
          <a:lstStyle/>
          <a:p>
            <a:pPr indent="0" marL="0">
              <a:buNone/>
            </a:pPr>
            <a:r>
              <a:rPr lang="en-US" sz="1400" dirty="0">
                <a:solidFill>
                  <a:schemeClr val="tx2"/>
                </a:solidFill>
                <a:latin typeface="IBM Plex Sans" pitchFamily="34" charset="0"/>
                <a:ea typeface="IBM Plex Sans" pitchFamily="34" charset="-122"/>
                <a:cs typeface="IBM Plex Sans" pitchFamily="34" charset="-120"/>
              </a:rPr>
              <a:t>from queued to done, with no manual step</a:t>
            </a:r>
            <a:endParaRPr lang="en-US" sz="1400" dirty="0"/>
          </a:p>
        </p:txBody>
      </p:sp>
      <p:sp>
        <p:nvSpPr>
          <p:cNvPr id="25" name="Slide Number Placeholder 0"/>
          <p:cNvSpPr>
            <a:spLocks noGrp="1"/>
          </p:cNvSpPr>
          <p:nvPr>
            <p:ph type="sldNum" sz="quarter" idx="4294967295"/>
          </p:nvPr>
        </p:nvSpPr>
        <p:spPr>
          <a:xfrm>
            <a:off x="11128248"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86574"/>
                </a:solidFill>
                <a:latin typeface="IBM Plex Mono"/>
                <a:ea typeface="IBM Plex Mono"/>
                <a:cs typeface="IBM Plex Mon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12648" y="393192"/>
            <a:ext cx="10972800" cy="594360"/>
          </a:xfrm>
          <a:prstGeom prst="rect">
            <a:avLst/>
          </a:prstGeom>
          <a:noFill/>
          <a:ln/>
        </p:spPr>
        <p:txBody>
          <a:bodyPr wrap="square" lIns="0" tIns="0" rIns="0" bIns="0" rtlCol="0" anchor="t"/>
          <a:lstStyle/>
          <a:p>
            <a:pPr algn="l" indent="0" marL="0">
              <a:buNone/>
            </a:pPr>
            <a:r>
              <a:rPr lang="en-US" sz="3400" dirty="0">
                <a:solidFill>
                  <a:schemeClr val="tx1"/>
                </a:solidFill>
              </a:rPr>
              <a:t>Result: network traffic</a:t>
            </a:r>
            <a:endParaRPr lang="en-US" sz="3400" dirty="0"/>
          </a:p>
        </p:txBody>
      </p:sp>
      <p:sp>
        <p:nvSpPr>
          <p:cNvPr id="3" name="Text 0"/>
          <p:cNvSpPr/>
          <p:nvPr>
            <p:ph idx="101" type="body" hasCustomPrompt="1"/>
          </p:nvPr>
        </p:nvSpPr>
        <p:spPr>
          <a:xfrm>
            <a:off x="612648" y="1088136"/>
            <a:ext cx="10972800" cy="365760"/>
          </a:xfrm>
          <a:prstGeom prst="rect">
            <a:avLst/>
          </a:prstGeom>
          <a:noFill/>
          <a:ln/>
        </p:spPr>
        <p:txBody>
          <a:bodyPr wrap="square" lIns="0" tIns="0" rIns="0" bIns="0" rtlCol="0" anchor="t"/>
          <a:lstStyle/>
          <a:p>
            <a:pPr indent="0" marL="0">
              <a:buNone/>
            </a:pPr>
            <a:r>
              <a:rPr lang="en-US" sz="1700" dirty="0">
                <a:solidFill>
                  <a:schemeClr val="tx2"/>
                </a:solidFill>
              </a:rPr>
              <a:t>Shard 2, two independent runs; same image, limits and cold caches in both modes</a:t>
            </a:r>
            <a:endParaRPr lang="en-US" sz="1700" dirty="0"/>
          </a:p>
        </p:txBody>
      </p:sp>
      <p:graphicFrame>
        <p:nvGraphicFramePr>
          <p:cNvPr id="4" name="Chart 0" descr=""/>
          <p:cNvGraphicFramePr/>
          <p:nvPr/>
        </p:nvGraphicFramePr>
        <p:xfrm>
          <a:off x="612648" y="1691640"/>
          <a:ext cx="6675120" cy="4526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726680" y="1828800"/>
            <a:ext cx="3840480" cy="914400"/>
          </a:xfrm>
          <a:prstGeom prst="rect">
            <a:avLst/>
          </a:prstGeom>
          <a:noFill/>
          <a:ln/>
        </p:spPr>
        <p:txBody>
          <a:bodyPr wrap="square" lIns="0" tIns="0" rIns="0" bIns="0" rtlCol="0" anchor="t"/>
          <a:lstStyle/>
          <a:p>
            <a:pPr indent="0" marL="0">
              <a:buNone/>
            </a:pPr>
            <a:r>
              <a:rPr lang="en-US" sz="5400" dirty="0">
                <a:solidFill>
                  <a:schemeClr val="accent1"/>
                </a:solidFill>
                <a:latin typeface="IBM Plex Sans Medium" pitchFamily="34" charset="0"/>
                <a:ea typeface="IBM Plex Sans Medium" pitchFamily="34" charset="-122"/>
                <a:cs typeface="IBM Plex Sans Medium" pitchFamily="34" charset="-120"/>
              </a:rPr>
              <a:t>−99.97%</a:t>
            </a:r>
            <a:endParaRPr lang="en-US" sz="5400" dirty="0"/>
          </a:p>
        </p:txBody>
      </p:sp>
      <p:sp>
        <p:nvSpPr>
          <p:cNvPr id="6" name="Text 3"/>
          <p:cNvSpPr txBox="1"/>
          <p:nvPr/>
        </p:nvSpPr>
        <p:spPr>
          <a:xfrm>
            <a:off x="7726680" y="2743200"/>
            <a:ext cx="3840480" cy="365760"/>
          </a:xfrm>
          <a:prstGeom prst="rect">
            <a:avLst/>
          </a:prstGeom>
          <a:noFill/>
          <a:ln/>
        </p:spPr>
        <p:txBody>
          <a:bodyPr wrap="square" lIns="0" tIns="0" rIns="0" bIns="0" rtlCol="0" anchor="t"/>
          <a:lstStyle/>
          <a:p>
            <a:pPr indent="0" marL="0">
              <a:buNone/>
            </a:pPr>
            <a:r>
              <a:rPr lang="en-US" sz="1600" dirty="0">
                <a:solidFill>
                  <a:schemeClr val="tx1"/>
                </a:solidFill>
                <a:latin typeface="IBM Plex Sans" pitchFamily="34" charset="0"/>
                <a:ea typeface="IBM Plex Sans" pitchFamily="34" charset="-122"/>
                <a:cs typeface="IBM Plex Sans" pitchFamily="34" charset="-120"/>
              </a:rPr>
              <a:t>cross-host traffic vs. the baseline</a:t>
            </a:r>
            <a:endParaRPr lang="en-US" sz="1600" dirty="0"/>
          </a:p>
        </p:txBody>
      </p:sp>
      <p:sp>
        <p:nvSpPr>
          <p:cNvPr id="7" name="Shape 4"/>
          <p:cNvSpPr/>
          <p:nvPr/>
        </p:nvSpPr>
        <p:spPr>
          <a:xfrm>
            <a:off x="7726680" y="3337560"/>
            <a:ext cx="3858768" cy="0"/>
          </a:xfrm>
          <a:prstGeom prst="line">
            <a:avLst/>
          </a:prstGeom>
          <a:noFill/>
          <a:ln w="9525">
            <a:solidFill>
              <a:schemeClr val="accent3"/>
            </a:solidFill>
            <a:prstDash val="solid"/>
          </a:ln>
        </p:spPr>
      </p:sp>
      <p:sp>
        <p:nvSpPr>
          <p:cNvPr id="8" name="Text 5"/>
          <p:cNvSpPr txBox="1"/>
          <p:nvPr/>
        </p:nvSpPr>
        <p:spPr>
          <a:xfrm>
            <a:off x="7726680" y="3520440"/>
            <a:ext cx="3858768" cy="1828800"/>
          </a:xfrm>
          <a:prstGeom prst="rect">
            <a:avLst/>
          </a:prstGeom>
          <a:noFill/>
          <a:ln/>
        </p:spPr>
        <p:txBody>
          <a:bodyPr wrap="square" lIns="0" tIns="0" rIns="0" bIns="0" rtlCol="0" anchor="t"/>
          <a:lstStyle/>
          <a:p>
            <a:pPr indent="0" marL="0">
              <a:buNone/>
            </a:pPr>
            <a:r>
              <a:rPr lang="en-US" sz="1400" dirty="0">
                <a:solidFill>
                  <a:schemeClr val="tx1"/>
                </a:solidFill>
                <a:latin typeface="IBM Plex Sans Medium" pitchFamily="34" charset="0"/>
                <a:ea typeface="IBM Plex Sans Medium" pitchFamily="34" charset="-122"/>
                <a:cs typeface="IBM Plex Sans Medium" pitchFamily="34" charset="-120"/>
              </a:rPr>
              <a:t>Baseline: </a:t>
            </a:r>
            <a:pPr indent="0" marL="0">
              <a:buNone/>
            </a:pPr>
            <a:r>
              <a:rPr lang="en-US" sz="1400" dirty="0">
                <a:solidFill>
                  <a:schemeClr val="tx1"/>
                </a:solidFill>
                <a:latin typeface="IBM Plex Sans" pitchFamily="34" charset="0"/>
                <a:ea typeface="IBM Plex Sans" pitchFamily="34" charset="-122"/>
                <a:cs typeface="IBM Plex Sans" pitchFamily="34" charset="-120"/>
              </a:rPr>
              <a:t>797.3 and 797.2 MB, which is 1.01 × (input + output): the shard is read once and its output written back once</a:t>
            </a:r>
            <a:endParaRPr lang="en-US" sz="1400" dirty="0"/>
          </a:p>
          <a:p>
            <a:pPr indent="0" marL="0">
              <a:buNone/>
            </a:pPr>
            <a:r>
              <a:rPr lang="en-US" sz="800" dirty="0">
                <a:solidFill>
                  <a:schemeClr val="tx1"/>
                </a:solidFill>
                <a:latin typeface="IBM Plex Sans" pitchFamily="34" charset="0"/>
                <a:ea typeface="IBM Plex Sans" pitchFamily="34" charset="-122"/>
                <a:cs typeface="IBM Plex Sans" pitchFamily="34" charset="-120"/>
              </a:rPr>
              <a:t> </a:t>
            </a:r>
            <a:endParaRPr lang="en-US" sz="1400" dirty="0"/>
          </a:p>
          <a:p>
            <a:pPr indent="0" marL="0">
              <a:buNone/>
            </a:pPr>
            <a:r>
              <a:rPr lang="en-US" sz="1400" dirty="0">
                <a:solidFill>
                  <a:schemeClr val="tx1"/>
                </a:solidFill>
                <a:latin typeface="IBM Plex Sans Medium" pitchFamily="34" charset="0"/>
                <a:ea typeface="IBM Plex Sans Medium" pitchFamily="34" charset="-122"/>
                <a:cs typeface="IBM Plex Sans Medium" pitchFamily="34" charset="-120"/>
              </a:rPr>
              <a:t>Storage node: </a:t>
            </a:r>
            <a:pPr indent="0" marL="0">
              <a:buNone/>
            </a:pPr>
            <a:r>
              <a:rPr lang="en-US" sz="1400" dirty="0">
                <a:solidFill>
                  <a:schemeClr val="tx1"/>
                </a:solidFill>
                <a:latin typeface="IBM Plex Sans" pitchFamily="34" charset="0"/>
                <a:ea typeface="IBM Plex Sans" pitchFamily="34" charset="-122"/>
                <a:cs typeface="IBM Plex Sans" pitchFamily="34" charset="-120"/>
              </a:rPr>
              <a:t>0.2 MB in both runs, ssh and CephFS session traffic</a:t>
            </a:r>
            <a:endParaRPr lang="en-US" sz="1400" dirty="0"/>
          </a:p>
        </p:txBody>
      </p:sp>
      <p:sp>
        <p:nvSpPr>
          <p:cNvPr id="9" name="Text 6"/>
          <p:cNvSpPr txBox="1"/>
          <p:nvPr/>
        </p:nvSpPr>
        <p:spPr>
          <a:xfrm>
            <a:off x="7726680" y="5486400"/>
            <a:ext cx="3840480" cy="274320"/>
          </a:xfrm>
          <a:prstGeom prst="rect">
            <a:avLst/>
          </a:prstGeom>
          <a:noFill/>
          <a:ln/>
        </p:spPr>
        <p:txBody>
          <a:bodyPr wrap="square" lIns="0" tIns="0" rIns="0" bIns="0" rtlCol="0" anchor="t"/>
          <a:lstStyle/>
          <a:p>
            <a:pPr indent="0" marL="0">
              <a:buNone/>
            </a:pPr>
            <a:r>
              <a:rPr lang="en-US" sz="1100" spc="50" kern="0" dirty="0">
                <a:solidFill>
                  <a:schemeClr val="tx2"/>
                </a:solidFill>
                <a:latin typeface="IBM Plex Mono" pitchFamily="34" charset="0"/>
                <a:ea typeface="IBM Plex Mono" pitchFamily="34" charset="-122"/>
                <a:cs typeface="IBM Plex Mono" pitchFamily="34" charset="-120"/>
              </a:rPr>
              <a:t>PROPOSAL GOAL ≈ −70%</a:t>
            </a:r>
            <a:endParaRPr lang="en-US" sz="1100" dirty="0"/>
          </a:p>
        </p:txBody>
      </p:sp>
      <p:sp>
        <p:nvSpPr>
          <p:cNvPr id="10" name="Text 7"/>
          <p:cNvSpPr txBox="1"/>
          <p:nvPr/>
        </p:nvSpPr>
        <p:spPr>
          <a:xfrm>
            <a:off x="7726680" y="5760720"/>
            <a:ext cx="3858768" cy="411480"/>
          </a:xfrm>
          <a:prstGeom prst="rect">
            <a:avLst/>
          </a:prstGeom>
          <a:noFill/>
          <a:ln/>
        </p:spPr>
        <p:txBody>
          <a:bodyPr wrap="square" lIns="0" tIns="0" rIns="0" bIns="0" rtlCol="0" anchor="t"/>
          <a:lstStyle/>
          <a:p>
            <a:pPr indent="0" marL="0">
              <a:buNone/>
            </a:pPr>
            <a:r>
              <a:rPr lang="en-US" sz="1000" spc="50" kern="0" dirty="0">
                <a:solidFill>
                  <a:schemeClr val="tx2"/>
                </a:solidFill>
                <a:latin typeface="IBM Plex Mono" pitchFamily="34" charset="0"/>
                <a:ea typeface="IBM Plex Mono" pitchFamily="34" charset="-122"/>
                <a:cs typeface="IBM Plex Mono" pitchFamily="34" charset="-120"/>
              </a:rPr>
              <a:t>RUN 1  demo2-20261016-210744</a:t>
            </a:r>
            <a:endParaRPr lang="en-US" sz="1000" dirty="0"/>
          </a:p>
          <a:p>
            <a:pPr indent="0" marL="0">
              <a:buNone/>
            </a:pPr>
            <a:r>
              <a:rPr lang="en-US" sz="1000" spc="50" kern="0" dirty="0">
                <a:solidFill>
                  <a:schemeClr val="tx2"/>
                </a:solidFill>
                <a:latin typeface="IBM Plex Mono" pitchFamily="34" charset="0"/>
                <a:ea typeface="IBM Plex Mono" pitchFamily="34" charset="-122"/>
                <a:cs typeface="IBM Plex Mono" pitchFamily="34" charset="-120"/>
              </a:rPr>
              <a:t>RUN 2  demo2-20261018-184414</a:t>
            </a:r>
            <a:endParaRPr lang="en-US" sz="1000" dirty="0"/>
          </a:p>
        </p:txBody>
      </p:sp>
      <p:sp>
        <p:nvSpPr>
          <p:cNvPr id="25" name="Slide Number Placeholder 0"/>
          <p:cNvSpPr>
            <a:spLocks noGrp="1"/>
          </p:cNvSpPr>
          <p:nvPr>
            <p:ph type="sldNum" sz="quarter" idx="4294967295"/>
          </p:nvPr>
        </p:nvSpPr>
        <p:spPr>
          <a:xfrm>
            <a:off x="11128248"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86574"/>
                </a:solidFill>
                <a:latin typeface="IBM Plex Mono"/>
                <a:ea typeface="IBM Plex Mono"/>
                <a:cs typeface="IBM Plex Mon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12648" y="393192"/>
            <a:ext cx="10972800" cy="594360"/>
          </a:xfrm>
          <a:prstGeom prst="rect">
            <a:avLst/>
          </a:prstGeom>
          <a:noFill/>
          <a:ln/>
        </p:spPr>
        <p:txBody>
          <a:bodyPr wrap="square" lIns="0" tIns="0" rIns="0" bIns="0" rtlCol="0" anchor="t"/>
          <a:lstStyle/>
          <a:p>
            <a:pPr algn="l" indent="0" marL="0">
              <a:buNone/>
            </a:pPr>
            <a:r>
              <a:rPr lang="en-US" sz="3400" dirty="0">
                <a:solidFill>
                  <a:schemeClr val="tx1"/>
                </a:solidFill>
              </a:rPr>
              <a:t>Result: runtime and correctness</a:t>
            </a:r>
            <a:endParaRPr lang="en-US" sz="3400" dirty="0"/>
          </a:p>
        </p:txBody>
      </p:sp>
      <p:sp>
        <p:nvSpPr>
          <p:cNvPr id="3" name="Text 0"/>
          <p:cNvSpPr/>
          <p:nvPr>
            <p:ph idx="101" type="body" hasCustomPrompt="1"/>
          </p:nvPr>
        </p:nvSpPr>
        <p:spPr>
          <a:xfrm>
            <a:off x="612648" y="1088136"/>
            <a:ext cx="10972800" cy="365760"/>
          </a:xfrm>
          <a:prstGeom prst="rect">
            <a:avLst/>
          </a:prstGeom>
          <a:noFill/>
          <a:ln/>
        </p:spPr>
        <p:txBody>
          <a:bodyPr wrap="square" lIns="0" tIns="0" rIns="0" bIns="0" rtlCol="0" anchor="t"/>
          <a:lstStyle/>
          <a:p>
            <a:pPr indent="0" marL="0">
              <a:buNone/>
            </a:pPr>
            <a:r>
              <a:rPr lang="en-US" sz="1700" dirty="0">
                <a:solidFill>
                  <a:schemeClr val="tx2"/>
                </a:solidFill>
              </a:rPr>
              <a:t>No slowdown, and the same dataset from both modes, in both runs</a:t>
            </a:r>
            <a:endParaRPr lang="en-US" sz="1700" dirty="0"/>
          </a:p>
        </p:txBody>
      </p:sp>
      <p:graphicFrame>
        <p:nvGraphicFramePr>
          <p:cNvPr id="4" name="Chart 0" descr=""/>
          <p:cNvGraphicFramePr/>
          <p:nvPr/>
        </p:nvGraphicFramePr>
        <p:xfrm>
          <a:off x="612648" y="1691640"/>
          <a:ext cx="5760720" cy="4526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812280" y="1783080"/>
            <a:ext cx="4754880" cy="566928"/>
          </a:xfrm>
          <a:prstGeom prst="rect">
            <a:avLst/>
          </a:prstGeom>
          <a:noFill/>
          <a:ln/>
        </p:spPr>
        <p:txBody>
          <a:bodyPr wrap="square" lIns="0" tIns="0" rIns="0" bIns="0" rtlCol="0" anchor="t"/>
          <a:lstStyle/>
          <a:p>
            <a:pPr indent="0" marL="0">
              <a:buNone/>
            </a:pPr>
            <a:r>
              <a:rPr lang="en-US" sz="3200" dirty="0">
                <a:solidFill>
                  <a:schemeClr val="accent1"/>
                </a:solidFill>
                <a:latin typeface="IBM Plex Sans Medium" pitchFamily="34" charset="0"/>
                <a:ea typeface="IBM Plex Sans Medium" pitchFamily="34" charset="-122"/>
                <a:cs typeface="IBM Plex Sans Medium" pitchFamily="34" charset="-120"/>
              </a:rPr>
              <a:t>1.00</a:t>
            </a:r>
            <a:endParaRPr lang="en-US" sz="3200" dirty="0"/>
          </a:p>
        </p:txBody>
      </p:sp>
      <p:sp>
        <p:nvSpPr>
          <p:cNvPr id="6" name="Text 3"/>
          <p:cNvSpPr txBox="1"/>
          <p:nvPr/>
        </p:nvSpPr>
        <p:spPr>
          <a:xfrm>
            <a:off x="6812280" y="2350008"/>
            <a:ext cx="4754880" cy="320040"/>
          </a:xfrm>
          <a:prstGeom prst="rect">
            <a:avLst/>
          </a:prstGeom>
          <a:noFill/>
          <a:ln/>
        </p:spPr>
        <p:txBody>
          <a:bodyPr wrap="square" lIns="0" tIns="0" rIns="0" bIns="0" rtlCol="0" anchor="t"/>
          <a:lstStyle/>
          <a:p>
            <a:pPr indent="0" marL="0">
              <a:buNone/>
            </a:pPr>
            <a:r>
              <a:rPr lang="en-US" sz="1500" dirty="0">
                <a:solidFill>
                  <a:schemeClr val="tx1"/>
                </a:solidFill>
                <a:latin typeface="IBM Plex Sans" pitchFamily="34" charset="0"/>
                <a:ea typeface="IBM Plex Sans" pitchFamily="34" charset="-122"/>
                <a:cs typeface="IBM Plex Sans" pitchFamily="34" charset="-120"/>
              </a:rPr>
              <a:t>runtime ratio in both runs, storage node / baseline</a:t>
            </a:r>
            <a:endParaRPr lang="en-US" sz="1500" dirty="0"/>
          </a:p>
        </p:txBody>
      </p:sp>
      <p:sp>
        <p:nvSpPr>
          <p:cNvPr id="7" name="Text 4"/>
          <p:cNvSpPr txBox="1"/>
          <p:nvPr/>
        </p:nvSpPr>
        <p:spPr>
          <a:xfrm>
            <a:off x="6812280" y="2670048"/>
            <a:ext cx="4754880" cy="457200"/>
          </a:xfrm>
          <a:prstGeom prst="rect">
            <a:avLst/>
          </a:prstGeom>
          <a:noFill/>
          <a:ln/>
        </p:spPr>
        <p:txBody>
          <a:bodyPr wrap="square" lIns="0" tIns="0" rIns="0" bIns="0" rtlCol="0" anchor="t"/>
          <a:lstStyle/>
          <a:p>
            <a:pPr indent="0" marL="0">
              <a:buNone/>
            </a:pPr>
            <a:r>
              <a:rPr lang="en-US" sz="1200" dirty="0">
                <a:solidFill>
                  <a:schemeClr val="tx2"/>
                </a:solidFill>
                <a:latin typeface="IBM Plex Sans" pitchFamily="34" charset="0"/>
                <a:ea typeface="IBM Plex Sans" pitchFamily="34" charset="-122"/>
                <a:cs typeface="IBM Plex Sans" pitchFamily="34" charset="-120"/>
              </a:rPr>
              <a:t>Which mode was faster flipped between runs, so the gap is noise. CPU-bound: 301 s converting vs. under 2 s to publish</a:t>
            </a:r>
            <a:endParaRPr lang="en-US" sz="1200" dirty="0"/>
          </a:p>
        </p:txBody>
      </p:sp>
      <p:sp>
        <p:nvSpPr>
          <p:cNvPr id="8" name="Shape 5"/>
          <p:cNvSpPr/>
          <p:nvPr/>
        </p:nvSpPr>
        <p:spPr>
          <a:xfrm>
            <a:off x="6812280" y="3136392"/>
            <a:ext cx="4773168" cy="0"/>
          </a:xfrm>
          <a:prstGeom prst="line">
            <a:avLst/>
          </a:prstGeom>
          <a:noFill/>
          <a:ln w="9525">
            <a:solidFill>
              <a:schemeClr val="accent3"/>
            </a:solidFill>
            <a:prstDash val="solid"/>
          </a:ln>
        </p:spPr>
      </p:sp>
      <p:sp>
        <p:nvSpPr>
          <p:cNvPr id="9" name="Text 6"/>
          <p:cNvSpPr txBox="1"/>
          <p:nvPr/>
        </p:nvSpPr>
        <p:spPr>
          <a:xfrm>
            <a:off x="6812280" y="3246120"/>
            <a:ext cx="4754880" cy="566928"/>
          </a:xfrm>
          <a:prstGeom prst="rect">
            <a:avLst/>
          </a:prstGeom>
          <a:noFill/>
          <a:ln/>
        </p:spPr>
        <p:txBody>
          <a:bodyPr wrap="square" lIns="0" tIns="0" rIns="0" bIns="0" rtlCol="0" anchor="t"/>
          <a:lstStyle/>
          <a:p>
            <a:pPr indent="0" marL="0">
              <a:buNone/>
            </a:pPr>
            <a:r>
              <a:rPr lang="en-US" sz="3200" dirty="0">
                <a:solidFill>
                  <a:schemeClr val="tx1"/>
                </a:solidFill>
                <a:latin typeface="IBM Plex Sans Medium" pitchFamily="34" charset="0"/>
                <a:ea typeface="IBM Plex Sans Medium" pitchFamily="34" charset="-122"/>
                <a:cs typeface="IBM Plex Sans Medium" pitchFamily="34" charset="-120"/>
              </a:rPr>
              <a:t>Identical</a:t>
            </a:r>
            <a:endParaRPr lang="en-US" sz="3200" dirty="0"/>
          </a:p>
        </p:txBody>
      </p:sp>
      <p:sp>
        <p:nvSpPr>
          <p:cNvPr id="10" name="Text 7"/>
          <p:cNvSpPr txBox="1"/>
          <p:nvPr/>
        </p:nvSpPr>
        <p:spPr>
          <a:xfrm>
            <a:off x="6812280" y="3813048"/>
            <a:ext cx="4754880" cy="320040"/>
          </a:xfrm>
          <a:prstGeom prst="rect">
            <a:avLst/>
          </a:prstGeom>
          <a:noFill/>
          <a:ln/>
        </p:spPr>
        <p:txBody>
          <a:bodyPr wrap="square" lIns="0" tIns="0" rIns="0" bIns="0" rtlCol="0" anchor="t"/>
          <a:lstStyle/>
          <a:p>
            <a:pPr indent="0" marL="0">
              <a:buNone/>
            </a:pPr>
            <a:r>
              <a:rPr lang="en-US" sz="1500" dirty="0">
                <a:solidFill>
                  <a:schemeClr val="tx1"/>
                </a:solidFill>
                <a:latin typeface="IBM Plex Sans" pitchFamily="34" charset="0"/>
                <a:ea typeface="IBM Plex Sans" pitchFamily="34" charset="-122"/>
                <a:cs typeface="IBM Plex Sans" pitchFamily="34" charset="-120"/>
              </a:rPr>
              <a:t>output from both modes, byte for byte, in each run</a:t>
            </a:r>
            <a:endParaRPr lang="en-US" sz="1500" dirty="0"/>
          </a:p>
        </p:txBody>
      </p:sp>
      <p:sp>
        <p:nvSpPr>
          <p:cNvPr id="11" name="Text 8"/>
          <p:cNvSpPr txBox="1"/>
          <p:nvPr/>
        </p:nvSpPr>
        <p:spPr>
          <a:xfrm>
            <a:off x="6812280" y="4133088"/>
            <a:ext cx="4754880" cy="457200"/>
          </a:xfrm>
          <a:prstGeom prst="rect">
            <a:avLst/>
          </a:prstGeom>
          <a:noFill/>
          <a:ln/>
        </p:spPr>
        <p:txBody>
          <a:bodyPr wrap="square" lIns="0" tIns="0" rIns="0" bIns="0" rtlCol="0" anchor="t"/>
          <a:lstStyle/>
          <a:p>
            <a:pPr indent="0" marL="0">
              <a:buNone/>
            </a:pPr>
            <a:r>
              <a:rPr lang="en-US" sz="1200" dirty="0">
                <a:solidFill>
                  <a:schemeClr val="tx2"/>
                </a:solidFill>
                <a:latin typeface="IBM Plex Sans" pitchFamily="34" charset="0"/>
                <a:ea typeface="IBM Plex Sans" pitchFamily="34" charset="-122"/>
                <a:cs typeface="IBM Plex Sans" pitchFamily="34" charset="-120"/>
              </a:rPr>
              <a:t>stats.json compared as canonical JSON (its key order varies)</a:t>
            </a:r>
            <a:endParaRPr lang="en-US" sz="1200" dirty="0"/>
          </a:p>
        </p:txBody>
      </p:sp>
      <p:sp>
        <p:nvSpPr>
          <p:cNvPr id="12" name="Shape 9"/>
          <p:cNvSpPr/>
          <p:nvPr/>
        </p:nvSpPr>
        <p:spPr>
          <a:xfrm>
            <a:off x="6812280" y="4599432"/>
            <a:ext cx="4773168" cy="0"/>
          </a:xfrm>
          <a:prstGeom prst="line">
            <a:avLst/>
          </a:prstGeom>
          <a:noFill/>
          <a:ln w="9525">
            <a:solidFill>
              <a:schemeClr val="accent3"/>
            </a:solidFill>
            <a:prstDash val="solid"/>
          </a:ln>
        </p:spPr>
      </p:sp>
      <p:sp>
        <p:nvSpPr>
          <p:cNvPr id="13" name="Text 10"/>
          <p:cNvSpPr txBox="1"/>
          <p:nvPr/>
        </p:nvSpPr>
        <p:spPr>
          <a:xfrm>
            <a:off x="6812280" y="4709160"/>
            <a:ext cx="4754880" cy="566928"/>
          </a:xfrm>
          <a:prstGeom prst="rect">
            <a:avLst/>
          </a:prstGeom>
          <a:noFill/>
          <a:ln/>
        </p:spPr>
        <p:txBody>
          <a:bodyPr wrap="square" lIns="0" tIns="0" rIns="0" bIns="0" rtlCol="0" anchor="t"/>
          <a:lstStyle/>
          <a:p>
            <a:pPr indent="0" marL="0">
              <a:buNone/>
            </a:pPr>
            <a:r>
              <a:rPr lang="en-US" sz="3200" dirty="0">
                <a:solidFill>
                  <a:schemeClr val="tx1"/>
                </a:solidFill>
                <a:latin typeface="IBM Plex Sans Medium" pitchFamily="34" charset="0"/>
                <a:ea typeface="IBM Plex Sans Medium" pitchFamily="34" charset="-122"/>
                <a:cs typeface="IBM Plex Sans Medium" pitchFamily="34" charset="-120"/>
              </a:rPr>
              <a:t>39 / 39</a:t>
            </a:r>
            <a:endParaRPr lang="en-US" sz="3200" dirty="0"/>
          </a:p>
        </p:txBody>
      </p:sp>
      <p:sp>
        <p:nvSpPr>
          <p:cNvPr id="14" name="Text 11"/>
          <p:cNvSpPr txBox="1"/>
          <p:nvPr/>
        </p:nvSpPr>
        <p:spPr>
          <a:xfrm>
            <a:off x="6812280" y="5276088"/>
            <a:ext cx="4754880" cy="320040"/>
          </a:xfrm>
          <a:prstGeom prst="rect">
            <a:avLst/>
          </a:prstGeom>
          <a:noFill/>
          <a:ln/>
        </p:spPr>
        <p:txBody>
          <a:bodyPr wrap="square" lIns="0" tIns="0" rIns="0" bIns="0" rtlCol="0" anchor="t"/>
          <a:lstStyle/>
          <a:p>
            <a:pPr indent="0" marL="0">
              <a:buNone/>
            </a:pPr>
            <a:r>
              <a:rPr lang="en-US" sz="1500" dirty="0">
                <a:solidFill>
                  <a:schemeClr val="tx1"/>
                </a:solidFill>
                <a:latin typeface="IBM Plex Sans" pitchFamily="34" charset="0"/>
                <a:ea typeface="IBM Plex Sans" pitchFamily="34" charset="-122"/>
                <a:cs typeface="IBM Plex Sans" pitchFamily="34" charset="-120"/>
              </a:rPr>
              <a:t>episodes · 9,829 frames · VERIFY OK</a:t>
            </a:r>
            <a:endParaRPr lang="en-US" sz="1500" dirty="0"/>
          </a:p>
        </p:txBody>
      </p:sp>
      <p:sp>
        <p:nvSpPr>
          <p:cNvPr id="15" name="Text 12"/>
          <p:cNvSpPr txBox="1"/>
          <p:nvPr/>
        </p:nvSpPr>
        <p:spPr>
          <a:xfrm>
            <a:off x="6812280" y="5596128"/>
            <a:ext cx="4754880" cy="457200"/>
          </a:xfrm>
          <a:prstGeom prst="rect">
            <a:avLst/>
          </a:prstGeom>
          <a:noFill/>
          <a:ln/>
        </p:spPr>
        <p:txBody>
          <a:bodyPr wrap="square" lIns="0" tIns="0" rIns="0" bIns="0" rtlCol="0" anchor="t"/>
          <a:lstStyle/>
          <a:p>
            <a:pPr indent="0" marL="0">
              <a:buNone/>
            </a:pPr>
            <a:r>
              <a:rPr lang="en-US" sz="1200" dirty="0">
                <a:solidFill>
                  <a:schemeClr val="tx2"/>
                </a:solidFill>
                <a:latin typeface="IBM Plex Sans" pitchFamily="34" charset="0"/>
                <a:ea typeface="IBM Plex Sans" pitchFamily="34" charset="-122"/>
                <a:cs typeface="IBM Plex Sans" pitchFamily="34" charset="-120"/>
              </a:rPr>
              <a:t>first and last frames decoded by LeRobot's loader, all 3 cameras</a:t>
            </a:r>
            <a:endParaRPr lang="en-US" sz="1200" dirty="0"/>
          </a:p>
        </p:txBody>
      </p:sp>
      <p:sp>
        <p:nvSpPr>
          <p:cNvPr id="25" name="Slide Number Placeholder 0"/>
          <p:cNvSpPr>
            <a:spLocks noGrp="1"/>
          </p:cNvSpPr>
          <p:nvPr>
            <p:ph type="sldNum" sz="quarter" idx="4294967295"/>
          </p:nvPr>
        </p:nvSpPr>
        <p:spPr>
          <a:xfrm>
            <a:off x="11128248"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86574"/>
                </a:solidFill>
                <a:latin typeface="IBM Plex Mono"/>
                <a:ea typeface="IBM Plex Mono"/>
                <a:cs typeface="IBM Plex Mon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12648" y="393192"/>
            <a:ext cx="10972800" cy="594360"/>
          </a:xfrm>
          <a:prstGeom prst="rect">
            <a:avLst/>
          </a:prstGeom>
          <a:noFill/>
          <a:ln/>
        </p:spPr>
        <p:txBody>
          <a:bodyPr wrap="square" lIns="0" tIns="0" rIns="0" bIns="0" rtlCol="0" anchor="t"/>
          <a:lstStyle/>
          <a:p>
            <a:pPr algn="l" indent="0" marL="0">
              <a:buNone/>
            </a:pPr>
            <a:r>
              <a:rPr lang="en-US" sz="3400" dirty="0">
                <a:solidFill>
                  <a:schemeClr val="tx1"/>
                </a:solidFill>
              </a:rPr>
              <a:t>Limitations and next steps</a:t>
            </a:r>
            <a:endParaRPr lang="en-US" sz="3400" dirty="0"/>
          </a:p>
        </p:txBody>
      </p:sp>
      <p:sp>
        <p:nvSpPr>
          <p:cNvPr id="3" name="Text 0"/>
          <p:cNvSpPr/>
          <p:nvPr>
            <p:ph idx="101" type="body" hasCustomPrompt="1"/>
          </p:nvPr>
        </p:nvSpPr>
        <p:spPr>
          <a:xfrm>
            <a:off x="612648" y="1088136"/>
            <a:ext cx="10972800" cy="365760"/>
          </a:xfrm>
          <a:prstGeom prst="rect">
            <a:avLst/>
          </a:prstGeom>
          <a:noFill/>
          <a:ln/>
        </p:spPr>
        <p:txBody>
          <a:bodyPr wrap="square" lIns="0" tIns="0" rIns="0" bIns="0" rtlCol="0" anchor="t"/>
          <a:lstStyle/>
          <a:p>
            <a:pPr indent="0" marL="0">
              <a:buNone/>
            </a:pPr>
            <a:r>
              <a:rPr lang="en-US" sz="1700" dirty="0">
                <a:solidFill>
                  <a:schemeClr val="tx2"/>
                </a:solidFill>
              </a:rPr>
              <a:t>What this result does not show yet, and what Demo 3 adds</a:t>
            </a:r>
            <a:endParaRPr lang="en-US" sz="1700" dirty="0"/>
          </a:p>
        </p:txBody>
      </p:sp>
      <p:sp>
        <p:nvSpPr>
          <p:cNvPr id="4" name="Text 2"/>
          <p:cNvSpPr txBox="1"/>
          <p:nvPr/>
        </p:nvSpPr>
        <p:spPr>
          <a:xfrm>
            <a:off x="612648" y="1783080"/>
            <a:ext cx="4572000" cy="274320"/>
          </a:xfrm>
          <a:prstGeom prst="rect">
            <a:avLst/>
          </a:prstGeom>
          <a:noFill/>
          <a:ln/>
        </p:spPr>
        <p:txBody>
          <a:bodyPr wrap="square" lIns="0" tIns="0" rIns="0" bIns="0" rtlCol="0" anchor="t"/>
          <a:lstStyle/>
          <a:p>
            <a:pPr indent="0" marL="0">
              <a:buNone/>
            </a:pPr>
            <a:r>
              <a:rPr lang="en-US" sz="1100" spc="50" kern="0" dirty="0">
                <a:solidFill>
                  <a:schemeClr val="tx2"/>
                </a:solidFill>
                <a:latin typeface="IBM Plex Mono" pitchFamily="34" charset="0"/>
                <a:ea typeface="IBM Plex Mono" pitchFamily="34" charset="-122"/>
                <a:cs typeface="IBM Plex Mono" pitchFamily="34" charset="-120"/>
              </a:rPr>
              <a:t>LIMITATIONS</a:t>
            </a:r>
            <a:endParaRPr lang="en-US" sz="1100" dirty="0"/>
          </a:p>
        </p:txBody>
      </p:sp>
      <p:sp>
        <p:nvSpPr>
          <p:cNvPr id="5" name="Text 3"/>
          <p:cNvSpPr txBox="1"/>
          <p:nvPr/>
        </p:nvSpPr>
        <p:spPr>
          <a:xfrm>
            <a:off x="612648" y="2148840"/>
            <a:ext cx="5120640" cy="2743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chemeClr val="tx1"/>
                </a:solidFill>
                <a:latin typeface="IBM Plex Sans" pitchFamily="34" charset="0"/>
                <a:ea typeface="IBM Plex Sans" pitchFamily="34" charset="-122"/>
                <a:cs typeface="IBM Plex Sans" pitchFamily="34" charset="-120"/>
              </a:rPr>
              <a:t>One storage node: every input is local by construction, so this is the best case</a:t>
            </a:r>
            <a:endParaRPr lang="en-US" sz="1500" dirty="0"/>
          </a:p>
          <a:p>
            <a:pPr marL="228600" indent="-228600">
              <a:spcAft>
                <a:spcPts val="1000"/>
              </a:spcAft>
              <a:buSzPct val="100000"/>
              <a:buChar char="•"/>
            </a:pPr>
            <a:r>
              <a:rPr lang="en-US" sz="1500" dirty="0">
                <a:solidFill>
                  <a:schemeClr val="tx1"/>
                </a:solidFill>
                <a:latin typeface="IBM Plex Sans" pitchFamily="34" charset="0"/>
                <a:ea typeface="IBM Plex Sans" pitchFamily="34" charset="-122"/>
                <a:cs typeface="IBM Plex Sans" pitchFamily="34" charset="-120"/>
              </a:rPr>
              <a:t>This converter is CPU-bound, so locality saves bytes but not time</a:t>
            </a:r>
            <a:endParaRPr lang="en-US" sz="1500" dirty="0"/>
          </a:p>
          <a:p>
            <a:pPr marL="228600" indent="-228600">
              <a:spcAft>
                <a:spcPts val="1000"/>
              </a:spcAft>
              <a:buSzPct val="100000"/>
              <a:buChar char="•"/>
            </a:pPr>
            <a:r>
              <a:rPr lang="en-US" sz="1500" dirty="0">
                <a:solidFill>
                  <a:schemeClr val="tx1"/>
                </a:solidFill>
                <a:latin typeface="IBM Plex Sans" pitchFamily="34" charset="0"/>
                <a:ea typeface="IBM Plex Sans" pitchFamily="34" charset="-122"/>
                <a:cs typeface="IBM Plex Sans" pitchFamily="34" charset="-120"/>
              </a:rPr>
              <a:t>Loop-file OSDs share one disk: storage throughput is not representative</a:t>
            </a:r>
            <a:endParaRPr lang="en-US" sz="1500" dirty="0"/>
          </a:p>
        </p:txBody>
      </p:sp>
      <p:sp>
        <p:nvSpPr>
          <p:cNvPr id="6" name="Text 4"/>
          <p:cNvSpPr txBox="1"/>
          <p:nvPr/>
        </p:nvSpPr>
        <p:spPr>
          <a:xfrm>
            <a:off x="6355080" y="1783080"/>
            <a:ext cx="4572000" cy="274320"/>
          </a:xfrm>
          <a:prstGeom prst="rect">
            <a:avLst/>
          </a:prstGeom>
          <a:noFill/>
          <a:ln/>
        </p:spPr>
        <p:txBody>
          <a:bodyPr wrap="square" lIns="0" tIns="0" rIns="0" bIns="0" rtlCol="0" anchor="t"/>
          <a:lstStyle/>
          <a:p>
            <a:pPr indent="0" marL="0">
              <a:buNone/>
            </a:pPr>
            <a:r>
              <a:rPr lang="en-US" sz="1100" spc="50" kern="0" dirty="0">
                <a:solidFill>
                  <a:schemeClr val="accent1"/>
                </a:solidFill>
                <a:latin typeface="IBM Plex Mono" pitchFamily="34" charset="0"/>
                <a:ea typeface="IBM Plex Mono" pitchFamily="34" charset="-122"/>
                <a:cs typeface="IBM Plex Mono" pitchFamily="34" charset="-120"/>
              </a:rPr>
              <a:t>DEMO 3 · 11 / 16</a:t>
            </a:r>
            <a:endParaRPr lang="en-US" sz="1100" dirty="0"/>
          </a:p>
        </p:txBody>
      </p:sp>
      <p:sp>
        <p:nvSpPr>
          <p:cNvPr id="7" name="Text 5"/>
          <p:cNvSpPr txBox="1"/>
          <p:nvPr/>
        </p:nvSpPr>
        <p:spPr>
          <a:xfrm>
            <a:off x="6355080" y="2148840"/>
            <a:ext cx="5230368" cy="2743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chemeClr val="tx1"/>
                </a:solidFill>
                <a:latin typeface="IBM Plex Sans" pitchFamily="34" charset="0"/>
                <a:ea typeface="IBM Plex Sans" pitchFamily="34" charset="-122"/>
                <a:cs typeface="IBM Plex Sans" pitchFamily="34" charset="-120"/>
              </a:rPr>
              <a:t>Several storage nodes on Kubernetes with Rook</a:t>
            </a:r>
            <a:endParaRPr lang="en-US" sz="1500" dirty="0"/>
          </a:p>
          <a:p>
            <a:pPr marL="228600" indent="-228600">
              <a:spcAft>
                <a:spcPts val="1000"/>
              </a:spcAft>
              <a:buSzPct val="100000"/>
              <a:buChar char="•"/>
            </a:pPr>
            <a:r>
              <a:rPr lang="en-US" sz="1500" dirty="0">
                <a:solidFill>
                  <a:schemeClr val="tx1"/>
                </a:solidFill>
                <a:latin typeface="IBM Plex Sans" pitchFamily="34" charset="0"/>
                <a:ea typeface="IBM Plex Sans" pitchFamily="34" charset="-122"/>
                <a:cs typeface="IBM Plex Sans" pitchFamily="34" charset="-120"/>
              </a:rPr>
              <a:t>Jobs submitted through a serverless API</a:t>
            </a:r>
            <a:endParaRPr lang="en-US" sz="1500" dirty="0"/>
          </a:p>
          <a:p>
            <a:pPr marL="228600" indent="-228600">
              <a:spcAft>
                <a:spcPts val="1000"/>
              </a:spcAft>
              <a:buSzPct val="100000"/>
              <a:buChar char="•"/>
            </a:pPr>
            <a:r>
              <a:rPr lang="en-US" sz="1500" dirty="0">
                <a:solidFill>
                  <a:schemeClr val="tx1"/>
                </a:solidFill>
                <a:latin typeface="IBM Plex Sans" pitchFamily="34" charset="0"/>
                <a:ea typeface="IBM Plex Sans" pitchFamily="34" charset="-122"/>
                <a:cs typeface="IBM Plex Sans" pitchFamily="34" charset="-120"/>
              </a:rPr>
              <a:t>Dependency-aware placement: run where the inputs are, fetch the fewest missing bytes</a:t>
            </a:r>
            <a:endParaRPr lang="en-US" sz="1500" dirty="0"/>
          </a:p>
          <a:p>
            <a:pPr marL="228600" indent="-228600">
              <a:spcAft>
                <a:spcPts val="1000"/>
              </a:spcAft>
              <a:buSzPct val="100000"/>
              <a:buChar char="•"/>
            </a:pPr>
            <a:r>
              <a:rPr lang="en-US" sz="1500" dirty="0">
                <a:solidFill>
                  <a:schemeClr val="tx1"/>
                </a:solidFill>
                <a:latin typeface="IBM Plex Sans" pitchFamily="34" charset="0"/>
                <a:ea typeface="IBM Plex Sans" pitchFamily="34" charset="-122"/>
                <a:cs typeface="IBM Plex Sans" pitchFamily="34" charset="-120"/>
              </a:rPr>
              <a:t>This baseline rerun on the multi-node setup</a:t>
            </a:r>
            <a:endParaRPr lang="en-US" sz="1500" dirty="0"/>
          </a:p>
        </p:txBody>
      </p:sp>
      <p:sp>
        <p:nvSpPr>
          <p:cNvPr id="8" name="Shape 6"/>
          <p:cNvSpPr/>
          <p:nvPr/>
        </p:nvSpPr>
        <p:spPr>
          <a:xfrm>
            <a:off x="612648" y="5120640"/>
            <a:ext cx="10972800" cy="1051560"/>
          </a:xfrm>
          <a:prstGeom prst="rect">
            <a:avLst/>
          </a:prstGeom>
          <a:solidFill>
            <a:schemeClr val="accent2"/>
          </a:solidFill>
          <a:ln/>
        </p:spPr>
      </p:sp>
      <p:sp>
        <p:nvSpPr>
          <p:cNvPr id="9" name="Text 7"/>
          <p:cNvSpPr txBox="1"/>
          <p:nvPr/>
        </p:nvSpPr>
        <p:spPr>
          <a:xfrm>
            <a:off x="886968" y="5120640"/>
            <a:ext cx="2743200" cy="1051560"/>
          </a:xfrm>
          <a:prstGeom prst="rect">
            <a:avLst/>
          </a:prstGeom>
          <a:noFill/>
          <a:ln/>
        </p:spPr>
        <p:txBody>
          <a:bodyPr wrap="square" lIns="0" tIns="0" rIns="0" bIns="0" rtlCol="0" anchor="ctr"/>
          <a:lstStyle/>
          <a:p>
            <a:pPr indent="0" marL="0">
              <a:buNone/>
            </a:pPr>
            <a:r>
              <a:rPr lang="en-US" sz="3600" dirty="0">
                <a:solidFill>
                  <a:schemeClr val="accent1"/>
                </a:solidFill>
                <a:latin typeface="IBM Plex Sans Medium" pitchFamily="34" charset="0"/>
                <a:ea typeface="IBM Plex Sans Medium" pitchFamily="34" charset="-122"/>
                <a:cs typeface="IBM Plex Sans Medium" pitchFamily="34" charset="-120"/>
              </a:rPr>
              <a:t>≈ 2.1 TB</a:t>
            </a:r>
            <a:endParaRPr lang="en-US" sz="3600" dirty="0"/>
          </a:p>
        </p:txBody>
      </p:sp>
      <p:sp>
        <p:nvSpPr>
          <p:cNvPr id="10" name="Text 8"/>
          <p:cNvSpPr txBox="1"/>
          <p:nvPr/>
        </p:nvSpPr>
        <p:spPr>
          <a:xfrm>
            <a:off x="3520440" y="5120640"/>
            <a:ext cx="7818120" cy="1051560"/>
          </a:xfrm>
          <a:prstGeom prst="rect">
            <a:avLst/>
          </a:prstGeom>
          <a:noFill/>
          <a:ln/>
        </p:spPr>
        <p:txBody>
          <a:bodyPr wrap="square" lIns="0" tIns="0" rIns="0" bIns="0" rtlCol="0" anchor="ctr"/>
          <a:lstStyle/>
          <a:p>
            <a:pPr indent="0" marL="0">
              <a:buNone/>
            </a:pPr>
            <a:r>
              <a:rPr lang="en-US" sz="1500" dirty="0">
                <a:solidFill>
                  <a:schemeClr val="tx1"/>
                </a:solidFill>
                <a:latin typeface="IBM Plex Sans" pitchFamily="34" charset="0"/>
                <a:ea typeface="IBM Plex Sans" pitchFamily="34" charset="-122"/>
                <a:cs typeface="IBM Plex Sans" pitchFamily="34" charset="-120"/>
              </a:rPr>
              <a:t>would cross the network to convert all of DROID's 1.7 TB RLDS release with separate compute (estimated from shard 2, not measured)</a:t>
            </a:r>
            <a:endParaRPr lang="en-US" sz="1500" dirty="0"/>
          </a:p>
        </p:txBody>
      </p:sp>
      <p:sp>
        <p:nvSpPr>
          <p:cNvPr id="25" name="Slide Number Placeholder 0"/>
          <p:cNvSpPr>
            <a:spLocks noGrp="1"/>
          </p:cNvSpPr>
          <p:nvPr>
            <p:ph type="sldNum" sz="quarter" idx="4294967295"/>
          </p:nvPr>
        </p:nvSpPr>
        <p:spPr>
          <a:xfrm>
            <a:off x="11128248"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86574"/>
                </a:solidFill>
                <a:latin typeface="IBM Plex Mono"/>
                <a:ea typeface="IBM Plex Mono"/>
                <a:cs typeface="IBM Plex Mono"/>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Computational Storage">
  <a:themeElements>
    <a:clrScheme name="Computational Storage">
      <a:dk1>
        <a:srgbClr val="171B21"/>
      </a:dk1>
      <a:lt1>
        <a:srgbClr val="FFFFFF"/>
      </a:lt1>
      <a:dk2>
        <a:srgbClr val="586574"/>
      </a:dk2>
      <a:lt2>
        <a:srgbClr val="F3F5F8"/>
      </a:lt2>
      <a:accent1>
        <a:srgbClr val="0F62FE"/>
      </a:accent1>
      <a:accent2>
        <a:srgbClr val="EAF1FF"/>
      </a:accent2>
      <a:accent3>
        <a:srgbClr val="C7D1DC"/>
      </a:accent3>
      <a:accent4>
        <a:srgbClr val="1F7A6F"/>
      </a:accent4>
      <a:accent5>
        <a:srgbClr val="9C6510"/>
      </a:accent5>
      <a:accent6>
        <a:srgbClr val="5B3A9E"/>
      </a:accent6>
      <a:hlink>
        <a:srgbClr val="0F62FE"/>
      </a:hlink>
      <a:folHlink>
        <a:srgbClr val="5B3A9E"/>
      </a:folHlink>
    </a:clrScheme>
    <a:fontScheme name="Computational Storage">
      <a:majorFont>
        <a:latin typeface="IBM Plex Sans Medium"/>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Computational Storage: Demo 2</dc:title>
  <dc:subject>EC528 Fall 2026, Demo 2</dc:subject>
  <dc:creator>Aakash, Harshada, Ivan, Jeehan, Mason</dc:creator>
  <cp:lastModifiedBy>Aakash, Harshada, Ivan, Jeehan, Mason</cp:lastModifiedBy>
  <cp:revision>1</cp:revision>
  <dcterms:created xsi:type="dcterms:W3CDTF">2026-10-18T19:21:50Z</dcterms:created>
  <dcterms:modified xsi:type="dcterms:W3CDTF">2026-10-18T19:21:50Z</dcterms:modified>
</cp:coreProperties>
</file>