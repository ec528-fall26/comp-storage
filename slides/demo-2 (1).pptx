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12192000"/>
  <p:embeddedFontLst>
    <p:embeddedFont>
      <p:font typeface="IBM Plex Sans"/>
      <p:regular r:id="rId17"/>
      <p:bold r:id="rId18"/>
      <p:italic r:id="rId19"/>
      <p:boldItalic r:id="rId20"/>
    </p:embeddedFont>
    <p:embeddedFont>
      <p:font typeface="IBM Plex Sans Medium"/>
      <p:regular r:id="rId21"/>
      <p:bold r:id="rId22"/>
      <p:italic r:id="rId23"/>
      <p:boldItalic r:id="rId24"/>
    </p:embeddedFont>
    <p:embeddedFont>
      <p:font typeface="IBM Plex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178025-7CBC-43EB-82B9-7F38568BC399}">
  <a:tblStyle styleId="{89178025-7CBC-43EB-82B9-7F38568BC39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BMPlexSans-boldItalic.fntdata"/><Relationship Id="rId22" Type="http://schemas.openxmlformats.org/officeDocument/2006/relationships/font" Target="fonts/IBMPlexSansMedium-bold.fntdata"/><Relationship Id="rId21" Type="http://schemas.openxmlformats.org/officeDocument/2006/relationships/font" Target="fonts/IBMPlexSansMedium-regular.fntdata"/><Relationship Id="rId24" Type="http://schemas.openxmlformats.org/officeDocument/2006/relationships/font" Target="fonts/IBMPlexSansMedium-boldItalic.fntdata"/><Relationship Id="rId23" Type="http://schemas.openxmlformats.org/officeDocument/2006/relationships/font" Target="fonts/IBMPlexSansMedium-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Mono-bold.fntdata"/><Relationship Id="rId25" Type="http://schemas.openxmlformats.org/officeDocument/2006/relationships/font" Target="fonts/IBMPlexMono-regular.fntdata"/><Relationship Id="rId28" Type="http://schemas.openxmlformats.org/officeDocument/2006/relationships/font" Target="fonts/IBMPlexMono-boldItalic.fntdata"/><Relationship Id="rId27" Type="http://schemas.openxmlformats.org/officeDocument/2006/relationships/font" Target="fonts/IBMPlex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BMPlexSans-regular.fntdata"/><Relationship Id="rId16" Type="http://schemas.openxmlformats.org/officeDocument/2006/relationships/slide" Target="slides/slide11.xml"/><Relationship Id="rId19" Type="http://schemas.openxmlformats.org/officeDocument/2006/relationships/font" Target="fonts/IBMPlexSans-italic.fntdata"/><Relationship Id="rId18" Type="http://schemas.openxmlformats.org/officeDocument/2006/relationships/font" Target="fonts/IBMPlex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Hi everyone, we're the Computational Storage team. Last time, we proposed running data preprocessing on the machines where the data is stored, instead of shipping the data to separate compute machines. Today we'll show you the working prototype, and the baseline we measured it against.</a:t>
            </a:r>
            <a:endParaRPr/>
          </a:p>
        </p:txBody>
      </p:sp>
      <p:sp>
        <p:nvSpPr>
          <p:cNvPr id="24" name="Google Shape;2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 quick recap of the problem. Normally, preprocessing a big dataset means copying it from storage to a compute machine, processing it there, and then copying the result back. So the data has to crosses the network twice. </a:t>
            </a:r>
            <a:endParaRPr/>
          </a:p>
          <a:p>
            <a:pPr indent="0" lvl="0" marL="0" rtl="0" algn="l">
              <a:spcBef>
                <a:spcPts val="0"/>
              </a:spcBef>
              <a:spcAft>
                <a:spcPts val="0"/>
              </a:spcAft>
              <a:buNone/>
            </a:pPr>
            <a:r>
              <a:rPr lang="en-US"/>
              <a:t>For our example </a:t>
            </a:r>
            <a:r>
              <a:rPr lang="en-US"/>
              <a:t>we'll</a:t>
            </a:r>
            <a:r>
              <a:rPr lang="en-US"/>
              <a:t> be using DROID, a large robot learning dataset. Its published version is about 1.7 terabytes, and converting it to the LeRobot format produces about 400 gigabytes. Our idea is to run that conversion on the storage machine itself. The goal in our proposal was to cut network traffic by about 70 percent, without making it any slower. For Demo 2, we had to build the system and measure the normal way first.</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Here's what we promised for Demo 2, and all four parts are done. </a:t>
            </a:r>
            <a:endParaRPr/>
          </a:p>
          <a:p>
            <a:pPr indent="0" lvl="0" marL="0" rtl="0" algn="l">
              <a:spcBef>
                <a:spcPts val="0"/>
              </a:spcBef>
              <a:spcAft>
                <a:spcPts val="0"/>
              </a:spcAft>
              <a:buNone/>
            </a:pPr>
            <a:r>
              <a:rPr lang="en-US"/>
              <a:t>First, a Ceph storage cluster running on one machine. </a:t>
            </a:r>
            <a:endParaRPr/>
          </a:p>
          <a:p>
            <a:pPr indent="0" lvl="0" marL="0" rtl="0" algn="l">
              <a:spcBef>
                <a:spcPts val="0"/>
              </a:spcBef>
              <a:spcAft>
                <a:spcPts val="0"/>
              </a:spcAft>
              <a:buNone/>
            </a:pPr>
            <a:r>
              <a:rPr lang="en-US"/>
              <a:t>Second, the full path: load the data, convert it, and write the result back. </a:t>
            </a:r>
            <a:endParaRPr/>
          </a:p>
          <a:p>
            <a:pPr indent="0" lvl="0" marL="0" rtl="0" algn="l">
              <a:spcBef>
                <a:spcPts val="0"/>
              </a:spcBef>
              <a:spcAft>
                <a:spcPts val="0"/>
              </a:spcAft>
              <a:buNone/>
            </a:pPr>
            <a:r>
              <a:rPr lang="en-US"/>
              <a:t>Third, a background service that converts new data automatically. </a:t>
            </a:r>
            <a:endParaRPr/>
          </a:p>
          <a:p>
            <a:pPr indent="0" lvl="0" marL="0" rtl="0" algn="l">
              <a:spcBef>
                <a:spcPts val="0"/>
              </a:spcBef>
              <a:spcAft>
                <a:spcPts val="0"/>
              </a:spcAft>
              <a:buNone/>
            </a:pPr>
            <a:r>
              <a:rPr lang="en-US"/>
              <a:t>And fourth, the baseline. We ran the conversion on a separate compute machine and measured it.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one shard, which is one 649-megabyte piece of the dataset, it moved 797 megabytes over the network and took 304 seconds. We also ran the same job on the storage machine, and we did the whole comparison twice on fresh AWS machines, with matching results.</a:t>
            </a:r>
            <a:endParaRPr/>
          </a:p>
        </p:txBody>
      </p:sp>
      <p:sp>
        <p:nvSpPr>
          <p:cNvPr id="72" name="Google Shape;7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Here's how the proposal turned into a real system. </a:t>
            </a:r>
            <a:endParaRPr/>
          </a:p>
          <a:p>
            <a:pPr indent="0" lvl="0" marL="0" rtl="0" algn="l">
              <a:spcBef>
                <a:spcPts val="0"/>
              </a:spcBef>
              <a:spcAft>
                <a:spcPts val="0"/>
              </a:spcAft>
              <a:buNone/>
            </a:pPr>
            <a:r>
              <a:rPr lang="en-US"/>
              <a:t>For storage, we started with Ceph on a single machine, using MicroCeph. </a:t>
            </a:r>
            <a:endParaRPr/>
          </a:p>
          <a:p>
            <a:pPr indent="0" lvl="0" marL="0" rtl="0" algn="l">
              <a:spcBef>
                <a:spcPts val="0"/>
              </a:spcBef>
              <a:spcAft>
                <a:spcPts val="0"/>
              </a:spcAft>
              <a:buNone/>
            </a:pPr>
            <a:r>
              <a:rPr lang="en-US"/>
              <a:t>For the interface, each job is three things: the function to run, the files it reads, and the folder it writes to</a:t>
            </a:r>
            <a:r>
              <a:rPr lang="en-US"/>
              <a:t>. </a:t>
            </a:r>
            <a:endParaRPr/>
          </a:p>
          <a:p>
            <a:pPr indent="0" lvl="0" marL="0" rtl="0" algn="l">
              <a:spcBef>
                <a:spcPts val="0"/>
              </a:spcBef>
              <a:spcAft>
                <a:spcPts val="0"/>
              </a:spcAft>
              <a:buNone/>
            </a:pPr>
            <a:r>
              <a:rPr lang="en-US"/>
              <a:t>For the workers, every job runs in the same container with the same limits: 7 CPUs, 8 gigabytes of memory, and no network access inside. For the workload, we run Hugging Face's own converter, on real DROID data. </a:t>
            </a:r>
            <a:endParaRPr/>
          </a:p>
          <a:p>
            <a:pPr indent="0" lvl="0" marL="0" rtl="0" algn="l">
              <a:spcBef>
                <a:spcPts val="0"/>
              </a:spcBef>
              <a:spcAft>
                <a:spcPts val="0"/>
              </a:spcAft>
              <a:buNone/>
            </a:pPr>
            <a:r>
              <a:rPr lang="en-US"/>
              <a:t>Finally, to measure, we count the bytes that cross the network, then we clear the caches before every run, and compare the two outputs</a:t>
            </a:r>
            <a:endParaRPr/>
          </a:p>
        </p:txBody>
      </p:sp>
      <p:sp>
        <p:nvSpPr>
          <p:cNvPr id="105" name="Google Shape;10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This is our main result. The left pair of bars is the baseline: running the conversion on a separate machine moved 797 megabytes over the network. That's almost exactly the input plus the output, because the data is read once and the result is written back once. The right pair is the same job running on the storage machine. It moved only 0.2 megabytes. That's just background traffic, like our remote login session and Ceph's own housekeeping. So that's 99.97 percent less traffic, and our goal was 70 percent. We ran everything a second time on a brand-new AWS account, and got 797.2 and 0.2 megabytes again. </a:t>
            </a:r>
            <a:endParaRPr/>
          </a:p>
        </p:txBody>
      </p:sp>
      <p:sp>
        <p:nvSpPr>
          <p:cNvPr id="114" name="Google Shape;11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Here is our test setup, we used two identical machines on AWS. On the right is the storage machine. It runs Ceph, which stores the data and shares it as a normal folder. On the left is the compute machine, which opens that same folder over the network. </a:t>
            </a:r>
            <a:endParaRPr/>
          </a:p>
          <a:p>
            <a:pPr indent="0" lvl="0" marL="0" rtl="0" algn="l">
              <a:spcBef>
                <a:spcPts val="0"/>
              </a:spcBef>
              <a:spcAft>
                <a:spcPts val="0"/>
              </a:spcAft>
              <a:buNone/>
            </a:pPr>
            <a:r>
              <a:rPr lang="en-US"/>
              <a:t>Both machines have the same worker container.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baseline, the worker runs on the compute machine, so the data is read over the network, and the result is written back over the network. </a:t>
            </a:r>
            <a:endParaRPr/>
          </a:p>
          <a:p>
            <a:pPr indent="0" lvl="0" marL="0" rtl="0" algn="l">
              <a:spcBef>
                <a:spcPts val="0"/>
              </a:spcBef>
              <a:spcAft>
                <a:spcPts val="0"/>
              </a:spcAft>
              <a:buNone/>
            </a:pPr>
            <a:r>
              <a:rPr lang="en-US"/>
              <a:t>In our approach, the same container runs on the storage machine, right next to the data. Every byte that travels between the two machines has to go through the storage machine's network card. So we measure traffic by reading that card's byte counters before and after each job.</a:t>
            </a:r>
            <a:endParaRPr/>
          </a:p>
        </p:txBody>
      </p:sp>
      <p:sp>
        <p:nvSpPr>
          <p:cNvPr id="129" name="Google Shape;12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Here's what happens in one job. It starts with a job spec. Then the worker runs Hugging Face's converter, which took 301 seconds on our test shard. Next, we copy the result onto Ceph and make it appear all at once with a single rename, so nobody ever sees a half-written dataset. That took about one second. Finally, we check the output with LeRobot's own loader.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One problem we hit,  the public DROID files are missing six fields that Hugging Face's converter needs, so our first real run crashed. We fill in those fields ourselves, using the file path for the lab and the date, and placeholder values for the rest. That way the converter itself stays unchanged.</a:t>
            </a:r>
            <a:endParaRPr/>
          </a:p>
        </p:txBody>
      </p:sp>
      <p:sp>
        <p:nvSpPr>
          <p:cNvPr id="165" name="Google Shape;16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The background service watches for new data. When a new shard is loaded, it notices there's no converted version yet, and adds a job to a queue. The queue is just a folder of files on Ceph. The service claims the job, runs the conversion, and records the result. On AWS, it converted our shard in 292 seconds, with no manual step.</a:t>
            </a:r>
            <a:endParaRPr/>
          </a:p>
        </p:txBody>
      </p:sp>
      <p:sp>
        <p:nvSpPr>
          <p:cNvPr id="206" name="Google Shape;20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h1c300fbb3f9f9099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7" name="Google Shape;237;h1c300fbb3f9f9099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h1c300fbb3f9f9099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Moving the work did not make it slower. The baseline took 304 seconds, and the storage machine took about the same, in both runs. In fact, the faster one switched between the two runs, so the difference is just noise. That's what we expected, because this conversion is limited by computing, not by the network. It spends about 300 seconds computing, and only about a second moving data. So we save network traffic at the same speed, which is exactly what the proposal asked for. And the output is identical in both modes, with all 39 episodes verified.</a:t>
            </a:r>
            <a:endParaRPr/>
          </a:p>
        </p:txBody>
      </p:sp>
      <p:sp>
        <p:nvSpPr>
          <p:cNvPr id="245" name="Google Shape;24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 few limitations. With only one storage machine, every input is already local, so this is the best case. Our converter is limited by computing, so moving it saves bytes but not time. And our storage disks are files on a single drive, so we don't measure disk speed. For Demo 3, we'll add several storage machines on Kubernetes with Rook, let people submit jobs through a serverless API, and add our first placement policy, which runs each job where its inputs are. Then we'll rerun this same baseline on that setup. For all of DROID, separate compute would move about 2 terabytes. </a:t>
            </a:r>
            <a:endParaRPr/>
          </a:p>
        </p:txBody>
      </p:sp>
      <p:sp>
        <p:nvSpPr>
          <p:cNvPr id="265" name="Google Shape;26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rgbClr val="FFFFFF"/>
        </a:solidFill>
      </p:bgPr>
    </p:bg>
    <p:spTree>
      <p:nvGrpSpPr>
        <p:cNvPr id="11" name="Shape 11"/>
        <p:cNvGrpSpPr/>
        <p:nvPr/>
      </p:nvGrpSpPr>
      <p:grpSpPr>
        <a:xfrm>
          <a:off x="0" y="0"/>
          <a:ext cx="0" cy="0"/>
          <a:chOff x="0" y="0"/>
          <a:chExt cx="0" cy="0"/>
        </a:xfrm>
      </p:grpSpPr>
      <p:sp>
        <p:nvSpPr>
          <p:cNvPr id="12" name="Google Shape;12;p2"/>
          <p:cNvSpPr txBox="1"/>
          <p:nvPr>
            <p:ph idx="1" type="body"/>
          </p:nvPr>
        </p:nvSpPr>
        <p:spPr>
          <a:xfrm>
            <a:off x="612648" y="2057400"/>
            <a:ext cx="10972800" cy="3657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accent1"/>
              </a:buClr>
              <a:buSzPts val="1600"/>
              <a:buFont typeface="Arial"/>
              <a:buNone/>
              <a:defRPr b="0" i="0" sz="1600" u="none" cap="none" strike="noStrike">
                <a:solidFill>
                  <a:schemeClr val="accent1"/>
                </a:solidFill>
                <a:latin typeface="IBM Plex Mono"/>
                <a:ea typeface="IBM Plex Mono"/>
                <a:cs typeface="IBM Plex Mono"/>
                <a:sym typeface="IBM Plex Mono"/>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
        <p:nvSpPr>
          <p:cNvPr id="13" name="Google Shape;13;p2"/>
          <p:cNvSpPr txBox="1"/>
          <p:nvPr>
            <p:ph type="title"/>
          </p:nvPr>
        </p:nvSpPr>
        <p:spPr>
          <a:xfrm>
            <a:off x="612648" y="2514600"/>
            <a:ext cx="10972800"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5200"/>
              <a:buFont typeface="IBM Plex Sans Medium"/>
              <a:buNone/>
              <a:defRPr b="0" i="0" sz="5200" u="none" cap="none" strike="noStrike">
                <a:solidFill>
                  <a:schemeClr val="dk1"/>
                </a:solidFill>
                <a:latin typeface="IBM Plex Sans Medium"/>
                <a:ea typeface="IBM Plex Sans Medium"/>
                <a:cs typeface="IBM Plex Sans Medium"/>
                <a:sym typeface="IBM Plex Sans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2"/>
          <p:cNvSpPr txBox="1"/>
          <p:nvPr>
            <p:ph idx="2" type="body"/>
          </p:nvPr>
        </p:nvSpPr>
        <p:spPr>
          <a:xfrm>
            <a:off x="612648" y="3520440"/>
            <a:ext cx="10972800" cy="4572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40"/>
              </a:spcBef>
              <a:spcAft>
                <a:spcPts val="0"/>
              </a:spcAft>
              <a:buClr>
                <a:schemeClr val="dk2"/>
              </a:buClr>
              <a:buSzPts val="2200"/>
              <a:buFont typeface="Arial"/>
              <a:buNone/>
              <a:defRPr b="0" i="0" sz="2200" u="none" cap="none" strike="noStrike">
                <a:solidFill>
                  <a:schemeClr val="dk2"/>
                </a:solidFill>
                <a:latin typeface="IBM Plex Sans"/>
                <a:ea typeface="IBM Plex Sans"/>
                <a:cs typeface="IBM Plex Sans"/>
                <a:sym typeface="IBM Plex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
        <p:nvSpPr>
          <p:cNvPr id="15" name="Google Shape;15;p2"/>
          <p:cNvSpPr txBox="1"/>
          <p:nvPr>
            <p:ph idx="3" type="body"/>
          </p:nvPr>
        </p:nvSpPr>
        <p:spPr>
          <a:xfrm>
            <a:off x="612648" y="5394960"/>
            <a:ext cx="10972800" cy="3657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40"/>
              </a:spcBef>
              <a:spcAft>
                <a:spcPts val="0"/>
              </a:spcAft>
              <a:buClr>
                <a:schemeClr val="dk2"/>
              </a:buClr>
              <a:buSzPts val="1700"/>
              <a:buFont typeface="Arial"/>
              <a:buNone/>
              <a:defRPr b="0" i="0" sz="1700" u="none" cap="none" strike="noStrike">
                <a:solidFill>
                  <a:schemeClr val="dk2"/>
                </a:solidFill>
                <a:latin typeface="IBM Plex Sans"/>
                <a:ea typeface="IBM Plex Sans"/>
                <a:cs typeface="IBM Plex Sans"/>
                <a:sym typeface="IBM Plex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6" name="Shape 16"/>
        <p:cNvGrpSpPr/>
        <p:nvPr/>
      </p:nvGrpSpPr>
      <p:grpSpPr>
        <a:xfrm>
          <a:off x="0" y="0"/>
          <a:ext cx="0" cy="0"/>
          <a:chOff x="0" y="0"/>
          <a:chExt cx="0" cy="0"/>
        </a:xfrm>
      </p:grpSpPr>
      <p:sp>
        <p:nvSpPr>
          <p:cNvPr id="17" name="Google Shape;17;p3"/>
          <p:cNvSpPr txBox="1"/>
          <p:nvPr>
            <p:ph type="title"/>
          </p:nvPr>
        </p:nvSpPr>
        <p:spPr>
          <a:xfrm>
            <a:off x="612648" y="393192"/>
            <a:ext cx="10972800" cy="5943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3400"/>
              <a:buFont typeface="IBM Plex Sans Medium"/>
              <a:buNone/>
              <a:defRPr b="0" i="0" sz="3400" u="none" cap="none" strike="noStrike">
                <a:solidFill>
                  <a:schemeClr val="dk1"/>
                </a:solidFill>
                <a:latin typeface="IBM Plex Sans Medium"/>
                <a:ea typeface="IBM Plex Sans Medium"/>
                <a:cs typeface="IBM Plex Sans Medium"/>
                <a:sym typeface="IBM Plex Sans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3"/>
          <p:cNvSpPr txBox="1"/>
          <p:nvPr>
            <p:ph idx="1" type="body"/>
          </p:nvPr>
        </p:nvSpPr>
        <p:spPr>
          <a:xfrm>
            <a:off x="612648" y="1088136"/>
            <a:ext cx="10972800" cy="3657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40"/>
              </a:spcBef>
              <a:spcAft>
                <a:spcPts val="0"/>
              </a:spcAft>
              <a:buClr>
                <a:schemeClr val="dk2"/>
              </a:buClr>
              <a:buSzPts val="1700"/>
              <a:buFont typeface="Arial"/>
              <a:buNone/>
              <a:defRPr b="0" i="0" sz="1700" u="none" cap="none" strike="noStrike">
                <a:solidFill>
                  <a:schemeClr val="dk2"/>
                </a:solidFill>
                <a:latin typeface="IBM Plex Sans"/>
                <a:ea typeface="IBM Plex Sans"/>
                <a:cs typeface="IBM Plex Sans"/>
                <a:sym typeface="IBM Plex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
        <p:nvSpPr>
          <p:cNvPr id="19" name="Google Shape;19;p3"/>
          <p:cNvSpPr txBox="1"/>
          <p:nvPr>
            <p:ph idx="12" type="sldNum"/>
          </p:nvPr>
        </p:nvSpPr>
        <p:spPr>
          <a:xfrm>
            <a:off x="11128248" y="6382512"/>
            <a:ext cx="45720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rgbClr val="586574"/>
                </a:solidFill>
                <a:latin typeface="IBM Plex Mono"/>
                <a:ea typeface="IBM Plex Mono"/>
                <a:cs typeface="IBM Plex Mono"/>
                <a:sym typeface="IBM Plex Mono"/>
              </a:defRPr>
            </a:lvl1pPr>
            <a:lvl2pPr indent="0" lvl="1" marL="0" marR="0" algn="r">
              <a:spcBef>
                <a:spcPts val="0"/>
              </a:spcBef>
              <a:buNone/>
              <a:defRPr b="0" i="0" sz="1000" u="none" cap="none" strike="noStrike">
                <a:solidFill>
                  <a:srgbClr val="586574"/>
                </a:solidFill>
                <a:latin typeface="IBM Plex Mono"/>
                <a:ea typeface="IBM Plex Mono"/>
                <a:cs typeface="IBM Plex Mono"/>
                <a:sym typeface="IBM Plex Mono"/>
              </a:defRPr>
            </a:lvl2pPr>
            <a:lvl3pPr indent="0" lvl="2" marL="0" marR="0" algn="r">
              <a:spcBef>
                <a:spcPts val="0"/>
              </a:spcBef>
              <a:buNone/>
              <a:defRPr b="0" i="0" sz="1000" u="none" cap="none" strike="noStrike">
                <a:solidFill>
                  <a:srgbClr val="586574"/>
                </a:solidFill>
                <a:latin typeface="IBM Plex Mono"/>
                <a:ea typeface="IBM Plex Mono"/>
                <a:cs typeface="IBM Plex Mono"/>
                <a:sym typeface="IBM Plex Mono"/>
              </a:defRPr>
            </a:lvl3pPr>
            <a:lvl4pPr indent="0" lvl="3" marL="0" marR="0" algn="r">
              <a:spcBef>
                <a:spcPts val="0"/>
              </a:spcBef>
              <a:buNone/>
              <a:defRPr b="0" i="0" sz="1000" u="none" cap="none" strike="noStrike">
                <a:solidFill>
                  <a:srgbClr val="586574"/>
                </a:solidFill>
                <a:latin typeface="IBM Plex Mono"/>
                <a:ea typeface="IBM Plex Mono"/>
                <a:cs typeface="IBM Plex Mono"/>
                <a:sym typeface="IBM Plex Mono"/>
              </a:defRPr>
            </a:lvl4pPr>
            <a:lvl5pPr indent="0" lvl="4" marL="0" marR="0" algn="r">
              <a:spcBef>
                <a:spcPts val="0"/>
              </a:spcBef>
              <a:buNone/>
              <a:defRPr b="0" i="0" sz="1000" u="none" cap="none" strike="noStrike">
                <a:solidFill>
                  <a:srgbClr val="586574"/>
                </a:solidFill>
                <a:latin typeface="IBM Plex Mono"/>
                <a:ea typeface="IBM Plex Mono"/>
                <a:cs typeface="IBM Plex Mono"/>
                <a:sym typeface="IBM Plex Mono"/>
              </a:defRPr>
            </a:lvl5pPr>
            <a:lvl6pPr indent="0" lvl="5" marL="0" marR="0" algn="r">
              <a:spcBef>
                <a:spcPts val="0"/>
              </a:spcBef>
              <a:buNone/>
              <a:defRPr b="0" i="0" sz="1000" u="none" cap="none" strike="noStrike">
                <a:solidFill>
                  <a:srgbClr val="586574"/>
                </a:solidFill>
                <a:latin typeface="IBM Plex Mono"/>
                <a:ea typeface="IBM Plex Mono"/>
                <a:cs typeface="IBM Plex Mono"/>
                <a:sym typeface="IBM Plex Mono"/>
              </a:defRPr>
            </a:lvl6pPr>
            <a:lvl7pPr indent="0" lvl="6" marL="0" marR="0" algn="r">
              <a:spcBef>
                <a:spcPts val="0"/>
              </a:spcBef>
              <a:buNone/>
              <a:defRPr b="0" i="0" sz="1000" u="none" cap="none" strike="noStrike">
                <a:solidFill>
                  <a:srgbClr val="586574"/>
                </a:solidFill>
                <a:latin typeface="IBM Plex Mono"/>
                <a:ea typeface="IBM Plex Mono"/>
                <a:cs typeface="IBM Plex Mono"/>
                <a:sym typeface="IBM Plex Mono"/>
              </a:defRPr>
            </a:lvl7pPr>
            <a:lvl8pPr indent="0" lvl="7" marL="0" marR="0" algn="r">
              <a:spcBef>
                <a:spcPts val="0"/>
              </a:spcBef>
              <a:buNone/>
              <a:defRPr b="0" i="0" sz="1000" u="none" cap="none" strike="noStrike">
                <a:solidFill>
                  <a:srgbClr val="586574"/>
                </a:solidFill>
                <a:latin typeface="IBM Plex Mono"/>
                <a:ea typeface="IBM Plex Mono"/>
                <a:cs typeface="IBM Plex Mono"/>
                <a:sym typeface="IBM Plex Mono"/>
              </a:defRPr>
            </a:lvl8pPr>
            <a:lvl9pPr indent="0" lvl="8" marL="0" marR="0" algn="r">
              <a:spcBef>
                <a:spcPts val="0"/>
              </a:spcBef>
              <a:buNone/>
              <a:defRPr b="0" i="0" sz="1000" u="none" cap="none" strike="noStrike">
                <a:solidFill>
                  <a:srgbClr val="586574"/>
                </a:solidFill>
                <a:latin typeface="IBM Plex Mono"/>
                <a:ea typeface="IBM Plex Mono"/>
                <a:cs typeface="IBM Plex Mono"/>
                <a:sym typeface="IBM Plex Mon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0" name="Shape 2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128248" y="6382512"/>
            <a:ext cx="45720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rgbClr val="586574"/>
                </a:solidFill>
                <a:latin typeface="IBM Plex Mono"/>
                <a:ea typeface="IBM Plex Mono"/>
                <a:cs typeface="IBM Plex Mono"/>
                <a:sym typeface="IBM Plex Mono"/>
              </a:defRPr>
            </a:lvl1pPr>
            <a:lvl2pPr indent="0" lvl="1" marL="0" marR="0" rtl="0" algn="r">
              <a:spcBef>
                <a:spcPts val="0"/>
              </a:spcBef>
              <a:buNone/>
              <a:defRPr b="0" i="0" sz="1000" u="none" cap="none" strike="noStrike">
                <a:solidFill>
                  <a:srgbClr val="586574"/>
                </a:solidFill>
                <a:latin typeface="IBM Plex Mono"/>
                <a:ea typeface="IBM Plex Mono"/>
                <a:cs typeface="IBM Plex Mono"/>
                <a:sym typeface="IBM Plex Mono"/>
              </a:defRPr>
            </a:lvl2pPr>
            <a:lvl3pPr indent="0" lvl="2" marL="0" marR="0" rtl="0" algn="r">
              <a:spcBef>
                <a:spcPts val="0"/>
              </a:spcBef>
              <a:buNone/>
              <a:defRPr b="0" i="0" sz="1000" u="none" cap="none" strike="noStrike">
                <a:solidFill>
                  <a:srgbClr val="586574"/>
                </a:solidFill>
                <a:latin typeface="IBM Plex Mono"/>
                <a:ea typeface="IBM Plex Mono"/>
                <a:cs typeface="IBM Plex Mono"/>
                <a:sym typeface="IBM Plex Mono"/>
              </a:defRPr>
            </a:lvl3pPr>
            <a:lvl4pPr indent="0" lvl="3" marL="0" marR="0" rtl="0" algn="r">
              <a:spcBef>
                <a:spcPts val="0"/>
              </a:spcBef>
              <a:buNone/>
              <a:defRPr b="0" i="0" sz="1000" u="none" cap="none" strike="noStrike">
                <a:solidFill>
                  <a:srgbClr val="586574"/>
                </a:solidFill>
                <a:latin typeface="IBM Plex Mono"/>
                <a:ea typeface="IBM Plex Mono"/>
                <a:cs typeface="IBM Plex Mono"/>
                <a:sym typeface="IBM Plex Mono"/>
              </a:defRPr>
            </a:lvl4pPr>
            <a:lvl5pPr indent="0" lvl="4" marL="0" marR="0" rtl="0" algn="r">
              <a:spcBef>
                <a:spcPts val="0"/>
              </a:spcBef>
              <a:buNone/>
              <a:defRPr b="0" i="0" sz="1000" u="none" cap="none" strike="noStrike">
                <a:solidFill>
                  <a:srgbClr val="586574"/>
                </a:solidFill>
                <a:latin typeface="IBM Plex Mono"/>
                <a:ea typeface="IBM Plex Mono"/>
                <a:cs typeface="IBM Plex Mono"/>
                <a:sym typeface="IBM Plex Mono"/>
              </a:defRPr>
            </a:lvl5pPr>
            <a:lvl6pPr indent="0" lvl="5" marL="0" marR="0" rtl="0" algn="r">
              <a:spcBef>
                <a:spcPts val="0"/>
              </a:spcBef>
              <a:buNone/>
              <a:defRPr b="0" i="0" sz="1000" u="none" cap="none" strike="noStrike">
                <a:solidFill>
                  <a:srgbClr val="586574"/>
                </a:solidFill>
                <a:latin typeface="IBM Plex Mono"/>
                <a:ea typeface="IBM Plex Mono"/>
                <a:cs typeface="IBM Plex Mono"/>
                <a:sym typeface="IBM Plex Mono"/>
              </a:defRPr>
            </a:lvl6pPr>
            <a:lvl7pPr indent="0" lvl="6" marL="0" marR="0" rtl="0" algn="r">
              <a:spcBef>
                <a:spcPts val="0"/>
              </a:spcBef>
              <a:buNone/>
              <a:defRPr b="0" i="0" sz="1000" u="none" cap="none" strike="noStrike">
                <a:solidFill>
                  <a:srgbClr val="586574"/>
                </a:solidFill>
                <a:latin typeface="IBM Plex Mono"/>
                <a:ea typeface="IBM Plex Mono"/>
                <a:cs typeface="IBM Plex Mono"/>
                <a:sym typeface="IBM Plex Mono"/>
              </a:defRPr>
            </a:lvl7pPr>
            <a:lvl8pPr indent="0" lvl="7" marL="0" marR="0" rtl="0" algn="r">
              <a:spcBef>
                <a:spcPts val="0"/>
              </a:spcBef>
              <a:buNone/>
              <a:defRPr b="0" i="0" sz="1000" u="none" cap="none" strike="noStrike">
                <a:solidFill>
                  <a:srgbClr val="586574"/>
                </a:solidFill>
                <a:latin typeface="IBM Plex Mono"/>
                <a:ea typeface="IBM Plex Mono"/>
                <a:cs typeface="IBM Plex Mono"/>
                <a:sym typeface="IBM Plex Mono"/>
              </a:defRPr>
            </a:lvl8pPr>
            <a:lvl9pPr indent="0" lvl="8" marL="0" marR="0" rtl="0" algn="r">
              <a:spcBef>
                <a:spcPts val="0"/>
              </a:spcBef>
              <a:buNone/>
              <a:defRPr b="0" i="0" sz="1000" u="none" cap="none" strike="noStrike">
                <a:solidFill>
                  <a:srgbClr val="586574"/>
                </a:solidFill>
                <a:latin typeface="IBM Plex Mono"/>
                <a:ea typeface="IBM Plex Mono"/>
                <a:cs typeface="IBM Plex Mono"/>
                <a:sym typeface="IBM Plex Mon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drive.google.com/file/d/1SwVIn-YBvenyRlIqFbeLB0mlr6gPOepW/view" TargetMode="Externa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5"/>
          <p:cNvSpPr txBox="1"/>
          <p:nvPr>
            <p:ph idx="1" type="body"/>
          </p:nvPr>
        </p:nvSpPr>
        <p:spPr>
          <a:xfrm>
            <a:off x="612648" y="2057400"/>
            <a:ext cx="10972800" cy="36576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accent1"/>
              </a:buClr>
              <a:buSzPts val="1600"/>
              <a:buNone/>
            </a:pPr>
            <a:r>
              <a:rPr lang="en-US" sz="1600">
                <a:solidFill>
                  <a:schemeClr val="accent1"/>
                </a:solidFill>
                <a:latin typeface="IBM Plex Mono"/>
                <a:ea typeface="IBM Plex Mono"/>
                <a:cs typeface="IBM Plex Mono"/>
                <a:sym typeface="IBM Plex Mono"/>
              </a:rPr>
              <a:t>DEMO 2  ·  10 / 21</a:t>
            </a:r>
            <a:endParaRPr sz="1600"/>
          </a:p>
        </p:txBody>
      </p:sp>
      <p:sp>
        <p:nvSpPr>
          <p:cNvPr id="27" name="Google Shape;27;p5"/>
          <p:cNvSpPr txBox="1"/>
          <p:nvPr>
            <p:ph type="title"/>
          </p:nvPr>
        </p:nvSpPr>
        <p:spPr>
          <a:xfrm>
            <a:off x="612648" y="2514600"/>
            <a:ext cx="10972800" cy="914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5200"/>
              <a:buFont typeface="IBM Plex Sans Medium"/>
              <a:buNone/>
            </a:pPr>
            <a:r>
              <a:rPr lang="en-US" sz="5200">
                <a:solidFill>
                  <a:schemeClr val="dk1"/>
                </a:solidFill>
              </a:rPr>
              <a:t>Computational Storage</a:t>
            </a:r>
            <a:endParaRPr sz="5200"/>
          </a:p>
        </p:txBody>
      </p:sp>
      <p:sp>
        <p:nvSpPr>
          <p:cNvPr id="28" name="Google Shape;28;p5"/>
          <p:cNvSpPr txBox="1"/>
          <p:nvPr>
            <p:ph idx="2" type="body"/>
          </p:nvPr>
        </p:nvSpPr>
        <p:spPr>
          <a:xfrm>
            <a:off x="612648" y="3520440"/>
            <a:ext cx="109728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200"/>
              <a:buNone/>
            </a:pPr>
            <a:r>
              <a:rPr lang="en-US" sz="2200">
                <a:solidFill>
                  <a:schemeClr val="dk2"/>
                </a:solidFill>
              </a:rPr>
              <a:t>A working prototype and its separate-compute baseline</a:t>
            </a:r>
            <a:endParaRPr sz="2200"/>
          </a:p>
        </p:txBody>
      </p:sp>
      <p:sp>
        <p:nvSpPr>
          <p:cNvPr id="29" name="Google Shape;29;p5"/>
          <p:cNvSpPr txBox="1"/>
          <p:nvPr>
            <p:ph idx="3" type="body"/>
          </p:nvPr>
        </p:nvSpPr>
        <p:spPr>
          <a:xfrm>
            <a:off x="612648" y="5394960"/>
            <a:ext cx="109728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700"/>
              <a:buNone/>
            </a:pPr>
            <a:r>
              <a:rPr lang="en-US" sz="1700">
                <a:solidFill>
                  <a:schemeClr val="dk2"/>
                </a:solidFill>
              </a:rPr>
              <a:t>Aakash, Harshada, Ivan, Jeehan, Mason</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6"/>
          <p:cNvSpPr txBox="1"/>
          <p:nvPr>
            <p:ph type="title"/>
          </p:nvPr>
        </p:nvSpPr>
        <p:spPr>
          <a:xfrm>
            <a:off x="612648" y="393192"/>
            <a:ext cx="10972800" cy="5943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400"/>
              <a:buFont typeface="IBM Plex Sans Medium"/>
              <a:buNone/>
            </a:pPr>
            <a:r>
              <a:rPr lang="en-US" sz="3400">
                <a:solidFill>
                  <a:schemeClr val="dk1"/>
                </a:solidFill>
              </a:rPr>
              <a:t>Why computational storage?</a:t>
            </a:r>
            <a:endParaRPr sz="3400"/>
          </a:p>
        </p:txBody>
      </p:sp>
      <p:sp>
        <p:nvSpPr>
          <p:cNvPr id="36" name="Google Shape;36;p6"/>
          <p:cNvSpPr txBox="1"/>
          <p:nvPr>
            <p:ph idx="1" type="body"/>
          </p:nvPr>
        </p:nvSpPr>
        <p:spPr>
          <a:xfrm>
            <a:off x="612648" y="1088136"/>
            <a:ext cx="109728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700"/>
              <a:buNone/>
            </a:pPr>
            <a:r>
              <a:rPr lang="en-US" sz="1700">
                <a:solidFill>
                  <a:schemeClr val="dk2"/>
                </a:solidFill>
              </a:rPr>
              <a:t>Recap from Demo 1: preprocessing moves data twice</a:t>
            </a:r>
            <a:endParaRPr sz="1700"/>
          </a:p>
        </p:txBody>
      </p:sp>
      <p:sp>
        <p:nvSpPr>
          <p:cNvPr id="37" name="Google Shape;37;p6"/>
          <p:cNvSpPr txBox="1"/>
          <p:nvPr/>
        </p:nvSpPr>
        <p:spPr>
          <a:xfrm>
            <a:off x="612648" y="1783080"/>
            <a:ext cx="2743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IBM Plex Sans Medium"/>
              <a:buNone/>
            </a:pPr>
            <a:r>
              <a:rPr b="0" i="0" lang="en-US" sz="1800" u="none" cap="none" strike="noStrike">
                <a:solidFill>
                  <a:schemeClr val="dk1"/>
                </a:solidFill>
                <a:latin typeface="IBM Plex Sans Medium"/>
                <a:ea typeface="IBM Plex Sans Medium"/>
                <a:cs typeface="IBM Plex Sans Medium"/>
                <a:sym typeface="IBM Plex Sans Medium"/>
              </a:rPr>
              <a:t>Separate</a:t>
            </a:r>
            <a:endParaRPr b="0" i="0" sz="1800" u="none" cap="none" strike="noStrike">
              <a:solidFill>
                <a:schemeClr val="dk1"/>
              </a:solidFill>
              <a:latin typeface="IBM Plex Sans"/>
              <a:ea typeface="IBM Plex Sans"/>
              <a:cs typeface="IBM Plex Sans"/>
              <a:sym typeface="IBM Plex Sans"/>
            </a:endParaRPr>
          </a:p>
        </p:txBody>
      </p:sp>
      <p:sp>
        <p:nvSpPr>
          <p:cNvPr id="38" name="Google Shape;38;p6"/>
          <p:cNvSpPr/>
          <p:nvPr/>
        </p:nvSpPr>
        <p:spPr>
          <a:xfrm>
            <a:off x="612648" y="2240280"/>
            <a:ext cx="1600200" cy="128016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txBox="1"/>
          <p:nvPr/>
        </p:nvSpPr>
        <p:spPr>
          <a:xfrm>
            <a:off x="749808" y="2331720"/>
            <a:ext cx="1280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IBM Plex Sans"/>
              <a:buNone/>
            </a:pPr>
            <a:r>
              <a:rPr b="0" i="0" lang="en-US" sz="1300" u="none" cap="none" strike="noStrike">
                <a:solidFill>
                  <a:schemeClr val="dk1"/>
                </a:solidFill>
                <a:latin typeface="IBM Plex Sans"/>
                <a:ea typeface="IBM Plex Sans"/>
                <a:cs typeface="IBM Plex Sans"/>
                <a:sym typeface="IBM Plex Sans"/>
              </a:rPr>
              <a:t>Storage</a:t>
            </a:r>
            <a:endParaRPr b="0" i="0" sz="1300" u="none" cap="none" strike="noStrike">
              <a:solidFill>
                <a:schemeClr val="dk1"/>
              </a:solidFill>
              <a:latin typeface="IBM Plex Sans"/>
              <a:ea typeface="IBM Plex Sans"/>
              <a:cs typeface="IBM Plex Sans"/>
              <a:sym typeface="IBM Plex Sans"/>
            </a:endParaRPr>
          </a:p>
        </p:txBody>
      </p:sp>
      <p:sp>
        <p:nvSpPr>
          <p:cNvPr id="40" name="Google Shape;40;p6"/>
          <p:cNvSpPr/>
          <p:nvPr/>
        </p:nvSpPr>
        <p:spPr>
          <a:xfrm>
            <a:off x="749808" y="2788920"/>
            <a:ext cx="822960" cy="73152"/>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p:nvPr/>
        </p:nvSpPr>
        <p:spPr>
          <a:xfrm>
            <a:off x="749808" y="2907792"/>
            <a:ext cx="822960" cy="73152"/>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p:nvPr/>
        </p:nvSpPr>
        <p:spPr>
          <a:xfrm>
            <a:off x="749808" y="3026664"/>
            <a:ext cx="822960" cy="73152"/>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6"/>
          <p:cNvSpPr/>
          <p:nvPr/>
        </p:nvSpPr>
        <p:spPr>
          <a:xfrm>
            <a:off x="3977640" y="2240280"/>
            <a:ext cx="1600200" cy="128016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txBox="1"/>
          <p:nvPr/>
        </p:nvSpPr>
        <p:spPr>
          <a:xfrm>
            <a:off x="4114800" y="2331720"/>
            <a:ext cx="1280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IBM Plex Sans"/>
              <a:buNone/>
            </a:pPr>
            <a:r>
              <a:rPr b="0" i="0" lang="en-US" sz="1300" u="none" cap="none" strike="noStrike">
                <a:solidFill>
                  <a:schemeClr val="dk1"/>
                </a:solidFill>
                <a:latin typeface="IBM Plex Sans"/>
                <a:ea typeface="IBM Plex Sans"/>
                <a:cs typeface="IBM Plex Sans"/>
                <a:sym typeface="IBM Plex Sans"/>
              </a:rPr>
              <a:t>Compute</a:t>
            </a:r>
            <a:endParaRPr b="0" i="0" sz="1300" u="none" cap="none" strike="noStrike">
              <a:solidFill>
                <a:schemeClr val="dk1"/>
              </a:solidFill>
              <a:latin typeface="IBM Plex Sans"/>
              <a:ea typeface="IBM Plex Sans"/>
              <a:cs typeface="IBM Plex Sans"/>
              <a:sym typeface="IBM Plex Sans"/>
            </a:endParaRPr>
          </a:p>
        </p:txBody>
      </p:sp>
      <p:sp>
        <p:nvSpPr>
          <p:cNvPr id="45" name="Google Shape;45;p6"/>
          <p:cNvSpPr/>
          <p:nvPr/>
        </p:nvSpPr>
        <p:spPr>
          <a:xfrm>
            <a:off x="4114800" y="2743200"/>
            <a:ext cx="548640" cy="54864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txBox="1"/>
          <p:nvPr/>
        </p:nvSpPr>
        <p:spPr>
          <a:xfrm>
            <a:off x="4114800" y="274320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2040"/>
              <a:buFont typeface="IBM Plex Sans"/>
              <a:buNone/>
            </a:pPr>
            <a:r>
              <a:rPr b="0" i="1" lang="en-US" sz="2040" u="none" cap="none" strike="noStrike">
                <a:solidFill>
                  <a:schemeClr val="accent1"/>
                </a:solidFill>
                <a:latin typeface="IBM Plex Sans"/>
                <a:ea typeface="IBM Plex Sans"/>
                <a:cs typeface="IBM Plex Sans"/>
                <a:sym typeface="IBM Plex Sans"/>
              </a:rPr>
              <a:t>ƒ</a:t>
            </a:r>
            <a:endParaRPr b="0" i="0" sz="2040" u="none" cap="none" strike="noStrike">
              <a:solidFill>
                <a:schemeClr val="dk1"/>
              </a:solidFill>
              <a:latin typeface="IBM Plex Sans"/>
              <a:ea typeface="IBM Plex Sans"/>
              <a:cs typeface="IBM Plex Sans"/>
              <a:sym typeface="IBM Plex Sans"/>
            </a:endParaRPr>
          </a:p>
        </p:txBody>
      </p:sp>
      <p:cxnSp>
        <p:nvCxnSpPr>
          <p:cNvPr id="47" name="Google Shape;47;p6"/>
          <p:cNvCxnSpPr/>
          <p:nvPr/>
        </p:nvCxnSpPr>
        <p:spPr>
          <a:xfrm>
            <a:off x="2212848" y="2697480"/>
            <a:ext cx="1764792" cy="0"/>
          </a:xfrm>
          <a:prstGeom prst="straightConnector1">
            <a:avLst/>
          </a:prstGeom>
          <a:noFill/>
          <a:ln cap="flat" cmpd="sng" w="15875">
            <a:solidFill>
              <a:schemeClr val="dk1"/>
            </a:solidFill>
            <a:prstDash val="solid"/>
            <a:round/>
            <a:headEnd len="sm" w="sm" type="none"/>
            <a:tailEnd len="med" w="med" type="triangle"/>
          </a:ln>
        </p:spPr>
      </p:cxnSp>
      <p:sp>
        <p:nvSpPr>
          <p:cNvPr id="48" name="Google Shape;48;p6"/>
          <p:cNvSpPr txBox="1"/>
          <p:nvPr/>
        </p:nvSpPr>
        <p:spPr>
          <a:xfrm>
            <a:off x="2212848" y="2395728"/>
            <a:ext cx="1764792" cy="25603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input</a:t>
            </a:r>
            <a:endParaRPr b="0" i="0" sz="1100" u="none" cap="none" strike="noStrike">
              <a:solidFill>
                <a:schemeClr val="dk1"/>
              </a:solidFill>
              <a:latin typeface="IBM Plex Sans"/>
              <a:ea typeface="IBM Plex Sans"/>
              <a:cs typeface="IBM Plex Sans"/>
              <a:sym typeface="IBM Plex Sans"/>
            </a:endParaRPr>
          </a:p>
        </p:txBody>
      </p:sp>
      <p:cxnSp>
        <p:nvCxnSpPr>
          <p:cNvPr id="49" name="Google Shape;49;p6"/>
          <p:cNvCxnSpPr/>
          <p:nvPr/>
        </p:nvCxnSpPr>
        <p:spPr>
          <a:xfrm rot="10800000">
            <a:off x="2212848" y="3154680"/>
            <a:ext cx="1764792" cy="0"/>
          </a:xfrm>
          <a:prstGeom prst="straightConnector1">
            <a:avLst/>
          </a:prstGeom>
          <a:noFill/>
          <a:ln cap="flat" cmpd="sng" w="15875">
            <a:solidFill>
              <a:schemeClr val="accent1"/>
            </a:solidFill>
            <a:prstDash val="solid"/>
            <a:round/>
            <a:headEnd len="sm" w="sm" type="none"/>
            <a:tailEnd len="med" w="med" type="triangle"/>
          </a:ln>
        </p:spPr>
      </p:cxnSp>
      <p:sp>
        <p:nvSpPr>
          <p:cNvPr id="50" name="Google Shape;50;p6"/>
          <p:cNvSpPr txBox="1"/>
          <p:nvPr/>
        </p:nvSpPr>
        <p:spPr>
          <a:xfrm>
            <a:off x="2212848" y="3218688"/>
            <a:ext cx="1764792" cy="25603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1"/>
              </a:buClr>
              <a:buSzPts val="1100"/>
              <a:buFont typeface="IBM Plex Mono"/>
              <a:buNone/>
            </a:pPr>
            <a:r>
              <a:rPr b="0" i="0" lang="en-US" sz="1100" u="none" cap="none" strike="noStrike">
                <a:solidFill>
                  <a:schemeClr val="accent1"/>
                </a:solidFill>
                <a:latin typeface="IBM Plex Mono"/>
                <a:ea typeface="IBM Plex Mono"/>
                <a:cs typeface="IBM Plex Mono"/>
                <a:sym typeface="IBM Plex Mono"/>
              </a:rPr>
              <a:t>output</a:t>
            </a:r>
            <a:endParaRPr b="0" i="0" sz="1100" u="none" cap="none" strike="noStrike">
              <a:solidFill>
                <a:schemeClr val="dk1"/>
              </a:solidFill>
              <a:latin typeface="IBM Plex Sans"/>
              <a:ea typeface="IBM Plex Sans"/>
              <a:cs typeface="IBM Plex Sans"/>
              <a:sym typeface="IBM Plex Sans"/>
            </a:endParaRPr>
          </a:p>
        </p:txBody>
      </p:sp>
      <p:sp>
        <p:nvSpPr>
          <p:cNvPr id="51" name="Google Shape;51;p6"/>
          <p:cNvSpPr txBox="1"/>
          <p:nvPr/>
        </p:nvSpPr>
        <p:spPr>
          <a:xfrm>
            <a:off x="612648" y="3931920"/>
            <a:ext cx="2743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IBM Plex Sans Medium"/>
              <a:buNone/>
            </a:pPr>
            <a:r>
              <a:rPr b="0" i="0" lang="en-US" sz="1800" u="none" cap="none" strike="noStrike">
                <a:solidFill>
                  <a:schemeClr val="dk1"/>
                </a:solidFill>
                <a:latin typeface="IBM Plex Sans Medium"/>
                <a:ea typeface="IBM Plex Sans Medium"/>
                <a:cs typeface="IBM Plex Sans Medium"/>
                <a:sym typeface="IBM Plex Sans Medium"/>
              </a:rPr>
              <a:t>Combined</a:t>
            </a:r>
            <a:endParaRPr b="0" i="0" sz="1800" u="none" cap="none" strike="noStrike">
              <a:solidFill>
                <a:schemeClr val="dk1"/>
              </a:solidFill>
              <a:latin typeface="IBM Plex Sans"/>
              <a:ea typeface="IBM Plex Sans"/>
              <a:cs typeface="IBM Plex Sans"/>
              <a:sym typeface="IBM Plex Sans"/>
            </a:endParaRPr>
          </a:p>
        </p:txBody>
      </p:sp>
      <p:sp>
        <p:nvSpPr>
          <p:cNvPr id="52" name="Google Shape;52;p6"/>
          <p:cNvSpPr/>
          <p:nvPr/>
        </p:nvSpPr>
        <p:spPr>
          <a:xfrm>
            <a:off x="612648" y="4389120"/>
            <a:ext cx="4965192" cy="128016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txBox="1"/>
          <p:nvPr/>
        </p:nvSpPr>
        <p:spPr>
          <a:xfrm>
            <a:off x="749808" y="4480560"/>
            <a:ext cx="2743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IBM Plex Sans"/>
              <a:buNone/>
            </a:pPr>
            <a:r>
              <a:rPr b="0" i="0" lang="en-US" sz="1300" u="none" cap="none" strike="noStrike">
                <a:solidFill>
                  <a:schemeClr val="dk1"/>
                </a:solidFill>
                <a:latin typeface="IBM Plex Sans"/>
                <a:ea typeface="IBM Plex Sans"/>
                <a:cs typeface="IBM Plex Sans"/>
                <a:sym typeface="IBM Plex Sans"/>
              </a:rPr>
              <a:t>Storage + compute</a:t>
            </a:r>
            <a:endParaRPr b="0" i="0" sz="1300" u="none" cap="none" strike="noStrike">
              <a:solidFill>
                <a:schemeClr val="dk1"/>
              </a:solidFill>
              <a:latin typeface="IBM Plex Sans"/>
              <a:ea typeface="IBM Plex Sans"/>
              <a:cs typeface="IBM Plex Sans"/>
              <a:sym typeface="IBM Plex Sans"/>
            </a:endParaRPr>
          </a:p>
        </p:txBody>
      </p:sp>
      <p:sp>
        <p:nvSpPr>
          <p:cNvPr id="54" name="Google Shape;54;p6"/>
          <p:cNvSpPr/>
          <p:nvPr/>
        </p:nvSpPr>
        <p:spPr>
          <a:xfrm>
            <a:off x="749808" y="4937760"/>
            <a:ext cx="822960" cy="73152"/>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a:off x="749808" y="5056632"/>
            <a:ext cx="822960" cy="73152"/>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p:nvPr/>
        </p:nvSpPr>
        <p:spPr>
          <a:xfrm>
            <a:off x="749808" y="5175504"/>
            <a:ext cx="822960" cy="73152"/>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 name="Google Shape;57;p6"/>
          <p:cNvCxnSpPr/>
          <p:nvPr/>
        </p:nvCxnSpPr>
        <p:spPr>
          <a:xfrm>
            <a:off x="1783080" y="5056632"/>
            <a:ext cx="822960" cy="0"/>
          </a:xfrm>
          <a:prstGeom prst="straightConnector1">
            <a:avLst/>
          </a:prstGeom>
          <a:noFill/>
          <a:ln cap="flat" cmpd="sng" w="15875">
            <a:solidFill>
              <a:schemeClr val="dk1"/>
            </a:solidFill>
            <a:prstDash val="solid"/>
            <a:round/>
            <a:headEnd len="sm" w="sm" type="none"/>
            <a:tailEnd len="med" w="med" type="triangle"/>
          </a:ln>
        </p:spPr>
      </p:cxnSp>
      <p:sp>
        <p:nvSpPr>
          <p:cNvPr id="58" name="Google Shape;58;p6"/>
          <p:cNvSpPr/>
          <p:nvPr/>
        </p:nvSpPr>
        <p:spPr>
          <a:xfrm>
            <a:off x="2788920" y="4800600"/>
            <a:ext cx="548640" cy="54864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txBox="1"/>
          <p:nvPr/>
        </p:nvSpPr>
        <p:spPr>
          <a:xfrm>
            <a:off x="2788920" y="480060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2040"/>
              <a:buFont typeface="IBM Plex Sans"/>
              <a:buNone/>
            </a:pPr>
            <a:r>
              <a:rPr b="0" i="1" lang="en-US" sz="2040" u="none" cap="none" strike="noStrike">
                <a:solidFill>
                  <a:schemeClr val="accent1"/>
                </a:solidFill>
                <a:latin typeface="IBM Plex Sans"/>
                <a:ea typeface="IBM Plex Sans"/>
                <a:cs typeface="IBM Plex Sans"/>
                <a:sym typeface="IBM Plex Sans"/>
              </a:rPr>
              <a:t>ƒ</a:t>
            </a:r>
            <a:endParaRPr b="0" i="0" sz="2040" u="none" cap="none" strike="noStrike">
              <a:solidFill>
                <a:schemeClr val="dk1"/>
              </a:solidFill>
              <a:latin typeface="IBM Plex Sans"/>
              <a:ea typeface="IBM Plex Sans"/>
              <a:cs typeface="IBM Plex Sans"/>
              <a:sym typeface="IBM Plex Sans"/>
            </a:endParaRPr>
          </a:p>
        </p:txBody>
      </p:sp>
      <p:sp>
        <p:nvSpPr>
          <p:cNvPr id="60" name="Google Shape;60;p6"/>
          <p:cNvSpPr txBox="1"/>
          <p:nvPr/>
        </p:nvSpPr>
        <p:spPr>
          <a:xfrm>
            <a:off x="3520440" y="4800600"/>
            <a:ext cx="2011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local read → process</a:t>
            </a:r>
            <a:endParaRPr b="0" i="0" sz="1100" u="none" cap="none" strike="noStrike">
              <a:solidFill>
                <a:schemeClr val="dk1"/>
              </a:solidFill>
              <a:latin typeface="IBM Plex Sans"/>
              <a:ea typeface="IBM Plex Sans"/>
              <a:cs typeface="IBM Plex Sans"/>
              <a:sym typeface="IBM Plex Sans"/>
            </a:endParaRPr>
          </a:p>
        </p:txBody>
      </p:sp>
      <p:sp>
        <p:nvSpPr>
          <p:cNvPr id="61" name="Google Shape;61;p6"/>
          <p:cNvSpPr txBox="1"/>
          <p:nvPr/>
        </p:nvSpPr>
        <p:spPr>
          <a:xfrm>
            <a:off x="6949440" y="1828800"/>
            <a:ext cx="4572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DROID, RLDS → LEROBOT</a:t>
            </a:r>
            <a:endParaRPr b="0" i="0" sz="1100" u="none" cap="none" strike="noStrike">
              <a:solidFill>
                <a:schemeClr val="dk1"/>
              </a:solidFill>
              <a:latin typeface="IBM Plex Sans"/>
              <a:ea typeface="IBM Plex Sans"/>
              <a:cs typeface="IBM Plex Sans"/>
              <a:sym typeface="IBM Plex Sans"/>
            </a:endParaRPr>
          </a:p>
        </p:txBody>
      </p:sp>
      <p:sp>
        <p:nvSpPr>
          <p:cNvPr id="62" name="Google Shape;62;p6"/>
          <p:cNvSpPr txBox="1"/>
          <p:nvPr/>
        </p:nvSpPr>
        <p:spPr>
          <a:xfrm>
            <a:off x="6949440" y="2148840"/>
            <a:ext cx="4636008"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3000"/>
              <a:buFont typeface="IBM Plex Sans Medium"/>
              <a:buNone/>
            </a:pPr>
            <a:r>
              <a:rPr b="0" i="0" lang="en-US" sz="3000" u="none" cap="none" strike="noStrike">
                <a:solidFill>
                  <a:schemeClr val="dk1"/>
                </a:solidFill>
                <a:latin typeface="IBM Plex Sans Medium"/>
                <a:ea typeface="IBM Plex Sans Medium"/>
                <a:cs typeface="IBM Plex Sans Medium"/>
                <a:sym typeface="IBM Plex Sans Medium"/>
              </a:rPr>
              <a:t>1.7 TB → ≈ 400 GB</a:t>
            </a:r>
            <a:endParaRPr b="0" i="0" sz="3000" u="none" cap="none" strike="noStrike">
              <a:solidFill>
                <a:schemeClr val="dk1"/>
              </a:solidFill>
              <a:latin typeface="IBM Plex Sans"/>
              <a:ea typeface="IBM Plex Sans"/>
              <a:cs typeface="IBM Plex Sans"/>
              <a:sym typeface="IBM Plex Sans"/>
            </a:endParaRPr>
          </a:p>
        </p:txBody>
      </p:sp>
      <p:sp>
        <p:nvSpPr>
          <p:cNvPr id="63" name="Google Shape;63;p6"/>
          <p:cNvSpPr txBox="1"/>
          <p:nvPr/>
        </p:nvSpPr>
        <p:spPr>
          <a:xfrm>
            <a:off x="6949440" y="2743200"/>
            <a:ext cx="4636008"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IBM Plex Sans"/>
              <a:buNone/>
            </a:pPr>
            <a:r>
              <a:rPr b="0" i="0" lang="en-US" sz="1400" u="none" cap="none" strike="noStrike">
                <a:solidFill>
                  <a:schemeClr val="dk2"/>
                </a:solidFill>
                <a:latin typeface="IBM Plex Sans"/>
                <a:ea typeface="IBM Plex Sans"/>
                <a:cs typeface="IBM Plex Sans"/>
                <a:sym typeface="IBM Plex Sans"/>
              </a:rPr>
              <a:t>input and output sizes in Hugging Face's porting guide</a:t>
            </a:r>
            <a:endParaRPr b="0" i="0" sz="1400" u="none" cap="none" strike="noStrike">
              <a:solidFill>
                <a:schemeClr val="dk1"/>
              </a:solidFill>
              <a:latin typeface="IBM Plex Sans"/>
              <a:ea typeface="IBM Plex Sans"/>
              <a:cs typeface="IBM Plex Sans"/>
              <a:sym typeface="IBM Plex Sans"/>
            </a:endParaRPr>
          </a:p>
        </p:txBody>
      </p:sp>
      <p:cxnSp>
        <p:nvCxnSpPr>
          <p:cNvPr id="64" name="Google Shape;64;p6"/>
          <p:cNvCxnSpPr/>
          <p:nvPr/>
        </p:nvCxnSpPr>
        <p:spPr>
          <a:xfrm>
            <a:off x="6949440" y="3429000"/>
            <a:ext cx="4636008" cy="0"/>
          </a:xfrm>
          <a:prstGeom prst="straightConnector1">
            <a:avLst/>
          </a:prstGeom>
          <a:noFill/>
          <a:ln cap="flat" cmpd="sng" w="9525">
            <a:solidFill>
              <a:schemeClr val="accent3"/>
            </a:solidFill>
            <a:prstDash val="solid"/>
            <a:round/>
            <a:headEnd len="sm" w="sm" type="none"/>
            <a:tailEnd len="sm" w="sm" type="none"/>
          </a:ln>
        </p:spPr>
      </p:cxnSp>
      <p:sp>
        <p:nvSpPr>
          <p:cNvPr id="65" name="Google Shape;65;p6"/>
          <p:cNvSpPr txBox="1"/>
          <p:nvPr/>
        </p:nvSpPr>
        <p:spPr>
          <a:xfrm>
            <a:off x="6949440" y="3703320"/>
            <a:ext cx="4572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GOAL IN THE PROPOSAL</a:t>
            </a:r>
            <a:endParaRPr b="0" i="0" sz="1100" u="none" cap="none" strike="noStrike">
              <a:solidFill>
                <a:schemeClr val="dk1"/>
              </a:solidFill>
              <a:latin typeface="IBM Plex Sans"/>
              <a:ea typeface="IBM Plex Sans"/>
              <a:cs typeface="IBM Plex Sans"/>
              <a:sym typeface="IBM Plex Sans"/>
            </a:endParaRPr>
          </a:p>
        </p:txBody>
      </p:sp>
      <p:sp>
        <p:nvSpPr>
          <p:cNvPr id="66" name="Google Shape;66;p6"/>
          <p:cNvSpPr txBox="1"/>
          <p:nvPr/>
        </p:nvSpPr>
        <p:spPr>
          <a:xfrm>
            <a:off x="6949440" y="3977640"/>
            <a:ext cx="463600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5400"/>
              <a:buFont typeface="IBM Plex Sans Medium"/>
              <a:buNone/>
            </a:pPr>
            <a:r>
              <a:rPr b="0" i="0" lang="en-US" sz="5400" u="none" cap="none" strike="noStrike">
                <a:solidFill>
                  <a:schemeClr val="accent1"/>
                </a:solidFill>
                <a:latin typeface="IBM Plex Sans Medium"/>
                <a:ea typeface="IBM Plex Sans Medium"/>
                <a:cs typeface="IBM Plex Sans Medium"/>
                <a:sym typeface="IBM Plex Sans Medium"/>
              </a:rPr>
              <a:t>≈ −70%</a:t>
            </a:r>
            <a:endParaRPr b="0" i="0" sz="5400" u="none" cap="none" strike="noStrike">
              <a:solidFill>
                <a:schemeClr val="dk1"/>
              </a:solidFill>
              <a:latin typeface="IBM Plex Sans"/>
              <a:ea typeface="IBM Plex Sans"/>
              <a:cs typeface="IBM Plex Sans"/>
              <a:sym typeface="IBM Plex Sans"/>
            </a:endParaRPr>
          </a:p>
        </p:txBody>
      </p:sp>
      <p:sp>
        <p:nvSpPr>
          <p:cNvPr id="67" name="Google Shape;67;p6"/>
          <p:cNvSpPr txBox="1"/>
          <p:nvPr/>
        </p:nvSpPr>
        <p:spPr>
          <a:xfrm>
            <a:off x="6949440" y="4892040"/>
            <a:ext cx="4636008"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IBM Plex Sans"/>
              <a:buNone/>
            </a:pPr>
            <a:r>
              <a:rPr b="0" i="0" lang="en-US" sz="1600" u="none" cap="none" strike="noStrike">
                <a:solidFill>
                  <a:schemeClr val="dk1"/>
                </a:solidFill>
                <a:latin typeface="IBM Plex Sans"/>
                <a:ea typeface="IBM Plex Sans"/>
                <a:cs typeface="IBM Plex Sans"/>
                <a:sym typeface="IBM Plex Sans"/>
              </a:rPr>
              <a:t>network bytes,</a:t>
            </a:r>
            <a:endParaRPr b="0" i="0" sz="1600" u="none" cap="none" strike="noStrike">
              <a:solidFill>
                <a:schemeClr val="dk1"/>
              </a:solidFill>
              <a:latin typeface="IBM Plex Sans"/>
              <a:ea typeface="IBM Plex Sans"/>
              <a:cs typeface="IBM Plex Sans"/>
              <a:sym typeface="IBM Plex Sans"/>
            </a:endParaRPr>
          </a:p>
          <a:p>
            <a:pPr indent="0" lvl="0" marL="0" marR="0" rtl="0" algn="l">
              <a:spcBef>
                <a:spcPts val="0"/>
              </a:spcBef>
              <a:spcAft>
                <a:spcPts val="0"/>
              </a:spcAft>
              <a:buClr>
                <a:schemeClr val="dk1"/>
              </a:buClr>
              <a:buSzPts val="1600"/>
              <a:buFont typeface="IBM Plex Sans"/>
              <a:buNone/>
            </a:pPr>
            <a:r>
              <a:rPr b="0" i="0" lang="en-US" sz="1600" u="none" cap="none" strike="noStrike">
                <a:solidFill>
                  <a:schemeClr val="dk1"/>
                </a:solidFill>
                <a:latin typeface="IBM Plex Sans"/>
                <a:ea typeface="IBM Plex Sans"/>
                <a:cs typeface="IBM Plex Sans"/>
                <a:sym typeface="IBM Plex Sans"/>
              </a:rPr>
              <a:t>with runtime no worse than the baseline</a:t>
            </a:r>
            <a:endParaRPr b="0" i="0" sz="1600" u="none" cap="none" strike="noStrike">
              <a:solidFill>
                <a:schemeClr val="dk1"/>
              </a:solidFill>
              <a:latin typeface="IBM Plex Sans"/>
              <a:ea typeface="IBM Plex Sans"/>
              <a:cs typeface="IBM Plex Sans"/>
              <a:sym typeface="IBM Plex Sans"/>
            </a:endParaRPr>
          </a:p>
        </p:txBody>
      </p:sp>
      <p:sp>
        <p:nvSpPr>
          <p:cNvPr id="68" name="Google Shape;68;p6"/>
          <p:cNvSpPr txBox="1"/>
          <p:nvPr>
            <p:ph idx="4294967295" type="sldNum"/>
          </p:nvPr>
        </p:nvSpPr>
        <p:spPr>
          <a:xfrm>
            <a:off x="11128248" y="6382512"/>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86574"/>
                </a:solidFill>
                <a:latin typeface="IBM Plex Mono"/>
                <a:ea typeface="IBM Plex Mono"/>
                <a:cs typeface="IBM Plex Mono"/>
                <a:sym typeface="IBM Plex Mono"/>
              </a:rPr>
              <a:t>‹#›</a:t>
            </a:fld>
            <a:endParaRPr b="0" i="0" sz="1000" u="none" cap="none" strike="noStrike">
              <a:solidFill>
                <a:srgbClr val="586574"/>
              </a:solidFill>
              <a:latin typeface="IBM Plex Mono"/>
              <a:ea typeface="IBM Plex Mono"/>
              <a:cs typeface="IBM Plex Mono"/>
              <a:sym typeface="IBM Plex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7"/>
          <p:cNvSpPr txBox="1"/>
          <p:nvPr>
            <p:ph type="title"/>
          </p:nvPr>
        </p:nvSpPr>
        <p:spPr>
          <a:xfrm>
            <a:off x="612648" y="393192"/>
            <a:ext cx="10972800" cy="5943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400"/>
              <a:buFont typeface="IBM Plex Sans Medium"/>
              <a:buNone/>
            </a:pPr>
            <a:r>
              <a:rPr lang="en-US" sz="3400">
                <a:solidFill>
                  <a:schemeClr val="dk1"/>
                </a:solidFill>
              </a:rPr>
              <a:t>Demo 2 milestone</a:t>
            </a:r>
            <a:endParaRPr sz="3400"/>
          </a:p>
        </p:txBody>
      </p:sp>
      <p:sp>
        <p:nvSpPr>
          <p:cNvPr id="75" name="Google Shape;75;p7"/>
          <p:cNvSpPr txBox="1"/>
          <p:nvPr>
            <p:ph idx="1" type="body"/>
          </p:nvPr>
        </p:nvSpPr>
        <p:spPr>
          <a:xfrm>
            <a:off x="612648" y="1088136"/>
            <a:ext cx="109728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700"/>
              <a:buNone/>
            </a:pPr>
            <a:r>
              <a:rPr lang="en-US" sz="1700">
                <a:solidFill>
                  <a:schemeClr val="dk2"/>
                </a:solidFill>
              </a:rPr>
              <a:t>As committed in the design proposal: all four parts are done</a:t>
            </a:r>
            <a:endParaRPr sz="1700"/>
          </a:p>
        </p:txBody>
      </p:sp>
      <p:sp>
        <p:nvSpPr>
          <p:cNvPr id="76" name="Google Shape;76;p7"/>
          <p:cNvSpPr/>
          <p:nvPr/>
        </p:nvSpPr>
        <p:spPr>
          <a:xfrm>
            <a:off x="612648" y="1856232"/>
            <a:ext cx="621792" cy="310896"/>
          </a:xfrm>
          <a:prstGeom prst="roundRect">
            <a:avLst>
              <a:gd fmla="val 23529"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7"/>
          <p:cNvSpPr txBox="1"/>
          <p:nvPr/>
        </p:nvSpPr>
        <p:spPr>
          <a:xfrm>
            <a:off x="612648" y="1856232"/>
            <a:ext cx="62179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IBM Plex Mono"/>
              <a:buNone/>
            </a:pPr>
            <a:r>
              <a:rPr b="0" i="0" lang="en-US" sz="1000" u="none" cap="none" strike="noStrike">
                <a:solidFill>
                  <a:schemeClr val="lt1"/>
                </a:solidFill>
                <a:latin typeface="IBM Plex Mono"/>
                <a:ea typeface="IBM Plex Mono"/>
                <a:cs typeface="IBM Plex Mono"/>
                <a:sym typeface="IBM Plex Mono"/>
              </a:rPr>
              <a:t>DONE</a:t>
            </a:r>
            <a:endParaRPr b="0" i="0" sz="1000" u="none" cap="none" strike="noStrike">
              <a:solidFill>
                <a:schemeClr val="dk1"/>
              </a:solidFill>
              <a:latin typeface="IBM Plex Sans"/>
              <a:ea typeface="IBM Plex Sans"/>
              <a:cs typeface="IBM Plex Sans"/>
              <a:sym typeface="IBM Plex Sans"/>
            </a:endParaRPr>
          </a:p>
        </p:txBody>
      </p:sp>
      <p:sp>
        <p:nvSpPr>
          <p:cNvPr id="78" name="Google Shape;78;p7"/>
          <p:cNvSpPr txBox="1"/>
          <p:nvPr/>
        </p:nvSpPr>
        <p:spPr>
          <a:xfrm>
            <a:off x="1371600" y="1801368"/>
            <a:ext cx="585216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IBM Plex Sans Medium"/>
              <a:buNone/>
            </a:pPr>
            <a:r>
              <a:rPr b="0" i="0" lang="en-US" sz="2000" u="none" cap="none" strike="noStrike">
                <a:solidFill>
                  <a:schemeClr val="dk1"/>
                </a:solidFill>
                <a:latin typeface="IBM Plex Sans Medium"/>
                <a:ea typeface="IBM Plex Sans Medium"/>
                <a:cs typeface="IBM Plex Sans Medium"/>
                <a:sym typeface="IBM Plex Sans Medium"/>
              </a:rPr>
              <a:t>Single-node Ceph cluster</a:t>
            </a:r>
            <a:endParaRPr b="0" i="0" sz="2000" u="none" cap="none" strike="noStrike">
              <a:solidFill>
                <a:schemeClr val="dk1"/>
              </a:solidFill>
              <a:latin typeface="IBM Plex Sans"/>
              <a:ea typeface="IBM Plex Sans"/>
              <a:cs typeface="IBM Plex Sans"/>
              <a:sym typeface="IBM Plex Sans"/>
            </a:endParaRPr>
          </a:p>
        </p:txBody>
      </p:sp>
      <p:sp>
        <p:nvSpPr>
          <p:cNvPr id="79" name="Google Shape;79;p7"/>
          <p:cNvSpPr txBox="1"/>
          <p:nvPr/>
        </p:nvSpPr>
        <p:spPr>
          <a:xfrm>
            <a:off x="1371600" y="2203704"/>
            <a:ext cx="7680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IBM Plex Sans"/>
              <a:buNone/>
            </a:pPr>
            <a:r>
              <a:rPr b="0" i="0" lang="en-US" sz="1400" u="none" cap="none" strike="noStrike">
                <a:solidFill>
                  <a:schemeClr val="dk2"/>
                </a:solidFill>
                <a:latin typeface="IBM Plex Sans"/>
                <a:ea typeface="IBM Plex Sans"/>
                <a:cs typeface="IBM Plex Sans"/>
                <a:sym typeface="IBM Plex Sans"/>
              </a:rPr>
              <a:t>MicroCeph (Ceph 19.2): 1 mon, 1 mgr, 1 mds, 3 OSDs; CephFS mounted on both nodes</a:t>
            </a:r>
            <a:endParaRPr b="0" i="0" sz="1400" u="none" cap="none" strike="noStrike">
              <a:solidFill>
                <a:schemeClr val="dk1"/>
              </a:solidFill>
              <a:latin typeface="IBM Plex Sans"/>
              <a:ea typeface="IBM Plex Sans"/>
              <a:cs typeface="IBM Plex Sans"/>
              <a:sym typeface="IBM Plex Sans"/>
            </a:endParaRPr>
          </a:p>
        </p:txBody>
      </p:sp>
      <p:sp>
        <p:nvSpPr>
          <p:cNvPr id="80" name="Google Shape;80;p7"/>
          <p:cNvSpPr txBox="1"/>
          <p:nvPr/>
        </p:nvSpPr>
        <p:spPr>
          <a:xfrm>
            <a:off x="9299448" y="1874520"/>
            <a:ext cx="22860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EXPERIMENT 01</a:t>
            </a:r>
            <a:endParaRPr b="0" i="0" sz="1100" u="none" cap="none" strike="noStrike">
              <a:solidFill>
                <a:schemeClr val="dk1"/>
              </a:solidFill>
              <a:latin typeface="IBM Plex Sans"/>
              <a:ea typeface="IBM Plex Sans"/>
              <a:cs typeface="IBM Plex Sans"/>
              <a:sym typeface="IBM Plex Sans"/>
            </a:endParaRPr>
          </a:p>
        </p:txBody>
      </p:sp>
      <p:cxnSp>
        <p:nvCxnSpPr>
          <p:cNvPr id="81" name="Google Shape;81;p7"/>
          <p:cNvCxnSpPr/>
          <p:nvPr/>
        </p:nvCxnSpPr>
        <p:spPr>
          <a:xfrm>
            <a:off x="1371600" y="2651760"/>
            <a:ext cx="10213848" cy="0"/>
          </a:xfrm>
          <a:prstGeom prst="straightConnector1">
            <a:avLst/>
          </a:prstGeom>
          <a:noFill/>
          <a:ln cap="flat" cmpd="sng" w="9525">
            <a:solidFill>
              <a:schemeClr val="accent3"/>
            </a:solidFill>
            <a:prstDash val="solid"/>
            <a:round/>
            <a:headEnd len="sm" w="sm" type="none"/>
            <a:tailEnd len="sm" w="sm" type="none"/>
          </a:ln>
        </p:spPr>
      </p:cxnSp>
      <p:sp>
        <p:nvSpPr>
          <p:cNvPr id="82" name="Google Shape;82;p7"/>
          <p:cNvSpPr/>
          <p:nvPr/>
        </p:nvSpPr>
        <p:spPr>
          <a:xfrm>
            <a:off x="612648" y="2788920"/>
            <a:ext cx="621792" cy="310896"/>
          </a:xfrm>
          <a:prstGeom prst="roundRect">
            <a:avLst>
              <a:gd fmla="val 23529"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txBox="1"/>
          <p:nvPr/>
        </p:nvSpPr>
        <p:spPr>
          <a:xfrm>
            <a:off x="612648" y="2788920"/>
            <a:ext cx="62179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IBM Plex Mono"/>
              <a:buNone/>
            </a:pPr>
            <a:r>
              <a:rPr b="0" i="0" lang="en-US" sz="1000" u="none" cap="none" strike="noStrike">
                <a:solidFill>
                  <a:schemeClr val="lt1"/>
                </a:solidFill>
                <a:latin typeface="IBM Plex Mono"/>
                <a:ea typeface="IBM Plex Mono"/>
                <a:cs typeface="IBM Plex Mono"/>
                <a:sym typeface="IBM Plex Mono"/>
              </a:rPr>
              <a:t>DONE</a:t>
            </a:r>
            <a:endParaRPr b="0" i="0" sz="1000" u="none" cap="none" strike="noStrike">
              <a:solidFill>
                <a:schemeClr val="dk1"/>
              </a:solidFill>
              <a:latin typeface="IBM Plex Sans"/>
              <a:ea typeface="IBM Plex Sans"/>
              <a:cs typeface="IBM Plex Sans"/>
              <a:sym typeface="IBM Plex Sans"/>
            </a:endParaRPr>
          </a:p>
        </p:txBody>
      </p:sp>
      <p:sp>
        <p:nvSpPr>
          <p:cNvPr id="84" name="Google Shape;84;p7"/>
          <p:cNvSpPr txBox="1"/>
          <p:nvPr/>
        </p:nvSpPr>
        <p:spPr>
          <a:xfrm>
            <a:off x="1371600" y="2734056"/>
            <a:ext cx="585216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IBM Plex Sans Medium"/>
              <a:buNone/>
            </a:pPr>
            <a:r>
              <a:rPr b="0" i="0" lang="en-US" sz="2000" u="none" cap="none" strike="noStrike">
                <a:solidFill>
                  <a:schemeClr val="dk1"/>
                </a:solidFill>
                <a:latin typeface="IBM Plex Sans Medium"/>
                <a:ea typeface="IBM Plex Sans Medium"/>
                <a:cs typeface="IBM Plex Sans Medium"/>
                <a:sym typeface="IBM Plex Sans Medium"/>
              </a:rPr>
              <a:t>Load → convert → write-back</a:t>
            </a:r>
            <a:endParaRPr b="0" i="0" sz="2000" u="none" cap="none" strike="noStrike">
              <a:solidFill>
                <a:schemeClr val="dk1"/>
              </a:solidFill>
              <a:latin typeface="IBM Plex Sans"/>
              <a:ea typeface="IBM Plex Sans"/>
              <a:cs typeface="IBM Plex Sans"/>
              <a:sym typeface="IBM Plex Sans"/>
            </a:endParaRPr>
          </a:p>
        </p:txBody>
      </p:sp>
      <p:sp>
        <p:nvSpPr>
          <p:cNvPr id="85" name="Google Shape;85;p7"/>
          <p:cNvSpPr txBox="1"/>
          <p:nvPr/>
        </p:nvSpPr>
        <p:spPr>
          <a:xfrm>
            <a:off x="1371600" y="3136392"/>
            <a:ext cx="7680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IBM Plex Sans"/>
              <a:buNone/>
            </a:pPr>
            <a:r>
              <a:rPr b="0" i="0" lang="en-US" sz="1400" u="none" cap="none" strike="noStrike">
                <a:solidFill>
                  <a:schemeClr val="dk2"/>
                </a:solidFill>
                <a:latin typeface="IBM Plex Sans"/>
                <a:ea typeface="IBM Plex Sans"/>
                <a:cs typeface="IBM Plex Sans"/>
                <a:sym typeface="IBM Plex Sans"/>
              </a:rPr>
              <a:t>Real DROID 1.0.1 shards, Hugging Face's converter unmodified, verified output</a:t>
            </a:r>
            <a:endParaRPr b="0" i="0" sz="1400" u="none" cap="none" strike="noStrike">
              <a:solidFill>
                <a:schemeClr val="dk1"/>
              </a:solidFill>
              <a:latin typeface="IBM Plex Sans"/>
              <a:ea typeface="IBM Plex Sans"/>
              <a:cs typeface="IBM Plex Sans"/>
              <a:sym typeface="IBM Plex Sans"/>
            </a:endParaRPr>
          </a:p>
        </p:txBody>
      </p:sp>
      <p:sp>
        <p:nvSpPr>
          <p:cNvPr id="86" name="Google Shape;86;p7"/>
          <p:cNvSpPr txBox="1"/>
          <p:nvPr/>
        </p:nvSpPr>
        <p:spPr>
          <a:xfrm>
            <a:off x="9299448" y="2807208"/>
            <a:ext cx="22860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EXPERIMENTS 02–05</a:t>
            </a:r>
            <a:endParaRPr b="0" i="0" sz="1100" u="none" cap="none" strike="noStrike">
              <a:solidFill>
                <a:schemeClr val="dk1"/>
              </a:solidFill>
              <a:latin typeface="IBM Plex Sans"/>
              <a:ea typeface="IBM Plex Sans"/>
              <a:cs typeface="IBM Plex Sans"/>
              <a:sym typeface="IBM Plex Sans"/>
            </a:endParaRPr>
          </a:p>
        </p:txBody>
      </p:sp>
      <p:cxnSp>
        <p:nvCxnSpPr>
          <p:cNvPr id="87" name="Google Shape;87;p7"/>
          <p:cNvCxnSpPr/>
          <p:nvPr/>
        </p:nvCxnSpPr>
        <p:spPr>
          <a:xfrm>
            <a:off x="1371600" y="3584448"/>
            <a:ext cx="10213848" cy="0"/>
          </a:xfrm>
          <a:prstGeom prst="straightConnector1">
            <a:avLst/>
          </a:prstGeom>
          <a:noFill/>
          <a:ln cap="flat" cmpd="sng" w="9525">
            <a:solidFill>
              <a:schemeClr val="accent3"/>
            </a:solidFill>
            <a:prstDash val="solid"/>
            <a:round/>
            <a:headEnd len="sm" w="sm" type="none"/>
            <a:tailEnd len="sm" w="sm" type="none"/>
          </a:ln>
        </p:spPr>
      </p:cxnSp>
      <p:sp>
        <p:nvSpPr>
          <p:cNvPr id="88" name="Google Shape;88;p7"/>
          <p:cNvSpPr/>
          <p:nvPr/>
        </p:nvSpPr>
        <p:spPr>
          <a:xfrm>
            <a:off x="612648" y="3721608"/>
            <a:ext cx="621792" cy="310896"/>
          </a:xfrm>
          <a:prstGeom prst="roundRect">
            <a:avLst>
              <a:gd fmla="val 23529"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txBox="1"/>
          <p:nvPr/>
        </p:nvSpPr>
        <p:spPr>
          <a:xfrm>
            <a:off x="612648" y="3721608"/>
            <a:ext cx="62179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IBM Plex Mono"/>
              <a:buNone/>
            </a:pPr>
            <a:r>
              <a:rPr b="0" i="0" lang="en-US" sz="1000" u="none" cap="none" strike="noStrike">
                <a:solidFill>
                  <a:schemeClr val="lt1"/>
                </a:solidFill>
                <a:latin typeface="IBM Plex Mono"/>
                <a:ea typeface="IBM Plex Mono"/>
                <a:cs typeface="IBM Plex Mono"/>
                <a:sym typeface="IBM Plex Mono"/>
              </a:rPr>
              <a:t>DONE</a:t>
            </a:r>
            <a:endParaRPr b="0" i="0" sz="1000" u="none" cap="none" strike="noStrike">
              <a:solidFill>
                <a:schemeClr val="dk1"/>
              </a:solidFill>
              <a:latin typeface="IBM Plex Sans"/>
              <a:ea typeface="IBM Plex Sans"/>
              <a:cs typeface="IBM Plex Sans"/>
              <a:sym typeface="IBM Plex Sans"/>
            </a:endParaRPr>
          </a:p>
        </p:txBody>
      </p:sp>
      <p:sp>
        <p:nvSpPr>
          <p:cNvPr id="90" name="Google Shape;90;p7"/>
          <p:cNvSpPr txBox="1"/>
          <p:nvPr/>
        </p:nvSpPr>
        <p:spPr>
          <a:xfrm>
            <a:off x="1371600" y="3666744"/>
            <a:ext cx="585216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IBM Plex Sans Medium"/>
              <a:buNone/>
            </a:pPr>
            <a:r>
              <a:rPr b="0" i="0" lang="en-US" sz="2000" u="none" cap="none" strike="noStrike">
                <a:solidFill>
                  <a:schemeClr val="dk1"/>
                </a:solidFill>
                <a:latin typeface="IBM Plex Sans Medium"/>
                <a:ea typeface="IBM Plex Sans Medium"/>
                <a:cs typeface="IBM Plex Sans Medium"/>
                <a:sym typeface="IBM Plex Sans Medium"/>
              </a:rPr>
              <a:t>Background conversion service</a:t>
            </a:r>
            <a:endParaRPr b="0" i="0" sz="2000" u="none" cap="none" strike="noStrike">
              <a:solidFill>
                <a:schemeClr val="dk1"/>
              </a:solidFill>
              <a:latin typeface="IBM Plex Sans"/>
              <a:ea typeface="IBM Plex Sans"/>
              <a:cs typeface="IBM Plex Sans"/>
              <a:sym typeface="IBM Plex Sans"/>
            </a:endParaRPr>
          </a:p>
        </p:txBody>
      </p:sp>
      <p:sp>
        <p:nvSpPr>
          <p:cNvPr id="91" name="Google Shape;91;p7"/>
          <p:cNvSpPr txBox="1"/>
          <p:nvPr/>
        </p:nvSpPr>
        <p:spPr>
          <a:xfrm>
            <a:off x="1371600" y="4069080"/>
            <a:ext cx="7680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IBM Plex Sans"/>
              <a:buNone/>
            </a:pPr>
            <a:r>
              <a:rPr b="0" i="0" lang="en-US" sz="1400" u="none" cap="none" strike="noStrike">
                <a:solidFill>
                  <a:schemeClr val="dk2"/>
                </a:solidFill>
                <a:latin typeface="IBM Plex Sans"/>
                <a:ea typeface="IBM Plex Sans"/>
                <a:cs typeface="IBM Plex Sans"/>
                <a:sym typeface="IBM Plex Sans"/>
              </a:rPr>
              <a:t>Converts newly loaded data with no manual step</a:t>
            </a:r>
            <a:endParaRPr b="0" i="0" sz="1400" u="none" cap="none" strike="noStrike">
              <a:solidFill>
                <a:schemeClr val="dk1"/>
              </a:solidFill>
              <a:latin typeface="IBM Plex Sans"/>
              <a:ea typeface="IBM Plex Sans"/>
              <a:cs typeface="IBM Plex Sans"/>
              <a:sym typeface="IBM Plex Sans"/>
            </a:endParaRPr>
          </a:p>
        </p:txBody>
      </p:sp>
      <p:sp>
        <p:nvSpPr>
          <p:cNvPr id="92" name="Google Shape;92;p7"/>
          <p:cNvSpPr txBox="1"/>
          <p:nvPr/>
        </p:nvSpPr>
        <p:spPr>
          <a:xfrm>
            <a:off x="9299448" y="3739896"/>
            <a:ext cx="22860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EXPERIMENT 06</a:t>
            </a:r>
            <a:endParaRPr b="0" i="0" sz="1100" u="none" cap="none" strike="noStrike">
              <a:solidFill>
                <a:schemeClr val="dk1"/>
              </a:solidFill>
              <a:latin typeface="IBM Plex Sans"/>
              <a:ea typeface="IBM Plex Sans"/>
              <a:cs typeface="IBM Plex Sans"/>
              <a:sym typeface="IBM Plex Sans"/>
            </a:endParaRPr>
          </a:p>
        </p:txBody>
      </p:sp>
      <p:cxnSp>
        <p:nvCxnSpPr>
          <p:cNvPr id="93" name="Google Shape;93;p7"/>
          <p:cNvCxnSpPr/>
          <p:nvPr/>
        </p:nvCxnSpPr>
        <p:spPr>
          <a:xfrm>
            <a:off x="1371600" y="4517136"/>
            <a:ext cx="10213848" cy="0"/>
          </a:xfrm>
          <a:prstGeom prst="straightConnector1">
            <a:avLst/>
          </a:prstGeom>
          <a:noFill/>
          <a:ln cap="flat" cmpd="sng" w="9525">
            <a:solidFill>
              <a:schemeClr val="accent3"/>
            </a:solidFill>
            <a:prstDash val="solid"/>
            <a:round/>
            <a:headEnd len="sm" w="sm" type="none"/>
            <a:tailEnd len="sm" w="sm" type="none"/>
          </a:ln>
        </p:spPr>
      </p:cxnSp>
      <p:sp>
        <p:nvSpPr>
          <p:cNvPr id="94" name="Google Shape;94;p7"/>
          <p:cNvSpPr/>
          <p:nvPr/>
        </p:nvSpPr>
        <p:spPr>
          <a:xfrm>
            <a:off x="612648" y="4654296"/>
            <a:ext cx="621792" cy="310896"/>
          </a:xfrm>
          <a:prstGeom prst="roundRect">
            <a:avLst>
              <a:gd fmla="val 23529"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txBox="1"/>
          <p:nvPr/>
        </p:nvSpPr>
        <p:spPr>
          <a:xfrm>
            <a:off x="612648" y="4654296"/>
            <a:ext cx="62179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IBM Plex Mono"/>
              <a:buNone/>
            </a:pPr>
            <a:r>
              <a:rPr b="0" i="0" lang="en-US" sz="1000" u="none" cap="none" strike="noStrike">
                <a:solidFill>
                  <a:schemeClr val="lt1"/>
                </a:solidFill>
                <a:latin typeface="IBM Plex Mono"/>
                <a:ea typeface="IBM Plex Mono"/>
                <a:cs typeface="IBM Plex Mono"/>
                <a:sym typeface="IBM Plex Mono"/>
              </a:rPr>
              <a:t>DONE</a:t>
            </a:r>
            <a:endParaRPr b="0" i="0" sz="1000" u="none" cap="none" strike="noStrike">
              <a:solidFill>
                <a:schemeClr val="dk1"/>
              </a:solidFill>
              <a:latin typeface="IBM Plex Sans"/>
              <a:ea typeface="IBM Plex Sans"/>
              <a:cs typeface="IBM Plex Sans"/>
              <a:sym typeface="IBM Plex Sans"/>
            </a:endParaRPr>
          </a:p>
        </p:txBody>
      </p:sp>
      <p:sp>
        <p:nvSpPr>
          <p:cNvPr id="96" name="Google Shape;96;p7"/>
          <p:cNvSpPr txBox="1"/>
          <p:nvPr/>
        </p:nvSpPr>
        <p:spPr>
          <a:xfrm>
            <a:off x="1371600" y="4599432"/>
            <a:ext cx="585216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IBM Plex Sans Medium"/>
              <a:buNone/>
            </a:pPr>
            <a:r>
              <a:rPr b="0" i="0" lang="en-US" sz="2000" u="none" cap="none" strike="noStrike">
                <a:solidFill>
                  <a:schemeClr val="dk1"/>
                </a:solidFill>
                <a:latin typeface="IBM Plex Sans Medium"/>
                <a:ea typeface="IBM Plex Sans Medium"/>
                <a:cs typeface="IBM Plex Sans Medium"/>
                <a:sym typeface="IBM Plex Sans Medium"/>
              </a:rPr>
              <a:t>Separate-compute baseline</a:t>
            </a:r>
            <a:endParaRPr b="0" i="0" sz="2000" u="none" cap="none" strike="noStrike">
              <a:solidFill>
                <a:schemeClr val="dk1"/>
              </a:solidFill>
              <a:latin typeface="IBM Plex Sans"/>
              <a:ea typeface="IBM Plex Sans"/>
              <a:cs typeface="IBM Plex Sans"/>
              <a:sym typeface="IBM Plex Sans"/>
            </a:endParaRPr>
          </a:p>
        </p:txBody>
      </p:sp>
      <p:sp>
        <p:nvSpPr>
          <p:cNvPr id="97" name="Google Shape;97;p7"/>
          <p:cNvSpPr txBox="1"/>
          <p:nvPr/>
        </p:nvSpPr>
        <p:spPr>
          <a:xfrm>
            <a:off x="1371600" y="5001768"/>
            <a:ext cx="7680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IBM Plex Sans"/>
              <a:buNone/>
            </a:pPr>
            <a:r>
              <a:rPr b="0" i="0" lang="en-US" sz="1400" u="none" cap="none" strike="noStrike">
                <a:solidFill>
                  <a:schemeClr val="dk2"/>
                </a:solidFill>
                <a:latin typeface="IBM Plex Sans"/>
                <a:ea typeface="IBM Plex Sans"/>
                <a:cs typeface="IBM Plex Sans"/>
                <a:sym typeface="IBM Plex Sans"/>
              </a:rPr>
              <a:t>797 MB across the network and 304 s per shard, reproduced in a second run</a:t>
            </a:r>
            <a:endParaRPr b="0" i="0" sz="1400" u="none" cap="none" strike="noStrike">
              <a:solidFill>
                <a:schemeClr val="dk1"/>
              </a:solidFill>
              <a:latin typeface="IBM Plex Sans"/>
              <a:ea typeface="IBM Plex Sans"/>
              <a:cs typeface="IBM Plex Sans"/>
              <a:sym typeface="IBM Plex Sans"/>
            </a:endParaRPr>
          </a:p>
        </p:txBody>
      </p:sp>
      <p:sp>
        <p:nvSpPr>
          <p:cNvPr id="98" name="Google Shape;98;p7"/>
          <p:cNvSpPr txBox="1"/>
          <p:nvPr/>
        </p:nvSpPr>
        <p:spPr>
          <a:xfrm>
            <a:off x="9299448" y="4672584"/>
            <a:ext cx="22860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EXPERIMENTS 03, 07</a:t>
            </a:r>
            <a:endParaRPr b="0" i="0" sz="1100" u="none" cap="none" strike="noStrike">
              <a:solidFill>
                <a:schemeClr val="dk1"/>
              </a:solidFill>
              <a:latin typeface="IBM Plex Sans"/>
              <a:ea typeface="IBM Plex Sans"/>
              <a:cs typeface="IBM Plex Sans"/>
              <a:sym typeface="IBM Plex Sans"/>
            </a:endParaRPr>
          </a:p>
        </p:txBody>
      </p:sp>
      <p:sp>
        <p:nvSpPr>
          <p:cNvPr id="99" name="Google Shape;99;p7"/>
          <p:cNvSpPr/>
          <p:nvPr/>
        </p:nvSpPr>
        <p:spPr>
          <a:xfrm>
            <a:off x="612648" y="5596128"/>
            <a:ext cx="10972800" cy="5669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txBox="1"/>
          <p:nvPr/>
        </p:nvSpPr>
        <p:spPr>
          <a:xfrm>
            <a:off x="841248" y="559612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500"/>
              <a:buFont typeface="IBM Plex Sans Medium"/>
              <a:buNone/>
            </a:pPr>
            <a:r>
              <a:rPr b="0" i="0" lang="en-US" sz="1500" u="none" cap="none" strike="noStrike">
                <a:solidFill>
                  <a:schemeClr val="accent1"/>
                </a:solidFill>
                <a:latin typeface="IBM Plex Sans Medium"/>
                <a:ea typeface="IBM Plex Sans Medium"/>
                <a:cs typeface="IBM Plex Sans Medium"/>
                <a:sym typeface="IBM Plex Sans Medium"/>
              </a:rPr>
              <a:t>Also measured: </a:t>
            </a:r>
            <a:r>
              <a:rPr b="0" i="0" lang="en-US" sz="1500" u="none" cap="none" strike="noStrike">
                <a:solidFill>
                  <a:schemeClr val="dk1"/>
                </a:solidFill>
                <a:latin typeface="IBM Plex Sans"/>
                <a:ea typeface="IBM Plex Sans"/>
                <a:cs typeface="IBM Plex Sans"/>
                <a:sym typeface="IBM Plex Sans"/>
              </a:rPr>
              <a:t>the same jobs run on the storage node, compared against the baseline (results on slides 8–9)</a:t>
            </a:r>
            <a:endParaRPr b="0" i="0" sz="1500" u="none" cap="none" strike="noStrike">
              <a:solidFill>
                <a:schemeClr val="dk1"/>
              </a:solidFill>
              <a:latin typeface="IBM Plex Sans"/>
              <a:ea typeface="IBM Plex Sans"/>
              <a:cs typeface="IBM Plex Sans"/>
              <a:sym typeface="IBM Plex Sans"/>
            </a:endParaRPr>
          </a:p>
        </p:txBody>
      </p:sp>
      <p:sp>
        <p:nvSpPr>
          <p:cNvPr id="101" name="Google Shape;101;p7"/>
          <p:cNvSpPr txBox="1"/>
          <p:nvPr>
            <p:ph idx="4294967295" type="sldNum"/>
          </p:nvPr>
        </p:nvSpPr>
        <p:spPr>
          <a:xfrm>
            <a:off x="11128248" y="6382512"/>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86574"/>
                </a:solidFill>
                <a:latin typeface="IBM Plex Mono"/>
                <a:ea typeface="IBM Plex Mono"/>
                <a:cs typeface="IBM Plex Mono"/>
                <a:sym typeface="IBM Plex Mono"/>
              </a:rPr>
              <a:t>‹#›</a:t>
            </a:fld>
            <a:endParaRPr b="0" i="0" sz="1000" u="none" cap="none" strike="noStrike">
              <a:solidFill>
                <a:srgbClr val="586574"/>
              </a:solidFill>
              <a:latin typeface="IBM Plex Mono"/>
              <a:ea typeface="IBM Plex Mono"/>
              <a:cs typeface="IBM Plex Mono"/>
              <a:sym typeface="IBM Plex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8"/>
          <p:cNvSpPr txBox="1"/>
          <p:nvPr>
            <p:ph type="title"/>
          </p:nvPr>
        </p:nvSpPr>
        <p:spPr>
          <a:xfrm>
            <a:off x="612648" y="393192"/>
            <a:ext cx="10972800" cy="5943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400"/>
              <a:buFont typeface="IBM Plex Sans Medium"/>
              <a:buNone/>
            </a:pPr>
            <a:r>
              <a:rPr lang="en-US" sz="3400">
                <a:solidFill>
                  <a:schemeClr val="dk1"/>
                </a:solidFill>
              </a:rPr>
              <a:t>What changed since Demo 1</a:t>
            </a:r>
            <a:endParaRPr sz="3400"/>
          </a:p>
        </p:txBody>
      </p:sp>
      <p:sp>
        <p:nvSpPr>
          <p:cNvPr id="108" name="Google Shape;108;p8"/>
          <p:cNvSpPr txBox="1"/>
          <p:nvPr>
            <p:ph idx="1" type="body"/>
          </p:nvPr>
        </p:nvSpPr>
        <p:spPr>
          <a:xfrm>
            <a:off x="612648" y="1088136"/>
            <a:ext cx="109728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700"/>
              <a:buNone/>
            </a:pPr>
            <a:r>
              <a:rPr lang="en-US" sz="1700">
                <a:solidFill>
                  <a:schemeClr val="dk2"/>
                </a:solidFill>
              </a:rPr>
              <a:t>From the proposal to a running system</a:t>
            </a:r>
            <a:endParaRPr sz="1700"/>
          </a:p>
        </p:txBody>
      </p:sp>
      <p:graphicFrame>
        <p:nvGraphicFramePr>
          <p:cNvPr id="109" name="Google Shape;109;p8"/>
          <p:cNvGraphicFramePr/>
          <p:nvPr/>
        </p:nvGraphicFramePr>
        <p:xfrm>
          <a:off x="612648" y="1783080"/>
          <a:ext cx="3000000" cy="3000000"/>
        </p:xfrm>
        <a:graphic>
          <a:graphicData uri="http://schemas.openxmlformats.org/drawingml/2006/table">
            <a:tbl>
              <a:tblPr>
                <a:noFill/>
                <a:tableStyleId>{89178025-7CBC-43EB-82B9-7F38568BC399}</a:tableStyleId>
              </a:tblPr>
              <a:tblGrid>
                <a:gridCol w="1737350"/>
                <a:gridCol w="3657600"/>
                <a:gridCol w="5577850"/>
              </a:tblGrid>
              <a:tr h="384050">
                <a:tc>
                  <a:txBody>
                    <a:bodyPr/>
                    <a:lstStyle/>
                    <a:p>
                      <a:pPr indent="0" lvl="0" marL="0" marR="0" rtl="0" algn="l">
                        <a:spcBef>
                          <a:spcPts val="0"/>
                        </a:spcBef>
                        <a:spcAft>
                          <a:spcPts val="0"/>
                        </a:spcAft>
                        <a:buClr>
                          <a:schemeClr val="dk1"/>
                        </a:buClr>
                        <a:buSzPts val="1100"/>
                        <a:buFont typeface="IBM Plex Sans"/>
                        <a:buNone/>
                      </a:pPr>
                      <a:r>
                        <a:t/>
                      </a:r>
                      <a:endParaRPr sz="1100" u="none" cap="none" strike="noStrike">
                        <a:latin typeface="IBM Plex Mono"/>
                        <a:ea typeface="IBM Plex Mono"/>
                        <a:cs typeface="IBM Plex Mono"/>
                        <a:sym typeface="IBM Plex Mono"/>
                      </a:endParaRPr>
                    </a:p>
                  </a:txBody>
                  <a:tcPr marT="0" marB="73150" marR="9145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586574"/>
                        </a:buClr>
                        <a:buSzPts val="1100"/>
                        <a:buFont typeface="IBM Plex Mono"/>
                        <a:buNone/>
                      </a:pPr>
                      <a:r>
                        <a:rPr lang="en-US" sz="1100" u="none" cap="none" strike="noStrike">
                          <a:solidFill>
                            <a:srgbClr val="586574"/>
                          </a:solidFill>
                          <a:latin typeface="IBM Plex Mono"/>
                          <a:ea typeface="IBM Plex Mono"/>
                          <a:cs typeface="IBM Plex Mono"/>
                          <a:sym typeface="IBM Plex Mono"/>
                        </a:rPr>
                        <a:t>DEMO 1: PROPOSED</a:t>
                      </a:r>
                      <a:endParaRPr sz="1100" u="none" cap="none" strike="noStrike">
                        <a:latin typeface="IBM Plex Mono"/>
                        <a:ea typeface="IBM Plex Mono"/>
                        <a:cs typeface="IBM Plex Mono"/>
                        <a:sym typeface="IBM Plex Mono"/>
                      </a:endParaRPr>
                    </a:p>
                  </a:txBody>
                  <a:tcPr marT="0" marB="73150" marR="9145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F62FE"/>
                        </a:buClr>
                        <a:buSzPts val="1100"/>
                        <a:buFont typeface="IBM Plex Mono"/>
                        <a:buNone/>
                      </a:pPr>
                      <a:r>
                        <a:rPr lang="en-US" sz="1100" u="none" cap="none" strike="noStrike">
                          <a:solidFill>
                            <a:srgbClr val="0F62FE"/>
                          </a:solidFill>
                          <a:latin typeface="IBM Plex Mono"/>
                          <a:ea typeface="IBM Plex Mono"/>
                          <a:cs typeface="IBM Plex Mono"/>
                          <a:sym typeface="IBM Plex Mono"/>
                        </a:rPr>
                        <a:t>DEMO 2: BUILT</a:t>
                      </a:r>
                      <a:endParaRPr sz="1100" u="none" cap="none" strike="noStrike">
                        <a:latin typeface="IBM Plex Mono"/>
                        <a:ea typeface="IBM Plex Mono"/>
                        <a:cs typeface="IBM Plex Mono"/>
                        <a:sym typeface="IBM Plex Mono"/>
                      </a:endParaRPr>
                    </a:p>
                  </a:txBody>
                  <a:tcPr marT="0" marB="73150" marR="9145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r>
              <a:tr h="786375">
                <a:tc>
                  <a:txBody>
                    <a:bodyPr/>
                    <a:lstStyle/>
                    <a:p>
                      <a:pPr indent="0" lvl="0" marL="0" marR="0" rtl="0" algn="l">
                        <a:spcBef>
                          <a:spcPts val="0"/>
                        </a:spcBef>
                        <a:spcAft>
                          <a:spcPts val="0"/>
                        </a:spcAft>
                        <a:buClr>
                          <a:srgbClr val="171B21"/>
                        </a:buClr>
                        <a:buSzPts val="1400"/>
                        <a:buFont typeface="IBM Plex Sans Medium"/>
                        <a:buNone/>
                      </a:pPr>
                      <a:r>
                        <a:rPr lang="en-US" sz="1400" u="none" cap="none" strike="noStrike">
                          <a:solidFill>
                            <a:srgbClr val="171B21"/>
                          </a:solidFill>
                          <a:latin typeface="IBM Plex Sans Medium"/>
                          <a:ea typeface="IBM Plex Sans Medium"/>
                          <a:cs typeface="IBM Plex Sans Medium"/>
                          <a:sym typeface="IBM Plex Sans Medium"/>
                        </a:rPr>
                        <a:t>Storage</a:t>
                      </a:r>
                      <a:endParaRPr sz="1400" u="none" cap="none" strike="noStrike">
                        <a:latin typeface="IBM Plex Sans Medium"/>
                        <a:ea typeface="IBM Plex Sans Medium"/>
                        <a:cs typeface="IBM Plex Sans Medium"/>
                        <a:sym typeface="IBM Plex Sans Medium"/>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586574"/>
                        </a:buClr>
                        <a:buSzPts val="1400"/>
                        <a:buFont typeface="IBM Plex Sans"/>
                        <a:buNone/>
                      </a:pPr>
                      <a:r>
                        <a:rPr lang="en-US" sz="1400" u="none" cap="none" strike="noStrike">
                          <a:solidFill>
                            <a:srgbClr val="586574"/>
                          </a:solidFill>
                          <a:latin typeface="IBM Plex Sans"/>
                          <a:ea typeface="IBM Plex Sans"/>
                          <a:cs typeface="IBM Plex Sans"/>
                          <a:sym typeface="IBM Plex Sans"/>
                        </a:rPr>
                        <a:t>Ceph on Kubernetes with Rook</a:t>
                      </a:r>
                      <a:endParaRPr sz="1400" u="none" cap="none" strike="noStrike">
                        <a:latin typeface="IBM Plex Sans"/>
                        <a:ea typeface="IBM Plex Sans"/>
                        <a:cs typeface="IBM Plex Sans"/>
                        <a:sym typeface="IBM Plex Sans"/>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171B21"/>
                        </a:buClr>
                        <a:buSzPts val="1400"/>
                        <a:buFont typeface="IBM Plex Sans"/>
                        <a:buNone/>
                      </a:pPr>
                      <a:r>
                        <a:rPr lang="en-US" sz="1400" u="none" cap="none" strike="noStrike">
                          <a:solidFill>
                            <a:srgbClr val="171B21"/>
                          </a:solidFill>
                          <a:latin typeface="IBM Plex Sans"/>
                          <a:ea typeface="IBM Plex Sans"/>
                          <a:cs typeface="IBM Plex Sans"/>
                          <a:sym typeface="IBM Plex Sans"/>
                        </a:rPr>
                        <a:t>Single-node MicroCeph + CephFS; Rook arrives with multiple nodes in Demo 3, as planned</a:t>
                      </a:r>
                      <a:endParaRPr sz="1400" u="none" cap="none" strike="noStrike">
                        <a:latin typeface="IBM Plex Sans"/>
                        <a:ea typeface="IBM Plex Sans"/>
                        <a:cs typeface="IBM Plex Sans"/>
                        <a:sym typeface="IBM Plex Sans"/>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r>
              <a:tr h="786375">
                <a:tc>
                  <a:txBody>
                    <a:bodyPr/>
                    <a:lstStyle/>
                    <a:p>
                      <a:pPr indent="0" lvl="0" marL="0" marR="0" rtl="0" algn="l">
                        <a:spcBef>
                          <a:spcPts val="0"/>
                        </a:spcBef>
                        <a:spcAft>
                          <a:spcPts val="0"/>
                        </a:spcAft>
                        <a:buClr>
                          <a:srgbClr val="171B21"/>
                        </a:buClr>
                        <a:buSzPts val="1400"/>
                        <a:buFont typeface="IBM Plex Sans Medium"/>
                        <a:buNone/>
                      </a:pPr>
                      <a:r>
                        <a:rPr lang="en-US" sz="1400" u="none" cap="none" strike="noStrike">
                          <a:solidFill>
                            <a:srgbClr val="171B21"/>
                          </a:solidFill>
                          <a:latin typeface="IBM Plex Sans Medium"/>
                          <a:ea typeface="IBM Plex Sans Medium"/>
                          <a:cs typeface="IBM Plex Sans Medium"/>
                          <a:sym typeface="IBM Plex Sans Medium"/>
                        </a:rPr>
                        <a:t>Interface</a:t>
                      </a:r>
                      <a:endParaRPr sz="1400" u="none" cap="none" strike="noStrike">
                        <a:latin typeface="IBM Plex Sans Medium"/>
                        <a:ea typeface="IBM Plex Sans Medium"/>
                        <a:cs typeface="IBM Plex Sans Medium"/>
                        <a:sym typeface="IBM Plex Sans Medium"/>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586574"/>
                        </a:buClr>
                        <a:buSzPts val="1400"/>
                        <a:buFont typeface="IBM Plex Sans"/>
                        <a:buNone/>
                      </a:pPr>
                      <a:r>
                        <a:rPr lang="en-US" sz="1400" u="none" cap="none" strike="noStrike">
                          <a:solidFill>
                            <a:srgbClr val="586574"/>
                          </a:solidFill>
                          <a:latin typeface="IBM Plex Sans"/>
                          <a:ea typeface="IBM Plex Sans"/>
                          <a:cs typeface="IBM Plex Sans"/>
                          <a:sym typeface="IBM Plex Sans"/>
                        </a:rPr>
                        <a:t>Function, inputs and dependencies</a:t>
                      </a:r>
                      <a:endParaRPr sz="1400" u="none" cap="none" strike="noStrike">
                        <a:latin typeface="IBM Plex Sans"/>
                        <a:ea typeface="IBM Plex Sans"/>
                        <a:cs typeface="IBM Plex Sans"/>
                        <a:sym typeface="IBM Plex Sans"/>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171B21"/>
                        </a:buClr>
                        <a:buSzPts val="1400"/>
                        <a:buFont typeface="IBM Plex Sans"/>
                        <a:buNone/>
                      </a:pPr>
                      <a:r>
                        <a:rPr lang="en-US" sz="1400" u="none" cap="none" strike="noStrike">
                          <a:solidFill>
                            <a:srgbClr val="171B21"/>
                          </a:solidFill>
                          <a:latin typeface="IBM Plex Sans"/>
                          <a:ea typeface="IBM Plex Sans"/>
                          <a:cs typeface="IBM Plex Sans"/>
                          <a:sym typeface="IBM Plex Sans"/>
                        </a:rPr>
                        <a:t>A job is a function, its declared input files and an output directory; Demo 3's placement reads the input list</a:t>
                      </a:r>
                      <a:endParaRPr sz="1400" u="none" cap="none" strike="noStrike">
                        <a:latin typeface="IBM Plex Sans"/>
                        <a:ea typeface="IBM Plex Sans"/>
                        <a:cs typeface="IBM Plex Sans"/>
                        <a:sym typeface="IBM Plex Sans"/>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r>
              <a:tr h="786375">
                <a:tc>
                  <a:txBody>
                    <a:bodyPr/>
                    <a:lstStyle/>
                    <a:p>
                      <a:pPr indent="0" lvl="0" marL="0" marR="0" rtl="0" algn="l">
                        <a:spcBef>
                          <a:spcPts val="0"/>
                        </a:spcBef>
                        <a:spcAft>
                          <a:spcPts val="0"/>
                        </a:spcAft>
                        <a:buClr>
                          <a:srgbClr val="171B21"/>
                        </a:buClr>
                        <a:buSzPts val="1400"/>
                        <a:buFont typeface="IBM Plex Sans Medium"/>
                        <a:buNone/>
                      </a:pPr>
                      <a:r>
                        <a:rPr lang="en-US" sz="1400" u="none" cap="none" strike="noStrike">
                          <a:solidFill>
                            <a:srgbClr val="171B21"/>
                          </a:solidFill>
                          <a:latin typeface="IBM Plex Sans Medium"/>
                          <a:ea typeface="IBM Plex Sans Medium"/>
                          <a:cs typeface="IBM Plex Sans Medium"/>
                          <a:sym typeface="IBM Plex Sans Medium"/>
                        </a:rPr>
                        <a:t>Workers</a:t>
                      </a:r>
                      <a:endParaRPr sz="1400" u="none" cap="none" strike="noStrike">
                        <a:latin typeface="IBM Plex Sans Medium"/>
                        <a:ea typeface="IBM Plex Sans Medium"/>
                        <a:cs typeface="IBM Plex Sans Medium"/>
                        <a:sym typeface="IBM Plex Sans Medium"/>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586574"/>
                        </a:buClr>
                        <a:buSzPts val="1400"/>
                        <a:buFont typeface="IBM Plex Sans"/>
                        <a:buNone/>
                      </a:pPr>
                      <a:r>
                        <a:rPr lang="en-US" sz="1400" u="none" cap="none" strike="noStrike">
                          <a:solidFill>
                            <a:srgbClr val="586574"/>
                          </a:solidFill>
                          <a:latin typeface="IBM Plex Sans"/>
                          <a:ea typeface="IBM Plex Sans"/>
                          <a:cs typeface="IBM Plex Sans"/>
                          <a:sym typeface="IBM Plex Sans"/>
                        </a:rPr>
                        <a:t>Containers beside storage, with limits</a:t>
                      </a:r>
                      <a:endParaRPr sz="1400" u="none" cap="none" strike="noStrike">
                        <a:latin typeface="IBM Plex Sans"/>
                        <a:ea typeface="IBM Plex Sans"/>
                        <a:cs typeface="IBM Plex Sans"/>
                        <a:sym typeface="IBM Plex Sans"/>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171B21"/>
                        </a:buClr>
                        <a:buSzPts val="1400"/>
                        <a:buFont typeface="IBM Plex Sans"/>
                        <a:buNone/>
                      </a:pPr>
                      <a:r>
                        <a:rPr lang="en-US" sz="1400" u="none" cap="none" strike="noStrike">
                          <a:solidFill>
                            <a:srgbClr val="171B21"/>
                          </a:solidFill>
                          <a:latin typeface="IBM Plex Sans"/>
                          <a:ea typeface="IBM Plex Sans"/>
                          <a:cs typeface="IBM Plex Sans"/>
                          <a:sym typeface="IBM Plex Sans"/>
                        </a:rPr>
                        <a:t>One pinned image on both nodes: 7 CPUs, 8 GiB, no network inside</a:t>
                      </a:r>
                      <a:endParaRPr sz="1400" u="none" cap="none" strike="noStrike">
                        <a:latin typeface="IBM Plex Sans"/>
                        <a:ea typeface="IBM Plex Sans"/>
                        <a:cs typeface="IBM Plex Sans"/>
                        <a:sym typeface="IBM Plex Sans"/>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r>
              <a:tr h="786375">
                <a:tc>
                  <a:txBody>
                    <a:bodyPr/>
                    <a:lstStyle/>
                    <a:p>
                      <a:pPr indent="0" lvl="0" marL="0" marR="0" rtl="0" algn="l">
                        <a:spcBef>
                          <a:spcPts val="0"/>
                        </a:spcBef>
                        <a:spcAft>
                          <a:spcPts val="0"/>
                        </a:spcAft>
                        <a:buClr>
                          <a:srgbClr val="171B21"/>
                        </a:buClr>
                        <a:buSzPts val="1400"/>
                        <a:buFont typeface="IBM Plex Sans Medium"/>
                        <a:buNone/>
                      </a:pPr>
                      <a:r>
                        <a:rPr lang="en-US" sz="1400" u="none" cap="none" strike="noStrike">
                          <a:solidFill>
                            <a:srgbClr val="171B21"/>
                          </a:solidFill>
                          <a:latin typeface="IBM Plex Sans Medium"/>
                          <a:ea typeface="IBM Plex Sans Medium"/>
                          <a:cs typeface="IBM Plex Sans Medium"/>
                          <a:sym typeface="IBM Plex Sans Medium"/>
                        </a:rPr>
                        <a:t>Workload</a:t>
                      </a:r>
                      <a:endParaRPr sz="1400" u="none" cap="none" strike="noStrike">
                        <a:latin typeface="IBM Plex Sans Medium"/>
                        <a:ea typeface="IBM Plex Sans Medium"/>
                        <a:cs typeface="IBM Plex Sans Medium"/>
                        <a:sym typeface="IBM Plex Sans Medium"/>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586574"/>
                        </a:buClr>
                        <a:buSzPts val="1400"/>
                        <a:buFont typeface="IBM Plex Sans"/>
                        <a:buNone/>
                      </a:pPr>
                      <a:r>
                        <a:rPr lang="en-US" sz="1400" u="none" cap="none" strike="noStrike">
                          <a:solidFill>
                            <a:srgbClr val="586574"/>
                          </a:solidFill>
                          <a:latin typeface="IBM Plex Sans"/>
                          <a:ea typeface="IBM Plex Sans"/>
                          <a:cs typeface="IBM Plex Sans"/>
                          <a:sym typeface="IBM Plex Sans"/>
                        </a:rPr>
                        <a:t>RLDS → LeRobot with Hugging Face's converter</a:t>
                      </a:r>
                      <a:endParaRPr sz="1400" u="none" cap="none" strike="noStrike">
                        <a:latin typeface="IBM Plex Sans"/>
                        <a:ea typeface="IBM Plex Sans"/>
                        <a:cs typeface="IBM Plex Sans"/>
                        <a:sym typeface="IBM Plex Sans"/>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171B21"/>
                        </a:buClr>
                        <a:buSzPts val="1400"/>
                        <a:buFont typeface="IBM Plex Sans"/>
                        <a:buNone/>
                      </a:pPr>
                      <a:r>
                        <a:rPr lang="en-US" sz="1400" u="none" cap="none" strike="noStrike">
                          <a:solidFill>
                            <a:srgbClr val="171B21"/>
                          </a:solidFill>
                          <a:latin typeface="IBM Plex Sans"/>
                          <a:ea typeface="IBM Plex Sans"/>
                          <a:cs typeface="IBM Plex Sans"/>
                          <a:sym typeface="IBM Plex Sans"/>
                        </a:rPr>
                        <a:t>port_droid.py v0.6.1, unmodified, on real DROID 1.0.1 shards</a:t>
                      </a:r>
                      <a:endParaRPr sz="1400" u="none" cap="none" strike="noStrike">
                        <a:latin typeface="IBM Plex Sans"/>
                        <a:ea typeface="IBM Plex Sans"/>
                        <a:cs typeface="IBM Plex Sans"/>
                        <a:sym typeface="IBM Plex Sans"/>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alpha val="0"/>
                        </a:srgbClr>
                      </a:solidFill>
                      <a:prstDash val="solid"/>
                      <a:round/>
                      <a:headEnd len="sm" w="sm" type="none"/>
                      <a:tailEnd len="sm" w="sm" type="none"/>
                    </a:lnB>
                  </a:tcPr>
                </a:tc>
              </a:tr>
              <a:tr h="786375">
                <a:tc>
                  <a:txBody>
                    <a:bodyPr/>
                    <a:lstStyle/>
                    <a:p>
                      <a:pPr indent="0" lvl="0" marL="0" marR="0" rtl="0" algn="l">
                        <a:spcBef>
                          <a:spcPts val="0"/>
                        </a:spcBef>
                        <a:spcAft>
                          <a:spcPts val="0"/>
                        </a:spcAft>
                        <a:buClr>
                          <a:srgbClr val="171B21"/>
                        </a:buClr>
                        <a:buSzPts val="1400"/>
                        <a:buFont typeface="IBM Plex Sans Medium"/>
                        <a:buNone/>
                      </a:pPr>
                      <a:r>
                        <a:rPr lang="en-US" sz="1400" u="none" cap="none" strike="noStrike">
                          <a:solidFill>
                            <a:srgbClr val="171B21"/>
                          </a:solidFill>
                          <a:latin typeface="IBM Plex Sans Medium"/>
                          <a:ea typeface="IBM Plex Sans Medium"/>
                          <a:cs typeface="IBM Plex Sans Medium"/>
                          <a:sym typeface="IBM Plex Sans Medium"/>
                        </a:rPr>
                        <a:t>Measurement</a:t>
                      </a:r>
                      <a:endParaRPr sz="1400" u="none" cap="none" strike="noStrike">
                        <a:latin typeface="IBM Plex Sans Medium"/>
                        <a:ea typeface="IBM Plex Sans Medium"/>
                        <a:cs typeface="IBM Plex Sans Medium"/>
                        <a:sym typeface="IBM Plex Sans Medium"/>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solidFill>
                      <a:prstDash val="solid"/>
                      <a:round/>
                      <a:headEnd len="sm" w="sm" type="none"/>
                      <a:tailEnd len="sm" w="sm" type="none"/>
                    </a:lnB>
                  </a:tcPr>
                </a:tc>
                <a:tc>
                  <a:txBody>
                    <a:bodyPr/>
                    <a:lstStyle/>
                    <a:p>
                      <a:pPr indent="0" lvl="0" marL="0" marR="0" rtl="0" algn="l">
                        <a:spcBef>
                          <a:spcPts val="0"/>
                        </a:spcBef>
                        <a:spcAft>
                          <a:spcPts val="0"/>
                        </a:spcAft>
                        <a:buClr>
                          <a:srgbClr val="586574"/>
                        </a:buClr>
                        <a:buSzPts val="1400"/>
                        <a:buFont typeface="IBM Plex Sans"/>
                        <a:buNone/>
                      </a:pPr>
                      <a:r>
                        <a:rPr lang="en-US" sz="1400" u="none" cap="none" strike="noStrike">
                          <a:solidFill>
                            <a:srgbClr val="586574"/>
                          </a:solidFill>
                          <a:latin typeface="IBM Plex Sans"/>
                          <a:ea typeface="IBM Plex Sans"/>
                          <a:cs typeface="IBM Plex Sans"/>
                          <a:sym typeface="IBM Plex Sans"/>
                        </a:rPr>
                        <a:t>Cross-host bytes and end-to-end time</a:t>
                      </a:r>
                      <a:endParaRPr sz="1400" u="none" cap="none" strike="noStrike">
                        <a:latin typeface="IBM Plex Sans"/>
                        <a:ea typeface="IBM Plex Sans"/>
                        <a:cs typeface="IBM Plex Sans"/>
                        <a:sym typeface="IBM Plex Sans"/>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solidFill>
                      <a:prstDash val="solid"/>
                      <a:round/>
                      <a:headEnd len="sm" w="sm" type="none"/>
                      <a:tailEnd len="sm" w="sm" type="none"/>
                    </a:lnB>
                  </a:tcPr>
                </a:tc>
                <a:tc>
                  <a:txBody>
                    <a:bodyPr/>
                    <a:lstStyle/>
                    <a:p>
                      <a:pPr indent="0" lvl="0" marL="0" marR="0" rtl="0" algn="l">
                        <a:spcBef>
                          <a:spcPts val="0"/>
                        </a:spcBef>
                        <a:spcAft>
                          <a:spcPts val="0"/>
                        </a:spcAft>
                        <a:buClr>
                          <a:srgbClr val="171B21"/>
                        </a:buClr>
                        <a:buSzPts val="1400"/>
                        <a:buFont typeface="IBM Plex Sans"/>
                        <a:buNone/>
                      </a:pPr>
                      <a:r>
                        <a:rPr lang="en-US" sz="1400" u="none" cap="none" strike="noStrike">
                          <a:solidFill>
                            <a:srgbClr val="171B21"/>
                          </a:solidFill>
                          <a:latin typeface="IBM Plex Sans"/>
                          <a:ea typeface="IBM Plex Sans"/>
                          <a:cs typeface="IBM Plex Sans"/>
                          <a:sym typeface="IBM Plex Sans"/>
                        </a:rPr>
                        <a:t>NIC counters, cold caches, and a byte-level comparison of the outputs</a:t>
                      </a:r>
                      <a:endParaRPr sz="1400" u="none" cap="none" strike="noStrike">
                        <a:latin typeface="IBM Plex Sans"/>
                        <a:ea typeface="IBM Plex Sans"/>
                        <a:cs typeface="IBM Plex Sans"/>
                        <a:sym typeface="IBM Plex Sans"/>
                      </a:endParaRPr>
                    </a:p>
                  </a:txBody>
                  <a:tcPr marT="54875" marB="54875" marR="13715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D1DC">
                          <a:alpha val="0"/>
                        </a:srgbClr>
                      </a:solidFill>
                      <a:prstDash val="solid"/>
                      <a:round/>
                      <a:headEnd len="sm" w="sm" type="none"/>
                      <a:tailEnd len="sm" w="sm" type="none"/>
                    </a:lnT>
                    <a:lnB cap="flat" cmpd="sng" w="9525">
                      <a:solidFill>
                        <a:srgbClr val="C7D1DC"/>
                      </a:solidFill>
                      <a:prstDash val="solid"/>
                      <a:round/>
                      <a:headEnd len="sm" w="sm" type="none"/>
                      <a:tailEnd len="sm" w="sm" type="none"/>
                    </a:lnB>
                  </a:tcPr>
                </a:tc>
              </a:tr>
            </a:tbl>
          </a:graphicData>
        </a:graphic>
      </p:graphicFrame>
      <p:sp>
        <p:nvSpPr>
          <p:cNvPr id="110" name="Google Shape;110;p8"/>
          <p:cNvSpPr txBox="1"/>
          <p:nvPr>
            <p:ph idx="4294967295" type="sldNum"/>
          </p:nvPr>
        </p:nvSpPr>
        <p:spPr>
          <a:xfrm>
            <a:off x="11128248" y="6382512"/>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86574"/>
                </a:solidFill>
                <a:latin typeface="IBM Plex Mono"/>
                <a:ea typeface="IBM Plex Mono"/>
                <a:cs typeface="IBM Plex Mono"/>
                <a:sym typeface="IBM Plex Mono"/>
              </a:rPr>
              <a:t>‹#›</a:t>
            </a:fld>
            <a:endParaRPr b="0" i="0" sz="1000" u="none" cap="none" strike="noStrike">
              <a:solidFill>
                <a:srgbClr val="586574"/>
              </a:solidFill>
              <a:latin typeface="IBM Plex Mono"/>
              <a:ea typeface="IBM Plex Mono"/>
              <a:cs typeface="IBM Plex Mono"/>
              <a:sym typeface="IBM Plex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9"/>
          <p:cNvSpPr txBox="1"/>
          <p:nvPr>
            <p:ph type="title"/>
          </p:nvPr>
        </p:nvSpPr>
        <p:spPr>
          <a:xfrm>
            <a:off x="612648" y="393192"/>
            <a:ext cx="10972800" cy="5943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400"/>
              <a:buFont typeface="IBM Plex Sans Medium"/>
              <a:buNone/>
            </a:pPr>
            <a:r>
              <a:rPr lang="en-US" sz="3400">
                <a:solidFill>
                  <a:schemeClr val="dk1"/>
                </a:solidFill>
              </a:rPr>
              <a:t>Result: network traffic</a:t>
            </a:r>
            <a:endParaRPr sz="3400"/>
          </a:p>
        </p:txBody>
      </p:sp>
      <p:sp>
        <p:nvSpPr>
          <p:cNvPr id="117" name="Google Shape;117;p9"/>
          <p:cNvSpPr txBox="1"/>
          <p:nvPr>
            <p:ph idx="1" type="body"/>
          </p:nvPr>
        </p:nvSpPr>
        <p:spPr>
          <a:xfrm>
            <a:off x="612648" y="1088136"/>
            <a:ext cx="109728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700"/>
              <a:buNone/>
            </a:pPr>
            <a:r>
              <a:rPr lang="en-US" sz="1700">
                <a:solidFill>
                  <a:schemeClr val="dk2"/>
                </a:solidFill>
              </a:rPr>
              <a:t>Shard 2, two independent runs; same image, limits and cold caches in both modes</a:t>
            </a:r>
            <a:endParaRPr sz="1700"/>
          </a:p>
        </p:txBody>
      </p:sp>
      <p:pic>
        <p:nvPicPr>
          <p:cNvPr id="118" name="Google Shape;118;p9"/>
          <p:cNvPicPr preferRelativeResize="0"/>
          <p:nvPr/>
        </p:nvPicPr>
        <p:blipFill rotWithShape="1">
          <a:blip r:embed="rId3">
            <a:alphaModFix/>
          </a:blip>
          <a:srcRect b="0" l="0" r="0" t="0"/>
          <a:stretch/>
        </p:blipFill>
        <p:spPr>
          <a:xfrm>
            <a:off x="612648" y="1691640"/>
            <a:ext cx="6675120" cy="4526280"/>
          </a:xfrm>
          <a:prstGeom prst="rect">
            <a:avLst/>
          </a:prstGeom>
          <a:noFill/>
          <a:ln>
            <a:noFill/>
          </a:ln>
        </p:spPr>
      </p:pic>
      <p:sp>
        <p:nvSpPr>
          <p:cNvPr id="119" name="Google Shape;119;p9"/>
          <p:cNvSpPr txBox="1"/>
          <p:nvPr/>
        </p:nvSpPr>
        <p:spPr>
          <a:xfrm>
            <a:off x="7726680" y="1828800"/>
            <a:ext cx="38404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5400"/>
              <a:buFont typeface="IBM Plex Sans Medium"/>
              <a:buNone/>
            </a:pPr>
            <a:r>
              <a:rPr b="0" i="0" lang="en-US" sz="5400" u="none" cap="none" strike="noStrike">
                <a:solidFill>
                  <a:schemeClr val="accent1"/>
                </a:solidFill>
                <a:latin typeface="IBM Plex Sans Medium"/>
                <a:ea typeface="IBM Plex Sans Medium"/>
                <a:cs typeface="IBM Plex Sans Medium"/>
                <a:sym typeface="IBM Plex Sans Medium"/>
              </a:rPr>
              <a:t>−99.97%</a:t>
            </a:r>
            <a:endParaRPr b="0" i="0" sz="5400" u="none" cap="none" strike="noStrike">
              <a:solidFill>
                <a:schemeClr val="dk1"/>
              </a:solidFill>
              <a:latin typeface="IBM Plex Sans"/>
              <a:ea typeface="IBM Plex Sans"/>
              <a:cs typeface="IBM Plex Sans"/>
              <a:sym typeface="IBM Plex Sans"/>
            </a:endParaRPr>
          </a:p>
        </p:txBody>
      </p:sp>
      <p:sp>
        <p:nvSpPr>
          <p:cNvPr id="120" name="Google Shape;120;p9"/>
          <p:cNvSpPr txBox="1"/>
          <p:nvPr/>
        </p:nvSpPr>
        <p:spPr>
          <a:xfrm>
            <a:off x="7726680" y="2743200"/>
            <a:ext cx="38404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IBM Plex Sans"/>
              <a:buNone/>
            </a:pPr>
            <a:r>
              <a:rPr b="0" i="0" lang="en-US" sz="1600" u="none" cap="none" strike="noStrike">
                <a:solidFill>
                  <a:schemeClr val="dk1"/>
                </a:solidFill>
                <a:latin typeface="IBM Plex Sans"/>
                <a:ea typeface="IBM Plex Sans"/>
                <a:cs typeface="IBM Plex Sans"/>
                <a:sym typeface="IBM Plex Sans"/>
              </a:rPr>
              <a:t>cross-host traffic vs. the baseline</a:t>
            </a:r>
            <a:endParaRPr b="0" i="0" sz="1600" u="none" cap="none" strike="noStrike">
              <a:solidFill>
                <a:schemeClr val="dk1"/>
              </a:solidFill>
              <a:latin typeface="IBM Plex Sans"/>
              <a:ea typeface="IBM Plex Sans"/>
              <a:cs typeface="IBM Plex Sans"/>
              <a:sym typeface="IBM Plex Sans"/>
            </a:endParaRPr>
          </a:p>
        </p:txBody>
      </p:sp>
      <p:cxnSp>
        <p:nvCxnSpPr>
          <p:cNvPr id="121" name="Google Shape;121;p9"/>
          <p:cNvCxnSpPr/>
          <p:nvPr/>
        </p:nvCxnSpPr>
        <p:spPr>
          <a:xfrm>
            <a:off x="7726680" y="3337560"/>
            <a:ext cx="3858768" cy="0"/>
          </a:xfrm>
          <a:prstGeom prst="straightConnector1">
            <a:avLst/>
          </a:prstGeom>
          <a:noFill/>
          <a:ln cap="flat" cmpd="sng" w="9525">
            <a:solidFill>
              <a:schemeClr val="accent3"/>
            </a:solidFill>
            <a:prstDash val="solid"/>
            <a:round/>
            <a:headEnd len="sm" w="sm" type="none"/>
            <a:tailEnd len="sm" w="sm" type="none"/>
          </a:ln>
        </p:spPr>
      </p:cxnSp>
      <p:sp>
        <p:nvSpPr>
          <p:cNvPr id="122" name="Google Shape;122;p9"/>
          <p:cNvSpPr txBox="1"/>
          <p:nvPr/>
        </p:nvSpPr>
        <p:spPr>
          <a:xfrm>
            <a:off x="7726680" y="3520440"/>
            <a:ext cx="3858768"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IBM Plex Sans Medium"/>
              <a:buNone/>
            </a:pPr>
            <a:r>
              <a:rPr b="0" i="0" lang="en-US" sz="1400" u="none" cap="none" strike="noStrike">
                <a:solidFill>
                  <a:schemeClr val="dk1"/>
                </a:solidFill>
                <a:latin typeface="IBM Plex Sans Medium"/>
                <a:ea typeface="IBM Plex Sans Medium"/>
                <a:cs typeface="IBM Plex Sans Medium"/>
                <a:sym typeface="IBM Plex Sans Medium"/>
              </a:rPr>
              <a:t>Baseline: </a:t>
            </a:r>
            <a:r>
              <a:rPr b="0" i="0" lang="en-US" sz="1400" u="none" cap="none" strike="noStrike">
                <a:solidFill>
                  <a:schemeClr val="dk1"/>
                </a:solidFill>
                <a:latin typeface="IBM Plex Sans"/>
                <a:ea typeface="IBM Plex Sans"/>
                <a:cs typeface="IBM Plex Sans"/>
                <a:sym typeface="IBM Plex Sans"/>
              </a:rPr>
              <a:t>797.3 and 797.2 MB, which is 1.01 × (input + output): the shard is read once and its output written back once</a:t>
            </a:r>
            <a:endParaRPr b="0" i="0" sz="1400" u="none" cap="none" strike="noStrike">
              <a:solidFill>
                <a:schemeClr val="dk1"/>
              </a:solidFill>
              <a:latin typeface="IBM Plex Sans"/>
              <a:ea typeface="IBM Plex Sans"/>
              <a:cs typeface="IBM Plex Sans"/>
              <a:sym typeface="IBM Plex Sans"/>
            </a:endParaRPr>
          </a:p>
          <a:p>
            <a:pPr indent="0" lvl="0" marL="0" marR="0" rtl="0" algn="l">
              <a:spcBef>
                <a:spcPts val="0"/>
              </a:spcBef>
              <a:spcAft>
                <a:spcPts val="0"/>
              </a:spcAft>
              <a:buClr>
                <a:schemeClr val="dk1"/>
              </a:buClr>
              <a:buSzPts val="800"/>
              <a:buFont typeface="IBM Plex Sans"/>
              <a:buNone/>
            </a:pPr>
            <a:r>
              <a:rPr b="0" i="0" lang="en-US" sz="800" u="none" cap="none" strike="noStrike">
                <a:solidFill>
                  <a:schemeClr val="dk1"/>
                </a:solidFill>
                <a:latin typeface="IBM Plex Sans"/>
                <a:ea typeface="IBM Plex Sans"/>
                <a:cs typeface="IBM Plex Sans"/>
                <a:sym typeface="IBM Plex Sans"/>
              </a:rPr>
              <a:t> </a:t>
            </a:r>
            <a:endParaRPr b="0" i="0" sz="1400" u="none" cap="none" strike="noStrike">
              <a:solidFill>
                <a:schemeClr val="dk1"/>
              </a:solidFill>
              <a:latin typeface="IBM Plex Sans"/>
              <a:ea typeface="IBM Plex Sans"/>
              <a:cs typeface="IBM Plex Sans"/>
              <a:sym typeface="IBM Plex Sans"/>
            </a:endParaRPr>
          </a:p>
          <a:p>
            <a:pPr indent="0" lvl="0" marL="0" marR="0" rtl="0" algn="l">
              <a:spcBef>
                <a:spcPts val="0"/>
              </a:spcBef>
              <a:spcAft>
                <a:spcPts val="0"/>
              </a:spcAft>
              <a:buClr>
                <a:schemeClr val="dk1"/>
              </a:buClr>
              <a:buSzPts val="1400"/>
              <a:buFont typeface="IBM Plex Sans Medium"/>
              <a:buNone/>
            </a:pPr>
            <a:r>
              <a:rPr b="0" i="0" lang="en-US" sz="1400" u="none" cap="none" strike="noStrike">
                <a:solidFill>
                  <a:schemeClr val="dk1"/>
                </a:solidFill>
                <a:latin typeface="IBM Plex Sans Medium"/>
                <a:ea typeface="IBM Plex Sans Medium"/>
                <a:cs typeface="IBM Plex Sans Medium"/>
                <a:sym typeface="IBM Plex Sans Medium"/>
              </a:rPr>
              <a:t>Storage node: </a:t>
            </a:r>
            <a:r>
              <a:rPr b="0" i="0" lang="en-US" sz="1400" u="none" cap="none" strike="noStrike">
                <a:solidFill>
                  <a:schemeClr val="dk1"/>
                </a:solidFill>
                <a:latin typeface="IBM Plex Sans"/>
                <a:ea typeface="IBM Plex Sans"/>
                <a:cs typeface="IBM Plex Sans"/>
                <a:sym typeface="IBM Plex Sans"/>
              </a:rPr>
              <a:t>0.2 MB in both runs, ssh and CephFS session traffic</a:t>
            </a:r>
            <a:endParaRPr b="0" i="0" sz="1400" u="none" cap="none" strike="noStrike">
              <a:solidFill>
                <a:schemeClr val="dk1"/>
              </a:solidFill>
              <a:latin typeface="IBM Plex Sans"/>
              <a:ea typeface="IBM Plex Sans"/>
              <a:cs typeface="IBM Plex Sans"/>
              <a:sym typeface="IBM Plex Sans"/>
            </a:endParaRPr>
          </a:p>
        </p:txBody>
      </p:sp>
      <p:sp>
        <p:nvSpPr>
          <p:cNvPr id="123" name="Google Shape;123;p9"/>
          <p:cNvSpPr txBox="1"/>
          <p:nvPr/>
        </p:nvSpPr>
        <p:spPr>
          <a:xfrm>
            <a:off x="7726680" y="5486400"/>
            <a:ext cx="38404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PROPOSAL GOAL ≈ −70%</a:t>
            </a:r>
            <a:endParaRPr b="0" i="0" sz="1100" u="none" cap="none" strike="noStrike">
              <a:solidFill>
                <a:schemeClr val="dk1"/>
              </a:solidFill>
              <a:latin typeface="IBM Plex Sans"/>
              <a:ea typeface="IBM Plex Sans"/>
              <a:cs typeface="IBM Plex Sans"/>
              <a:sym typeface="IBM Plex Sans"/>
            </a:endParaRPr>
          </a:p>
        </p:txBody>
      </p:sp>
      <p:sp>
        <p:nvSpPr>
          <p:cNvPr id="124" name="Google Shape;124;p9"/>
          <p:cNvSpPr txBox="1"/>
          <p:nvPr/>
        </p:nvSpPr>
        <p:spPr>
          <a:xfrm>
            <a:off x="7726680" y="5760720"/>
            <a:ext cx="3858768"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IBM Plex Mono"/>
              <a:buNone/>
            </a:pPr>
            <a:r>
              <a:rPr b="0" i="0" lang="en-US" sz="1000" u="none" cap="none" strike="noStrike">
                <a:solidFill>
                  <a:schemeClr val="dk2"/>
                </a:solidFill>
                <a:latin typeface="IBM Plex Mono"/>
                <a:ea typeface="IBM Plex Mono"/>
                <a:cs typeface="IBM Plex Mono"/>
                <a:sym typeface="IBM Plex Mono"/>
              </a:rPr>
              <a:t>RUN 1  demo2-20261016-210744</a:t>
            </a:r>
            <a:endParaRPr b="0" i="0" sz="1000" u="none" cap="none" strike="noStrike">
              <a:solidFill>
                <a:schemeClr val="dk1"/>
              </a:solidFill>
              <a:latin typeface="IBM Plex Sans"/>
              <a:ea typeface="IBM Plex Sans"/>
              <a:cs typeface="IBM Plex Sans"/>
              <a:sym typeface="IBM Plex Sans"/>
            </a:endParaRPr>
          </a:p>
          <a:p>
            <a:pPr indent="0" lvl="0" marL="0" marR="0" rtl="0" algn="l">
              <a:spcBef>
                <a:spcPts val="0"/>
              </a:spcBef>
              <a:spcAft>
                <a:spcPts val="0"/>
              </a:spcAft>
              <a:buClr>
                <a:schemeClr val="dk2"/>
              </a:buClr>
              <a:buSzPts val="1000"/>
              <a:buFont typeface="IBM Plex Mono"/>
              <a:buNone/>
            </a:pPr>
            <a:r>
              <a:rPr b="0" i="0" lang="en-US" sz="1000" u="none" cap="none" strike="noStrike">
                <a:solidFill>
                  <a:schemeClr val="dk2"/>
                </a:solidFill>
                <a:latin typeface="IBM Plex Mono"/>
                <a:ea typeface="IBM Plex Mono"/>
                <a:cs typeface="IBM Plex Mono"/>
                <a:sym typeface="IBM Plex Mono"/>
              </a:rPr>
              <a:t>RUN 2  demo2-20261018-184414</a:t>
            </a:r>
            <a:endParaRPr b="0" i="0" sz="1000" u="none" cap="none" strike="noStrike">
              <a:solidFill>
                <a:schemeClr val="dk1"/>
              </a:solidFill>
              <a:latin typeface="IBM Plex Sans"/>
              <a:ea typeface="IBM Plex Sans"/>
              <a:cs typeface="IBM Plex Sans"/>
              <a:sym typeface="IBM Plex Sans"/>
            </a:endParaRPr>
          </a:p>
        </p:txBody>
      </p:sp>
      <p:sp>
        <p:nvSpPr>
          <p:cNvPr id="125" name="Google Shape;125;p9"/>
          <p:cNvSpPr txBox="1"/>
          <p:nvPr>
            <p:ph idx="4294967295" type="sldNum"/>
          </p:nvPr>
        </p:nvSpPr>
        <p:spPr>
          <a:xfrm>
            <a:off x="11128248" y="6382512"/>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86574"/>
                </a:solidFill>
                <a:latin typeface="IBM Plex Mono"/>
                <a:ea typeface="IBM Plex Mono"/>
                <a:cs typeface="IBM Plex Mono"/>
                <a:sym typeface="IBM Plex Mono"/>
              </a:rPr>
              <a:t>‹#›</a:t>
            </a:fld>
            <a:endParaRPr b="0" i="0" sz="1000" u="none" cap="none" strike="noStrike">
              <a:solidFill>
                <a:srgbClr val="586574"/>
              </a:solidFill>
              <a:latin typeface="IBM Plex Mono"/>
              <a:ea typeface="IBM Plex Mono"/>
              <a:cs typeface="IBM Plex Mono"/>
              <a:sym typeface="IBM Plex Mon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0"/>
          <p:cNvSpPr txBox="1"/>
          <p:nvPr>
            <p:ph type="title"/>
          </p:nvPr>
        </p:nvSpPr>
        <p:spPr>
          <a:xfrm>
            <a:off x="612648" y="393192"/>
            <a:ext cx="10972800" cy="5943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400"/>
              <a:buFont typeface="IBM Plex Sans Medium"/>
              <a:buNone/>
            </a:pPr>
            <a:r>
              <a:rPr lang="en-US" sz="3400">
                <a:solidFill>
                  <a:schemeClr val="dk1"/>
                </a:solidFill>
              </a:rPr>
              <a:t>Testbed</a:t>
            </a:r>
            <a:endParaRPr sz="3400"/>
          </a:p>
        </p:txBody>
      </p:sp>
      <p:sp>
        <p:nvSpPr>
          <p:cNvPr id="132" name="Google Shape;132;p10"/>
          <p:cNvSpPr txBox="1"/>
          <p:nvPr>
            <p:ph idx="1" type="body"/>
          </p:nvPr>
        </p:nvSpPr>
        <p:spPr>
          <a:xfrm>
            <a:off x="612648" y="1088136"/>
            <a:ext cx="109728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700"/>
              <a:buNone/>
            </a:pPr>
            <a:r>
              <a:rPr lang="en-US" sz="1700">
                <a:solidFill>
                  <a:schemeClr val="dk2"/>
                </a:solidFill>
              </a:rPr>
              <a:t>Two EC2 m6i.2xlarge in one subnet, with the same worker image and limits on both nodes</a:t>
            </a:r>
            <a:endParaRPr sz="1700"/>
          </a:p>
        </p:txBody>
      </p:sp>
      <p:sp>
        <p:nvSpPr>
          <p:cNvPr id="133" name="Google Shape;133;p10"/>
          <p:cNvSpPr/>
          <p:nvPr/>
        </p:nvSpPr>
        <p:spPr>
          <a:xfrm>
            <a:off x="612648" y="1783080"/>
            <a:ext cx="4480560" cy="438912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0"/>
          <p:cNvSpPr txBox="1"/>
          <p:nvPr/>
        </p:nvSpPr>
        <p:spPr>
          <a:xfrm>
            <a:off x="841248" y="1920240"/>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IBM Plex Sans Medium"/>
              <a:buNone/>
            </a:pPr>
            <a:r>
              <a:rPr b="0" i="0" lang="en-US" sz="1800" u="none" cap="none" strike="noStrike">
                <a:solidFill>
                  <a:schemeClr val="dk1"/>
                </a:solidFill>
                <a:latin typeface="IBM Plex Sans Medium"/>
                <a:ea typeface="IBM Plex Sans Medium"/>
                <a:cs typeface="IBM Plex Sans Medium"/>
                <a:sym typeface="IBM Plex Sans Medium"/>
              </a:rPr>
              <a:t>Compute node</a:t>
            </a:r>
            <a:endParaRPr b="0" i="0" sz="1800" u="none" cap="none" strike="noStrike">
              <a:solidFill>
                <a:schemeClr val="dk1"/>
              </a:solidFill>
              <a:latin typeface="IBM Plex Sans"/>
              <a:ea typeface="IBM Plex Sans"/>
              <a:cs typeface="IBM Plex Sans"/>
              <a:sym typeface="IBM Plex Sans"/>
            </a:endParaRPr>
          </a:p>
        </p:txBody>
      </p:sp>
      <p:sp>
        <p:nvSpPr>
          <p:cNvPr id="135" name="Google Shape;135;p10"/>
          <p:cNvSpPr txBox="1"/>
          <p:nvPr/>
        </p:nvSpPr>
        <p:spPr>
          <a:xfrm>
            <a:off x="841248" y="2304288"/>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BASELINE: SEPARATE MODE</a:t>
            </a:r>
            <a:endParaRPr b="0" i="0" sz="1100" u="none" cap="none" strike="noStrike">
              <a:solidFill>
                <a:schemeClr val="dk1"/>
              </a:solidFill>
              <a:latin typeface="IBM Plex Sans"/>
              <a:ea typeface="IBM Plex Sans"/>
              <a:cs typeface="IBM Plex Sans"/>
              <a:sym typeface="IBM Plex Sans"/>
            </a:endParaRPr>
          </a:p>
        </p:txBody>
      </p:sp>
      <p:sp>
        <p:nvSpPr>
          <p:cNvPr id="136" name="Google Shape;136;p10"/>
          <p:cNvSpPr/>
          <p:nvPr/>
        </p:nvSpPr>
        <p:spPr>
          <a:xfrm>
            <a:off x="841248" y="2743200"/>
            <a:ext cx="4023360" cy="86868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
          <p:cNvSpPr txBox="1"/>
          <p:nvPr/>
        </p:nvSpPr>
        <p:spPr>
          <a:xfrm>
            <a:off x="1024128" y="2834640"/>
            <a:ext cx="3657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IBM Plex Sans Medium"/>
              <a:buNone/>
            </a:pPr>
            <a:r>
              <a:rPr b="0" i="0" lang="en-US" sz="1500" u="none" cap="none" strike="noStrike">
                <a:solidFill>
                  <a:schemeClr val="dk1"/>
                </a:solidFill>
                <a:latin typeface="IBM Plex Sans Medium"/>
                <a:ea typeface="IBM Plex Sans Medium"/>
                <a:cs typeface="IBM Plex Sans Medium"/>
                <a:sym typeface="IBM Plex Sans Medium"/>
              </a:rPr>
              <a:t>CephFS client</a:t>
            </a:r>
            <a:endParaRPr b="0" i="0" sz="1500" u="none" cap="none" strike="noStrike">
              <a:solidFill>
                <a:schemeClr val="dk1"/>
              </a:solidFill>
              <a:latin typeface="IBM Plex Sans"/>
              <a:ea typeface="IBM Plex Sans"/>
              <a:cs typeface="IBM Plex Sans"/>
              <a:sym typeface="IBM Plex Sans"/>
            </a:endParaRPr>
          </a:p>
        </p:txBody>
      </p:sp>
      <p:sp>
        <p:nvSpPr>
          <p:cNvPr id="138" name="Google Shape;138;p10"/>
          <p:cNvSpPr txBox="1"/>
          <p:nvPr/>
        </p:nvSpPr>
        <p:spPr>
          <a:xfrm>
            <a:off x="1024128" y="320040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50"/>
              <a:buFont typeface="IBM Plex Mono"/>
              <a:buNone/>
            </a:pPr>
            <a:r>
              <a:rPr b="0" i="0" lang="en-US" sz="1050" u="none" cap="none" strike="noStrike">
                <a:solidFill>
                  <a:schemeClr val="dk2"/>
                </a:solidFill>
                <a:latin typeface="IBM Plex Mono"/>
                <a:ea typeface="IBM Plex Mono"/>
                <a:cs typeface="IBM Plex Mono"/>
                <a:sym typeface="IBM Plex Mono"/>
              </a:rPr>
              <a:t>/mnt/cephfs, same paths as storage</a:t>
            </a:r>
            <a:endParaRPr b="0" i="0" sz="1050" u="none" cap="none" strike="noStrike">
              <a:solidFill>
                <a:schemeClr val="dk1"/>
              </a:solidFill>
              <a:latin typeface="IBM Plex Sans"/>
              <a:ea typeface="IBM Plex Sans"/>
              <a:cs typeface="IBM Plex Sans"/>
              <a:sym typeface="IBM Plex Sans"/>
            </a:endParaRPr>
          </a:p>
        </p:txBody>
      </p:sp>
      <p:sp>
        <p:nvSpPr>
          <p:cNvPr id="139" name="Google Shape;139;p10"/>
          <p:cNvSpPr/>
          <p:nvPr/>
        </p:nvSpPr>
        <p:spPr>
          <a:xfrm>
            <a:off x="841248" y="3749040"/>
            <a:ext cx="4023360" cy="86868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0"/>
          <p:cNvSpPr txBox="1"/>
          <p:nvPr/>
        </p:nvSpPr>
        <p:spPr>
          <a:xfrm>
            <a:off x="1024128" y="3840480"/>
            <a:ext cx="3657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IBM Plex Sans Medium"/>
              <a:buNone/>
            </a:pPr>
            <a:r>
              <a:rPr b="0" i="0" lang="en-US" sz="1500" u="none" cap="none" strike="noStrike">
                <a:solidFill>
                  <a:schemeClr val="dk1"/>
                </a:solidFill>
                <a:latin typeface="IBM Plex Sans Medium"/>
                <a:ea typeface="IBM Plex Sans Medium"/>
                <a:cs typeface="IBM Plex Sans Medium"/>
                <a:sym typeface="IBM Plex Sans Medium"/>
              </a:rPr>
              <a:t>Worker container</a:t>
            </a:r>
            <a:endParaRPr b="0" i="0" sz="1500" u="none" cap="none" strike="noStrike">
              <a:solidFill>
                <a:schemeClr val="dk1"/>
              </a:solidFill>
              <a:latin typeface="IBM Plex Sans"/>
              <a:ea typeface="IBM Plex Sans"/>
              <a:cs typeface="IBM Plex Sans"/>
              <a:sym typeface="IBM Plex Sans"/>
            </a:endParaRPr>
          </a:p>
        </p:txBody>
      </p:sp>
      <p:sp>
        <p:nvSpPr>
          <p:cNvPr id="141" name="Google Shape;141;p10"/>
          <p:cNvSpPr txBox="1"/>
          <p:nvPr/>
        </p:nvSpPr>
        <p:spPr>
          <a:xfrm>
            <a:off x="1024128" y="420624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50"/>
              <a:buFont typeface="IBM Plex Mono"/>
              <a:buNone/>
            </a:pPr>
            <a:r>
              <a:rPr b="0" i="0" lang="en-US" sz="1050" u="none" cap="none" strike="noStrike">
                <a:solidFill>
                  <a:schemeClr val="dk2"/>
                </a:solidFill>
                <a:latin typeface="IBM Plex Mono"/>
                <a:ea typeface="IBM Plex Mono"/>
                <a:cs typeface="IBM Plex Mono"/>
                <a:sym typeface="IBM Plex Mono"/>
              </a:rPr>
              <a:t>port_droid.py · 7 CPUs · 8 GiB · no network</a:t>
            </a:r>
            <a:endParaRPr b="0" i="0" sz="1050" u="none" cap="none" strike="noStrike">
              <a:solidFill>
                <a:schemeClr val="dk1"/>
              </a:solidFill>
              <a:latin typeface="IBM Plex Sans"/>
              <a:ea typeface="IBM Plex Sans"/>
              <a:cs typeface="IBM Plex Sans"/>
              <a:sym typeface="IBM Plex Sans"/>
            </a:endParaRPr>
          </a:p>
        </p:txBody>
      </p:sp>
      <p:sp>
        <p:nvSpPr>
          <p:cNvPr id="142" name="Google Shape;142;p10"/>
          <p:cNvSpPr/>
          <p:nvPr/>
        </p:nvSpPr>
        <p:spPr>
          <a:xfrm>
            <a:off x="841248" y="4754880"/>
            <a:ext cx="4023360" cy="54864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
          <p:cNvSpPr txBox="1"/>
          <p:nvPr/>
        </p:nvSpPr>
        <p:spPr>
          <a:xfrm>
            <a:off x="1024128" y="4754880"/>
            <a:ext cx="3657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IBM Plex Sans"/>
              <a:buNone/>
            </a:pPr>
            <a:r>
              <a:rPr b="0" i="0" lang="en-US" sz="1300" u="none" cap="none" strike="noStrike">
                <a:solidFill>
                  <a:schemeClr val="dk1"/>
                </a:solidFill>
                <a:latin typeface="IBM Plex Sans"/>
                <a:ea typeface="IBM Plex Sans"/>
                <a:cs typeface="IBM Plex Sans"/>
                <a:sym typeface="IBM Plex Sans"/>
              </a:rPr>
              <a:t>Local scratch for the converter's temp files</a:t>
            </a:r>
            <a:endParaRPr b="0" i="0" sz="1300" u="none" cap="none" strike="noStrike">
              <a:solidFill>
                <a:schemeClr val="dk1"/>
              </a:solidFill>
              <a:latin typeface="IBM Plex Sans"/>
              <a:ea typeface="IBM Plex Sans"/>
              <a:cs typeface="IBM Plex Sans"/>
              <a:sym typeface="IBM Plex Sans"/>
            </a:endParaRPr>
          </a:p>
        </p:txBody>
      </p:sp>
      <p:sp>
        <p:nvSpPr>
          <p:cNvPr id="144" name="Google Shape;144;p10"/>
          <p:cNvSpPr txBox="1"/>
          <p:nvPr/>
        </p:nvSpPr>
        <p:spPr>
          <a:xfrm>
            <a:off x="841248" y="5504688"/>
            <a:ext cx="40233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runs the experiments, drops caches, reads NIC counters</a:t>
            </a:r>
            <a:endParaRPr b="0" i="0" sz="1100" u="none" cap="none" strike="noStrike">
              <a:solidFill>
                <a:schemeClr val="dk1"/>
              </a:solidFill>
              <a:latin typeface="IBM Plex Sans"/>
              <a:ea typeface="IBM Plex Sans"/>
              <a:cs typeface="IBM Plex Sans"/>
              <a:sym typeface="IBM Plex Sans"/>
            </a:endParaRPr>
          </a:p>
        </p:txBody>
      </p:sp>
      <p:sp>
        <p:nvSpPr>
          <p:cNvPr id="145" name="Google Shape;145;p10"/>
          <p:cNvSpPr/>
          <p:nvPr/>
        </p:nvSpPr>
        <p:spPr>
          <a:xfrm>
            <a:off x="7104888" y="1783080"/>
            <a:ext cx="4480560" cy="438912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
          <p:cNvSpPr txBox="1"/>
          <p:nvPr/>
        </p:nvSpPr>
        <p:spPr>
          <a:xfrm>
            <a:off x="7333488" y="1920240"/>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IBM Plex Sans Medium"/>
              <a:buNone/>
            </a:pPr>
            <a:r>
              <a:rPr b="0" i="0" lang="en-US" sz="1800" u="none" cap="none" strike="noStrike">
                <a:solidFill>
                  <a:schemeClr val="dk1"/>
                </a:solidFill>
                <a:latin typeface="IBM Plex Sans Medium"/>
                <a:ea typeface="IBM Plex Sans Medium"/>
                <a:cs typeface="IBM Plex Sans Medium"/>
                <a:sym typeface="IBM Plex Sans Medium"/>
              </a:rPr>
              <a:t>Storage node</a:t>
            </a:r>
            <a:endParaRPr b="0" i="0" sz="1800" u="none" cap="none" strike="noStrike">
              <a:solidFill>
                <a:schemeClr val="dk1"/>
              </a:solidFill>
              <a:latin typeface="IBM Plex Sans"/>
              <a:ea typeface="IBM Plex Sans"/>
              <a:cs typeface="IBM Plex Sans"/>
              <a:sym typeface="IBM Plex Sans"/>
            </a:endParaRPr>
          </a:p>
        </p:txBody>
      </p:sp>
      <p:sp>
        <p:nvSpPr>
          <p:cNvPr id="147" name="Google Shape;147;p10"/>
          <p:cNvSpPr txBox="1"/>
          <p:nvPr/>
        </p:nvSpPr>
        <p:spPr>
          <a:xfrm>
            <a:off x="7333488" y="2304288"/>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MICROCEPH · CEPH 19.2</a:t>
            </a:r>
            <a:endParaRPr b="0" i="0" sz="1100" u="none" cap="none" strike="noStrike">
              <a:solidFill>
                <a:schemeClr val="dk1"/>
              </a:solidFill>
              <a:latin typeface="IBM Plex Sans"/>
              <a:ea typeface="IBM Plex Sans"/>
              <a:cs typeface="IBM Plex Sans"/>
              <a:sym typeface="IBM Plex Sans"/>
            </a:endParaRPr>
          </a:p>
        </p:txBody>
      </p:sp>
      <p:sp>
        <p:nvSpPr>
          <p:cNvPr id="148" name="Google Shape;148;p10"/>
          <p:cNvSpPr/>
          <p:nvPr/>
        </p:nvSpPr>
        <p:spPr>
          <a:xfrm>
            <a:off x="7333488" y="2743200"/>
            <a:ext cx="4023360" cy="868680"/>
          </a:xfrm>
          <a:prstGeom prst="rect">
            <a:avLst/>
          </a:prstGeom>
          <a:solidFill>
            <a:schemeClr val="accen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0"/>
          <p:cNvSpPr txBox="1"/>
          <p:nvPr/>
        </p:nvSpPr>
        <p:spPr>
          <a:xfrm>
            <a:off x="7516368" y="2834640"/>
            <a:ext cx="3657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IBM Plex Sans Medium"/>
              <a:buNone/>
            </a:pPr>
            <a:r>
              <a:rPr b="0" i="0" lang="en-US" sz="1500" u="none" cap="none" strike="noStrike">
                <a:solidFill>
                  <a:schemeClr val="dk1"/>
                </a:solidFill>
                <a:latin typeface="IBM Plex Sans Medium"/>
                <a:ea typeface="IBM Plex Sans Medium"/>
                <a:cs typeface="IBM Plex Sans Medium"/>
                <a:sym typeface="IBM Plex Sans Medium"/>
              </a:rPr>
              <a:t>Ceph + CephFS</a:t>
            </a:r>
            <a:endParaRPr b="0" i="0" sz="1500" u="none" cap="none" strike="noStrike">
              <a:solidFill>
                <a:schemeClr val="dk1"/>
              </a:solidFill>
              <a:latin typeface="IBM Plex Sans"/>
              <a:ea typeface="IBM Plex Sans"/>
              <a:cs typeface="IBM Plex Sans"/>
              <a:sym typeface="IBM Plex Sans"/>
            </a:endParaRPr>
          </a:p>
        </p:txBody>
      </p:sp>
      <p:sp>
        <p:nvSpPr>
          <p:cNvPr id="150" name="Google Shape;150;p10"/>
          <p:cNvSpPr txBox="1"/>
          <p:nvPr/>
        </p:nvSpPr>
        <p:spPr>
          <a:xfrm>
            <a:off x="7516368" y="320040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50"/>
              <a:buFont typeface="IBM Plex Mono"/>
              <a:buNone/>
            </a:pPr>
            <a:r>
              <a:rPr b="0" i="0" lang="en-US" sz="1050" u="none" cap="none" strike="noStrike">
                <a:solidFill>
                  <a:schemeClr val="dk2"/>
                </a:solidFill>
                <a:latin typeface="IBM Plex Mono"/>
                <a:ea typeface="IBM Plex Mono"/>
                <a:cs typeface="IBM Plex Mono"/>
                <a:sym typeface="IBM Plex Mono"/>
              </a:rPr>
              <a:t>mon · mgr · mds · 3 OSDs · 3× replication</a:t>
            </a:r>
            <a:endParaRPr b="0" i="0" sz="1050" u="none" cap="none" strike="noStrike">
              <a:solidFill>
                <a:schemeClr val="dk1"/>
              </a:solidFill>
              <a:latin typeface="IBM Plex Sans"/>
              <a:ea typeface="IBM Plex Sans"/>
              <a:cs typeface="IBM Plex Sans"/>
              <a:sym typeface="IBM Plex Sans"/>
            </a:endParaRPr>
          </a:p>
        </p:txBody>
      </p:sp>
      <p:sp>
        <p:nvSpPr>
          <p:cNvPr id="151" name="Google Shape;151;p10"/>
          <p:cNvSpPr/>
          <p:nvPr/>
        </p:nvSpPr>
        <p:spPr>
          <a:xfrm>
            <a:off x="7333488" y="3749040"/>
            <a:ext cx="4023360" cy="86868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0"/>
          <p:cNvSpPr txBox="1"/>
          <p:nvPr/>
        </p:nvSpPr>
        <p:spPr>
          <a:xfrm>
            <a:off x="7516368" y="3840480"/>
            <a:ext cx="3657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IBM Plex Sans Medium"/>
              <a:buNone/>
            </a:pPr>
            <a:r>
              <a:rPr b="0" i="0" lang="en-US" sz="1500" u="none" cap="none" strike="noStrike">
                <a:solidFill>
                  <a:schemeClr val="dk1"/>
                </a:solidFill>
                <a:latin typeface="IBM Plex Sans Medium"/>
                <a:ea typeface="IBM Plex Sans Medium"/>
                <a:cs typeface="IBM Plex Sans Medium"/>
                <a:sym typeface="IBM Plex Sans Medium"/>
              </a:rPr>
              <a:t>Worker container</a:t>
            </a:r>
            <a:endParaRPr b="0" i="0" sz="1500" u="none" cap="none" strike="noStrike">
              <a:solidFill>
                <a:schemeClr val="dk1"/>
              </a:solidFill>
              <a:latin typeface="IBM Plex Sans"/>
              <a:ea typeface="IBM Plex Sans"/>
              <a:cs typeface="IBM Plex Sans"/>
              <a:sym typeface="IBM Plex Sans"/>
            </a:endParaRPr>
          </a:p>
        </p:txBody>
      </p:sp>
      <p:sp>
        <p:nvSpPr>
          <p:cNvPr id="153" name="Google Shape;153;p10"/>
          <p:cNvSpPr txBox="1"/>
          <p:nvPr/>
        </p:nvSpPr>
        <p:spPr>
          <a:xfrm>
            <a:off x="7516368" y="420624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50"/>
              <a:buFont typeface="IBM Plex Mono"/>
              <a:buNone/>
            </a:pPr>
            <a:r>
              <a:rPr b="0" i="0" lang="en-US" sz="1050" u="none" cap="none" strike="noStrike">
                <a:solidFill>
                  <a:schemeClr val="dk2"/>
                </a:solidFill>
                <a:latin typeface="IBM Plex Mono"/>
                <a:ea typeface="IBM Plex Mono"/>
                <a:cs typeface="IBM Plex Mono"/>
                <a:sym typeface="IBM Plex Mono"/>
              </a:rPr>
              <a:t>storage mode: same image, same limits</a:t>
            </a:r>
            <a:endParaRPr b="0" i="0" sz="1050" u="none" cap="none" strike="noStrike">
              <a:solidFill>
                <a:schemeClr val="dk1"/>
              </a:solidFill>
              <a:latin typeface="IBM Plex Sans"/>
              <a:ea typeface="IBM Plex Sans"/>
              <a:cs typeface="IBM Plex Sans"/>
              <a:sym typeface="IBM Plex Sans"/>
            </a:endParaRPr>
          </a:p>
        </p:txBody>
      </p:sp>
      <p:sp>
        <p:nvSpPr>
          <p:cNvPr id="154" name="Google Shape;154;p10"/>
          <p:cNvSpPr/>
          <p:nvPr/>
        </p:nvSpPr>
        <p:spPr>
          <a:xfrm>
            <a:off x="7333488" y="4754880"/>
            <a:ext cx="4023360" cy="54864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0"/>
          <p:cNvSpPr txBox="1"/>
          <p:nvPr/>
        </p:nvSpPr>
        <p:spPr>
          <a:xfrm>
            <a:off x="7516368" y="4754880"/>
            <a:ext cx="3657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IBM Plex Sans"/>
              <a:buNone/>
            </a:pPr>
            <a:r>
              <a:rPr b="0" i="0" lang="en-US" sz="1300" u="none" cap="none" strike="noStrike">
                <a:solidFill>
                  <a:schemeClr val="dk1"/>
                </a:solidFill>
                <a:latin typeface="IBM Plex Sans"/>
                <a:ea typeface="IBM Plex Sans"/>
                <a:cs typeface="IBM Plex Sans"/>
                <a:sym typeface="IBM Plex Sans"/>
              </a:rPr>
              <a:t>cstore-service: converts newly loaded data</a:t>
            </a:r>
            <a:endParaRPr b="0" i="0" sz="1300" u="none" cap="none" strike="noStrike">
              <a:solidFill>
                <a:schemeClr val="dk1"/>
              </a:solidFill>
              <a:latin typeface="IBM Plex Sans"/>
              <a:ea typeface="IBM Plex Sans"/>
              <a:cs typeface="IBM Plex Sans"/>
              <a:sym typeface="IBM Plex Sans"/>
            </a:endParaRPr>
          </a:p>
        </p:txBody>
      </p:sp>
      <p:sp>
        <p:nvSpPr>
          <p:cNvPr id="156" name="Google Shape;156;p10"/>
          <p:cNvSpPr txBox="1"/>
          <p:nvPr/>
        </p:nvSpPr>
        <p:spPr>
          <a:xfrm>
            <a:off x="7333488" y="5504688"/>
            <a:ext cx="40233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DROID shards loaded from Google Cloud Storage, MD5-checked</a:t>
            </a:r>
            <a:endParaRPr b="0" i="0" sz="1100" u="none" cap="none" strike="noStrike">
              <a:solidFill>
                <a:schemeClr val="dk1"/>
              </a:solidFill>
              <a:latin typeface="IBM Plex Sans"/>
              <a:ea typeface="IBM Plex Sans"/>
              <a:cs typeface="IBM Plex Sans"/>
              <a:sym typeface="IBM Plex Sans"/>
            </a:endParaRPr>
          </a:p>
        </p:txBody>
      </p:sp>
      <p:cxnSp>
        <p:nvCxnSpPr>
          <p:cNvPr id="157" name="Google Shape;157;p10"/>
          <p:cNvCxnSpPr/>
          <p:nvPr/>
        </p:nvCxnSpPr>
        <p:spPr>
          <a:xfrm>
            <a:off x="4864608" y="3172968"/>
            <a:ext cx="2468880" cy="0"/>
          </a:xfrm>
          <a:prstGeom prst="straightConnector1">
            <a:avLst/>
          </a:prstGeom>
          <a:noFill/>
          <a:ln cap="flat" cmpd="sng" w="25400">
            <a:solidFill>
              <a:schemeClr val="accent1"/>
            </a:solidFill>
            <a:prstDash val="solid"/>
            <a:round/>
            <a:headEnd len="med" w="med" type="triangle"/>
            <a:tailEnd len="med" w="med" type="triangle"/>
          </a:ln>
        </p:spPr>
      </p:cxnSp>
      <p:sp>
        <p:nvSpPr>
          <p:cNvPr id="158" name="Google Shape;158;p10"/>
          <p:cNvSpPr txBox="1"/>
          <p:nvPr/>
        </p:nvSpPr>
        <p:spPr>
          <a:xfrm>
            <a:off x="4983480" y="2834640"/>
            <a:ext cx="224028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1"/>
              </a:buClr>
              <a:buSzPts val="1100"/>
              <a:buFont typeface="IBM Plex Mono"/>
              <a:buNone/>
            </a:pPr>
            <a:r>
              <a:rPr b="0" i="0" lang="en-US" sz="1100" u="none" cap="none" strike="noStrike">
                <a:solidFill>
                  <a:schemeClr val="accent1"/>
                </a:solidFill>
                <a:latin typeface="IBM Plex Mono"/>
                <a:ea typeface="IBM Plex Mono"/>
                <a:cs typeface="IBM Plex Mono"/>
                <a:sym typeface="IBM Plex Mono"/>
              </a:rPr>
              <a:t>NETWORK</a:t>
            </a:r>
            <a:endParaRPr b="0" i="0" sz="1100" u="none" cap="none" strike="noStrike">
              <a:solidFill>
                <a:schemeClr val="dk1"/>
              </a:solidFill>
              <a:latin typeface="IBM Plex Sans"/>
              <a:ea typeface="IBM Plex Sans"/>
              <a:cs typeface="IBM Plex Sans"/>
              <a:sym typeface="IBM Plex Sans"/>
            </a:endParaRPr>
          </a:p>
        </p:txBody>
      </p:sp>
      <p:sp>
        <p:nvSpPr>
          <p:cNvPr id="159" name="Google Shape;159;p10"/>
          <p:cNvSpPr txBox="1"/>
          <p:nvPr/>
        </p:nvSpPr>
        <p:spPr>
          <a:xfrm>
            <a:off x="5120640" y="3310128"/>
            <a:ext cx="1965960"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1"/>
              </a:buClr>
              <a:buSzPts val="1200"/>
              <a:buFont typeface="IBM Plex Sans"/>
              <a:buNone/>
            </a:pPr>
            <a:r>
              <a:rPr b="0" i="0" lang="en-US" sz="1200" u="none" cap="none" strike="noStrike">
                <a:solidFill>
                  <a:schemeClr val="accent1"/>
                </a:solidFill>
                <a:latin typeface="IBM Plex Sans"/>
                <a:ea typeface="IBM Plex Sans"/>
                <a:cs typeface="IBM Plex Sans"/>
                <a:sym typeface="IBM Plex Sans"/>
              </a:rPr>
              <a:t>separate mode: shard read, output written back</a:t>
            </a:r>
            <a:endParaRPr b="0" i="0" sz="1200" u="none" cap="none" strike="noStrike">
              <a:solidFill>
                <a:schemeClr val="dk1"/>
              </a:solidFill>
              <a:latin typeface="IBM Plex Sans"/>
              <a:ea typeface="IBM Plex Sans"/>
              <a:cs typeface="IBM Plex Sans"/>
              <a:sym typeface="IBM Plex Sans"/>
            </a:endParaRPr>
          </a:p>
        </p:txBody>
      </p:sp>
      <p:sp>
        <p:nvSpPr>
          <p:cNvPr id="160" name="Google Shape;160;p10"/>
          <p:cNvSpPr txBox="1"/>
          <p:nvPr/>
        </p:nvSpPr>
        <p:spPr>
          <a:xfrm>
            <a:off x="5120640" y="4343400"/>
            <a:ext cx="1965960" cy="914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200"/>
              <a:buFont typeface="IBM Plex Sans"/>
              <a:buNone/>
            </a:pPr>
            <a:r>
              <a:rPr b="0" i="0" lang="en-US" sz="1200" u="none" cap="none" strike="noStrike">
                <a:solidFill>
                  <a:schemeClr val="dk2"/>
                </a:solidFill>
                <a:latin typeface="IBM Plex Sans"/>
                <a:ea typeface="IBM Plex Sans"/>
                <a:cs typeface="IBM Plex Sans"/>
                <a:sym typeface="IBM Plex Sans"/>
              </a:rPr>
              <a:t>cross-host bytes = the storage node's NIC rx + tx</a:t>
            </a:r>
            <a:endParaRPr b="0" i="0" sz="1200" u="none" cap="none" strike="noStrike">
              <a:solidFill>
                <a:schemeClr val="dk1"/>
              </a:solidFill>
              <a:latin typeface="IBM Plex Sans"/>
              <a:ea typeface="IBM Plex Sans"/>
              <a:cs typeface="IBM Plex Sans"/>
              <a:sym typeface="IBM Plex Sans"/>
            </a:endParaRPr>
          </a:p>
        </p:txBody>
      </p:sp>
      <p:sp>
        <p:nvSpPr>
          <p:cNvPr id="161" name="Google Shape;161;p10"/>
          <p:cNvSpPr txBox="1"/>
          <p:nvPr>
            <p:ph idx="4294967295" type="sldNum"/>
          </p:nvPr>
        </p:nvSpPr>
        <p:spPr>
          <a:xfrm>
            <a:off x="11128248" y="6382512"/>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86574"/>
                </a:solidFill>
                <a:latin typeface="IBM Plex Mono"/>
                <a:ea typeface="IBM Plex Mono"/>
                <a:cs typeface="IBM Plex Mono"/>
                <a:sym typeface="IBM Plex Mono"/>
              </a:rPr>
              <a:t>‹#›</a:t>
            </a:fld>
            <a:endParaRPr b="0" i="0" sz="1000" u="none" cap="none" strike="noStrike">
              <a:solidFill>
                <a:srgbClr val="586574"/>
              </a:solidFill>
              <a:latin typeface="IBM Plex Mono"/>
              <a:ea typeface="IBM Plex Mono"/>
              <a:cs typeface="IBM Plex Mono"/>
              <a:sym typeface="IBM Plex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1"/>
          <p:cNvSpPr txBox="1"/>
          <p:nvPr>
            <p:ph type="title"/>
          </p:nvPr>
        </p:nvSpPr>
        <p:spPr>
          <a:xfrm>
            <a:off x="612648" y="393192"/>
            <a:ext cx="10972800" cy="5943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400"/>
              <a:buFont typeface="IBM Plex Sans Medium"/>
              <a:buNone/>
            </a:pPr>
            <a:r>
              <a:rPr lang="en-US" sz="3400">
                <a:solidFill>
                  <a:schemeClr val="dk1"/>
                </a:solidFill>
              </a:rPr>
              <a:t>How one job runs</a:t>
            </a:r>
            <a:endParaRPr sz="3400"/>
          </a:p>
        </p:txBody>
      </p:sp>
      <p:sp>
        <p:nvSpPr>
          <p:cNvPr id="168" name="Google Shape;168;p11"/>
          <p:cNvSpPr txBox="1"/>
          <p:nvPr>
            <p:ph idx="1" type="body"/>
          </p:nvPr>
        </p:nvSpPr>
        <p:spPr>
          <a:xfrm>
            <a:off x="612648" y="1088136"/>
            <a:ext cx="109728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700"/>
              <a:buNone/>
            </a:pPr>
            <a:r>
              <a:rPr lang="en-US" sz="1700">
                <a:solidFill>
                  <a:schemeClr val="dk2"/>
                </a:solidFill>
              </a:rPr>
              <a:t>One DROID shard in, one LeRobot dataset out (times measured on shard 2)</a:t>
            </a:r>
            <a:endParaRPr sz="1700"/>
          </a:p>
        </p:txBody>
      </p:sp>
      <p:sp>
        <p:nvSpPr>
          <p:cNvPr id="169" name="Google Shape;169;p11"/>
          <p:cNvSpPr/>
          <p:nvPr/>
        </p:nvSpPr>
        <p:spPr>
          <a:xfrm>
            <a:off x="612648" y="1783080"/>
            <a:ext cx="2514600" cy="178308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1"/>
          <p:cNvSpPr txBox="1"/>
          <p:nvPr/>
        </p:nvSpPr>
        <p:spPr>
          <a:xfrm>
            <a:off x="795528" y="1901952"/>
            <a:ext cx="914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IBM Plex Mono"/>
              <a:buNone/>
            </a:pPr>
            <a:r>
              <a:rPr b="0" i="0" lang="en-US" sz="1200" u="none" cap="none" strike="noStrike">
                <a:solidFill>
                  <a:schemeClr val="accent1"/>
                </a:solidFill>
                <a:latin typeface="IBM Plex Mono"/>
                <a:ea typeface="IBM Plex Mono"/>
                <a:cs typeface="IBM Plex Mono"/>
                <a:sym typeface="IBM Plex Mono"/>
              </a:rPr>
              <a:t>01</a:t>
            </a:r>
            <a:endParaRPr b="0" i="0" sz="1200" u="none" cap="none" strike="noStrike">
              <a:solidFill>
                <a:schemeClr val="dk1"/>
              </a:solidFill>
              <a:latin typeface="IBM Plex Sans"/>
              <a:ea typeface="IBM Plex Sans"/>
              <a:cs typeface="IBM Plex Sans"/>
              <a:sym typeface="IBM Plex Sans"/>
            </a:endParaRPr>
          </a:p>
        </p:txBody>
      </p:sp>
      <p:sp>
        <p:nvSpPr>
          <p:cNvPr id="171" name="Google Shape;171;p11"/>
          <p:cNvSpPr txBox="1"/>
          <p:nvPr/>
        </p:nvSpPr>
        <p:spPr>
          <a:xfrm>
            <a:off x="795528" y="2176272"/>
            <a:ext cx="21488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IBM Plex Sans Medium"/>
              <a:buNone/>
            </a:pPr>
            <a:r>
              <a:rPr b="0" i="0" lang="en-US" sz="1800" u="none" cap="none" strike="noStrike">
                <a:solidFill>
                  <a:schemeClr val="dk1"/>
                </a:solidFill>
                <a:latin typeface="IBM Plex Sans Medium"/>
                <a:ea typeface="IBM Plex Sans Medium"/>
                <a:cs typeface="IBM Plex Sans Medium"/>
                <a:sym typeface="IBM Plex Sans Medium"/>
              </a:rPr>
              <a:t>Job spec</a:t>
            </a:r>
            <a:endParaRPr b="0" i="0" sz="1800" u="none" cap="none" strike="noStrike">
              <a:solidFill>
                <a:schemeClr val="dk1"/>
              </a:solidFill>
              <a:latin typeface="IBM Plex Sans"/>
              <a:ea typeface="IBM Plex Sans"/>
              <a:cs typeface="IBM Plex Sans"/>
              <a:sym typeface="IBM Plex Sans"/>
            </a:endParaRPr>
          </a:p>
        </p:txBody>
      </p:sp>
      <p:sp>
        <p:nvSpPr>
          <p:cNvPr id="172" name="Google Shape;172;p11"/>
          <p:cNvSpPr txBox="1"/>
          <p:nvPr/>
        </p:nvSpPr>
        <p:spPr>
          <a:xfrm>
            <a:off x="795528" y="2560320"/>
            <a:ext cx="21488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IBM Plex Sans"/>
              <a:buNone/>
            </a:pPr>
            <a:r>
              <a:rPr b="0" i="0" lang="en-US" sz="1200" u="none" cap="none" strike="noStrike">
                <a:solidFill>
                  <a:schemeClr val="dk2"/>
                </a:solidFill>
                <a:latin typeface="IBM Plex Sans"/>
                <a:ea typeface="IBM Plex Sans"/>
                <a:cs typeface="IBM Plex Sans"/>
                <a:sym typeface="IBM Plex Sans"/>
              </a:rPr>
              <a:t>Function, declared input files, output directory</a:t>
            </a:r>
            <a:endParaRPr b="0" i="0" sz="1200" u="none" cap="none" strike="noStrike">
              <a:solidFill>
                <a:schemeClr val="dk1"/>
              </a:solidFill>
              <a:latin typeface="IBM Plex Sans"/>
              <a:ea typeface="IBM Plex Sans"/>
              <a:cs typeface="IBM Plex Sans"/>
              <a:sym typeface="IBM Plex Sans"/>
            </a:endParaRPr>
          </a:p>
        </p:txBody>
      </p:sp>
      <p:sp>
        <p:nvSpPr>
          <p:cNvPr id="173" name="Google Shape;173;p11"/>
          <p:cNvSpPr txBox="1"/>
          <p:nvPr/>
        </p:nvSpPr>
        <p:spPr>
          <a:xfrm>
            <a:off x="795528" y="3200400"/>
            <a:ext cx="21488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IBM Plex Mono"/>
              <a:buNone/>
            </a:pPr>
            <a:r>
              <a:rPr b="0" i="0" lang="en-US" sz="1200" u="none" cap="none" strike="noStrike">
                <a:solidFill>
                  <a:schemeClr val="dk1"/>
                </a:solidFill>
                <a:latin typeface="IBM Plex Mono"/>
                <a:ea typeface="IBM Plex Mono"/>
                <a:cs typeface="IBM Plex Mono"/>
                <a:sym typeface="IBM Plex Mono"/>
              </a:rPr>
              <a:t>jobs.py</a:t>
            </a:r>
            <a:endParaRPr b="0" i="0" sz="1200" u="none" cap="none" strike="noStrike">
              <a:solidFill>
                <a:schemeClr val="dk1"/>
              </a:solidFill>
              <a:latin typeface="IBM Plex Sans"/>
              <a:ea typeface="IBM Plex Sans"/>
              <a:cs typeface="IBM Plex Sans"/>
              <a:sym typeface="IBM Plex Sans"/>
            </a:endParaRPr>
          </a:p>
        </p:txBody>
      </p:sp>
      <p:cxnSp>
        <p:nvCxnSpPr>
          <p:cNvPr id="174" name="Google Shape;174;p11"/>
          <p:cNvCxnSpPr/>
          <p:nvPr/>
        </p:nvCxnSpPr>
        <p:spPr>
          <a:xfrm>
            <a:off x="3182112" y="2670048"/>
            <a:ext cx="195072" cy="0"/>
          </a:xfrm>
          <a:prstGeom prst="straightConnector1">
            <a:avLst/>
          </a:prstGeom>
          <a:noFill/>
          <a:ln cap="flat" cmpd="sng" w="12700">
            <a:solidFill>
              <a:schemeClr val="dk1"/>
            </a:solidFill>
            <a:prstDash val="solid"/>
            <a:round/>
            <a:headEnd len="sm" w="sm" type="none"/>
            <a:tailEnd len="med" w="med" type="triangle"/>
          </a:ln>
        </p:spPr>
      </p:cxnSp>
      <p:sp>
        <p:nvSpPr>
          <p:cNvPr id="175" name="Google Shape;175;p11"/>
          <p:cNvSpPr/>
          <p:nvPr/>
        </p:nvSpPr>
        <p:spPr>
          <a:xfrm>
            <a:off x="3432048" y="1783080"/>
            <a:ext cx="2514600" cy="178308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txBox="1"/>
          <p:nvPr/>
        </p:nvSpPr>
        <p:spPr>
          <a:xfrm>
            <a:off x="3614928" y="1901952"/>
            <a:ext cx="914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IBM Plex Mono"/>
              <a:buNone/>
            </a:pPr>
            <a:r>
              <a:rPr b="0" i="0" lang="en-US" sz="1200" u="none" cap="none" strike="noStrike">
                <a:solidFill>
                  <a:schemeClr val="accent1"/>
                </a:solidFill>
                <a:latin typeface="IBM Plex Mono"/>
                <a:ea typeface="IBM Plex Mono"/>
                <a:cs typeface="IBM Plex Mono"/>
                <a:sym typeface="IBM Plex Mono"/>
              </a:rPr>
              <a:t>02</a:t>
            </a:r>
            <a:endParaRPr b="0" i="0" sz="1200" u="none" cap="none" strike="noStrike">
              <a:solidFill>
                <a:schemeClr val="dk1"/>
              </a:solidFill>
              <a:latin typeface="IBM Plex Sans"/>
              <a:ea typeface="IBM Plex Sans"/>
              <a:cs typeface="IBM Plex Sans"/>
              <a:sym typeface="IBM Plex Sans"/>
            </a:endParaRPr>
          </a:p>
        </p:txBody>
      </p:sp>
      <p:sp>
        <p:nvSpPr>
          <p:cNvPr id="177" name="Google Shape;177;p11"/>
          <p:cNvSpPr txBox="1"/>
          <p:nvPr/>
        </p:nvSpPr>
        <p:spPr>
          <a:xfrm>
            <a:off x="3614928" y="2176272"/>
            <a:ext cx="21488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IBM Plex Sans Medium"/>
              <a:buNone/>
            </a:pPr>
            <a:r>
              <a:rPr b="0" i="0" lang="en-US" sz="1800" u="none" cap="none" strike="noStrike">
                <a:solidFill>
                  <a:schemeClr val="dk1"/>
                </a:solidFill>
                <a:latin typeface="IBM Plex Sans Medium"/>
                <a:ea typeface="IBM Plex Sans Medium"/>
                <a:cs typeface="IBM Plex Sans Medium"/>
                <a:sym typeface="IBM Plex Sans Medium"/>
              </a:rPr>
              <a:t>Convert</a:t>
            </a:r>
            <a:endParaRPr b="0" i="0" sz="1800" u="none" cap="none" strike="noStrike">
              <a:solidFill>
                <a:schemeClr val="dk1"/>
              </a:solidFill>
              <a:latin typeface="IBM Plex Sans"/>
              <a:ea typeface="IBM Plex Sans"/>
              <a:cs typeface="IBM Plex Sans"/>
              <a:sym typeface="IBM Plex Sans"/>
            </a:endParaRPr>
          </a:p>
        </p:txBody>
      </p:sp>
      <p:sp>
        <p:nvSpPr>
          <p:cNvPr id="178" name="Google Shape;178;p11"/>
          <p:cNvSpPr txBox="1"/>
          <p:nvPr/>
        </p:nvSpPr>
        <p:spPr>
          <a:xfrm>
            <a:off x="3614928" y="2560320"/>
            <a:ext cx="21488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IBM Plex Sans"/>
              <a:buNone/>
            </a:pPr>
            <a:r>
              <a:rPr b="0" i="0" lang="en-US" sz="1200" u="none" cap="none" strike="noStrike">
                <a:solidFill>
                  <a:schemeClr val="dk2"/>
                </a:solidFill>
                <a:latin typeface="IBM Plex Sans"/>
                <a:ea typeface="IBM Plex Sans"/>
                <a:cs typeface="IBM Plex Sans"/>
                <a:sym typeface="IBM Plex Sans"/>
              </a:rPr>
              <a:t>Reads the shard from CephFS, writes to local scratch</a:t>
            </a:r>
            <a:endParaRPr b="0" i="0" sz="1200" u="none" cap="none" strike="noStrike">
              <a:solidFill>
                <a:schemeClr val="dk1"/>
              </a:solidFill>
              <a:latin typeface="IBM Plex Sans"/>
              <a:ea typeface="IBM Plex Sans"/>
              <a:cs typeface="IBM Plex Sans"/>
              <a:sym typeface="IBM Plex Sans"/>
            </a:endParaRPr>
          </a:p>
        </p:txBody>
      </p:sp>
      <p:sp>
        <p:nvSpPr>
          <p:cNvPr id="179" name="Google Shape;179;p11"/>
          <p:cNvSpPr txBox="1"/>
          <p:nvPr/>
        </p:nvSpPr>
        <p:spPr>
          <a:xfrm>
            <a:off x="3614928" y="3200400"/>
            <a:ext cx="21488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IBM Plex Mono"/>
              <a:buNone/>
            </a:pPr>
            <a:r>
              <a:rPr b="0" i="0" lang="en-US" sz="1200" u="none" cap="none" strike="noStrike">
                <a:solidFill>
                  <a:schemeClr val="dk1"/>
                </a:solidFill>
                <a:latin typeface="IBM Plex Mono"/>
                <a:ea typeface="IBM Plex Mono"/>
                <a:cs typeface="IBM Plex Mono"/>
                <a:sym typeface="IBM Plex Mono"/>
              </a:rPr>
              <a:t>301 s</a:t>
            </a:r>
            <a:endParaRPr b="0" i="0" sz="1200" u="none" cap="none" strike="noStrike">
              <a:solidFill>
                <a:schemeClr val="dk1"/>
              </a:solidFill>
              <a:latin typeface="IBM Plex Sans"/>
              <a:ea typeface="IBM Plex Sans"/>
              <a:cs typeface="IBM Plex Sans"/>
              <a:sym typeface="IBM Plex Sans"/>
            </a:endParaRPr>
          </a:p>
        </p:txBody>
      </p:sp>
      <p:cxnSp>
        <p:nvCxnSpPr>
          <p:cNvPr id="180" name="Google Shape;180;p11"/>
          <p:cNvCxnSpPr/>
          <p:nvPr/>
        </p:nvCxnSpPr>
        <p:spPr>
          <a:xfrm>
            <a:off x="6001512" y="2670048"/>
            <a:ext cx="195072" cy="0"/>
          </a:xfrm>
          <a:prstGeom prst="straightConnector1">
            <a:avLst/>
          </a:prstGeom>
          <a:noFill/>
          <a:ln cap="flat" cmpd="sng" w="12700">
            <a:solidFill>
              <a:schemeClr val="dk1"/>
            </a:solidFill>
            <a:prstDash val="solid"/>
            <a:round/>
            <a:headEnd len="sm" w="sm" type="none"/>
            <a:tailEnd len="med" w="med" type="triangle"/>
          </a:ln>
        </p:spPr>
      </p:cxnSp>
      <p:sp>
        <p:nvSpPr>
          <p:cNvPr id="181" name="Google Shape;181;p11"/>
          <p:cNvSpPr/>
          <p:nvPr/>
        </p:nvSpPr>
        <p:spPr>
          <a:xfrm>
            <a:off x="6251448" y="1783080"/>
            <a:ext cx="2514600" cy="178308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txBox="1"/>
          <p:nvPr/>
        </p:nvSpPr>
        <p:spPr>
          <a:xfrm>
            <a:off x="6434328" y="1901952"/>
            <a:ext cx="914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IBM Plex Mono"/>
              <a:buNone/>
            </a:pPr>
            <a:r>
              <a:rPr b="0" i="0" lang="en-US" sz="1200" u="none" cap="none" strike="noStrike">
                <a:solidFill>
                  <a:schemeClr val="accent1"/>
                </a:solidFill>
                <a:latin typeface="IBM Plex Mono"/>
                <a:ea typeface="IBM Plex Mono"/>
                <a:cs typeface="IBM Plex Mono"/>
                <a:sym typeface="IBM Plex Mono"/>
              </a:rPr>
              <a:t>03</a:t>
            </a:r>
            <a:endParaRPr b="0" i="0" sz="1200" u="none" cap="none" strike="noStrike">
              <a:solidFill>
                <a:schemeClr val="dk1"/>
              </a:solidFill>
              <a:latin typeface="IBM Plex Sans"/>
              <a:ea typeface="IBM Plex Sans"/>
              <a:cs typeface="IBM Plex Sans"/>
              <a:sym typeface="IBM Plex Sans"/>
            </a:endParaRPr>
          </a:p>
        </p:txBody>
      </p:sp>
      <p:sp>
        <p:nvSpPr>
          <p:cNvPr id="183" name="Google Shape;183;p11"/>
          <p:cNvSpPr txBox="1"/>
          <p:nvPr/>
        </p:nvSpPr>
        <p:spPr>
          <a:xfrm>
            <a:off x="6434328" y="2176272"/>
            <a:ext cx="21488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IBM Plex Sans Medium"/>
              <a:buNone/>
            </a:pPr>
            <a:r>
              <a:rPr b="0" i="0" lang="en-US" sz="1800" u="none" cap="none" strike="noStrike">
                <a:solidFill>
                  <a:schemeClr val="dk1"/>
                </a:solidFill>
                <a:latin typeface="IBM Plex Sans Medium"/>
                <a:ea typeface="IBM Plex Sans Medium"/>
                <a:cs typeface="IBM Plex Sans Medium"/>
                <a:sym typeface="IBM Plex Sans Medium"/>
              </a:rPr>
              <a:t>Publish</a:t>
            </a:r>
            <a:endParaRPr b="0" i="0" sz="1800" u="none" cap="none" strike="noStrike">
              <a:solidFill>
                <a:schemeClr val="dk1"/>
              </a:solidFill>
              <a:latin typeface="IBM Plex Sans"/>
              <a:ea typeface="IBM Plex Sans"/>
              <a:cs typeface="IBM Plex Sans"/>
              <a:sym typeface="IBM Plex Sans"/>
            </a:endParaRPr>
          </a:p>
        </p:txBody>
      </p:sp>
      <p:sp>
        <p:nvSpPr>
          <p:cNvPr id="184" name="Google Shape;184;p11"/>
          <p:cNvSpPr txBox="1"/>
          <p:nvPr/>
        </p:nvSpPr>
        <p:spPr>
          <a:xfrm>
            <a:off x="6434328" y="2560320"/>
            <a:ext cx="21488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IBM Plex Sans"/>
              <a:buNone/>
            </a:pPr>
            <a:r>
              <a:rPr b="0" i="0" lang="en-US" sz="1200" u="none" cap="none" strike="noStrike">
                <a:solidFill>
                  <a:schemeClr val="dk2"/>
                </a:solidFill>
                <a:latin typeface="IBM Plex Sans"/>
                <a:ea typeface="IBM Plex Sans"/>
                <a:cs typeface="IBM Plex Sans"/>
                <a:sym typeface="IBM Plex Sans"/>
              </a:rPr>
              <a:t>Copy and fsync onto CephFS, then one atomic rename</a:t>
            </a:r>
            <a:endParaRPr b="0" i="0" sz="1200" u="none" cap="none" strike="noStrike">
              <a:solidFill>
                <a:schemeClr val="dk1"/>
              </a:solidFill>
              <a:latin typeface="IBM Plex Sans"/>
              <a:ea typeface="IBM Plex Sans"/>
              <a:cs typeface="IBM Plex Sans"/>
              <a:sym typeface="IBM Plex Sans"/>
            </a:endParaRPr>
          </a:p>
        </p:txBody>
      </p:sp>
      <p:sp>
        <p:nvSpPr>
          <p:cNvPr id="185" name="Google Shape;185;p11"/>
          <p:cNvSpPr txBox="1"/>
          <p:nvPr/>
        </p:nvSpPr>
        <p:spPr>
          <a:xfrm>
            <a:off x="6434328" y="3200400"/>
            <a:ext cx="21488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IBM Plex Mono"/>
              <a:buNone/>
            </a:pPr>
            <a:r>
              <a:rPr b="0" i="0" lang="en-US" sz="1200" u="none" cap="none" strike="noStrike">
                <a:solidFill>
                  <a:schemeClr val="dk1"/>
                </a:solidFill>
                <a:latin typeface="IBM Plex Mono"/>
                <a:ea typeface="IBM Plex Mono"/>
                <a:cs typeface="IBM Plex Mono"/>
                <a:sym typeface="IBM Plex Mono"/>
              </a:rPr>
              <a:t>0.8 s · 141.5 MB</a:t>
            </a:r>
            <a:endParaRPr b="0" i="0" sz="1200" u="none" cap="none" strike="noStrike">
              <a:solidFill>
                <a:schemeClr val="dk1"/>
              </a:solidFill>
              <a:latin typeface="IBM Plex Sans"/>
              <a:ea typeface="IBM Plex Sans"/>
              <a:cs typeface="IBM Plex Sans"/>
              <a:sym typeface="IBM Plex Sans"/>
            </a:endParaRPr>
          </a:p>
        </p:txBody>
      </p:sp>
      <p:cxnSp>
        <p:nvCxnSpPr>
          <p:cNvPr id="186" name="Google Shape;186;p11"/>
          <p:cNvCxnSpPr/>
          <p:nvPr/>
        </p:nvCxnSpPr>
        <p:spPr>
          <a:xfrm>
            <a:off x="8820912" y="2670048"/>
            <a:ext cx="195072" cy="0"/>
          </a:xfrm>
          <a:prstGeom prst="straightConnector1">
            <a:avLst/>
          </a:prstGeom>
          <a:noFill/>
          <a:ln cap="flat" cmpd="sng" w="12700">
            <a:solidFill>
              <a:schemeClr val="dk1"/>
            </a:solidFill>
            <a:prstDash val="solid"/>
            <a:round/>
            <a:headEnd len="sm" w="sm" type="none"/>
            <a:tailEnd len="med" w="med" type="triangle"/>
          </a:ln>
        </p:spPr>
      </p:cxnSp>
      <p:sp>
        <p:nvSpPr>
          <p:cNvPr id="187" name="Google Shape;187;p11"/>
          <p:cNvSpPr/>
          <p:nvPr/>
        </p:nvSpPr>
        <p:spPr>
          <a:xfrm>
            <a:off x="9070848" y="1783080"/>
            <a:ext cx="2514600" cy="178308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txBox="1"/>
          <p:nvPr/>
        </p:nvSpPr>
        <p:spPr>
          <a:xfrm>
            <a:off x="9253728" y="1901952"/>
            <a:ext cx="914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IBM Plex Mono"/>
              <a:buNone/>
            </a:pPr>
            <a:r>
              <a:rPr b="0" i="0" lang="en-US" sz="1200" u="none" cap="none" strike="noStrike">
                <a:solidFill>
                  <a:schemeClr val="accent1"/>
                </a:solidFill>
                <a:latin typeface="IBM Plex Mono"/>
                <a:ea typeface="IBM Plex Mono"/>
                <a:cs typeface="IBM Plex Mono"/>
                <a:sym typeface="IBM Plex Mono"/>
              </a:rPr>
              <a:t>04</a:t>
            </a:r>
            <a:endParaRPr b="0" i="0" sz="1200" u="none" cap="none" strike="noStrike">
              <a:solidFill>
                <a:schemeClr val="dk1"/>
              </a:solidFill>
              <a:latin typeface="IBM Plex Sans"/>
              <a:ea typeface="IBM Plex Sans"/>
              <a:cs typeface="IBM Plex Sans"/>
              <a:sym typeface="IBM Plex Sans"/>
            </a:endParaRPr>
          </a:p>
        </p:txBody>
      </p:sp>
      <p:sp>
        <p:nvSpPr>
          <p:cNvPr id="189" name="Google Shape;189;p11"/>
          <p:cNvSpPr txBox="1"/>
          <p:nvPr/>
        </p:nvSpPr>
        <p:spPr>
          <a:xfrm>
            <a:off x="9253728" y="2176272"/>
            <a:ext cx="21488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IBM Plex Sans Medium"/>
              <a:buNone/>
            </a:pPr>
            <a:r>
              <a:rPr b="0" i="0" lang="en-US" sz="1800" u="none" cap="none" strike="noStrike">
                <a:solidFill>
                  <a:schemeClr val="dk1"/>
                </a:solidFill>
                <a:latin typeface="IBM Plex Sans Medium"/>
                <a:ea typeface="IBM Plex Sans Medium"/>
                <a:cs typeface="IBM Plex Sans Medium"/>
                <a:sym typeface="IBM Plex Sans Medium"/>
              </a:rPr>
              <a:t>Verify</a:t>
            </a:r>
            <a:endParaRPr b="0" i="0" sz="1800" u="none" cap="none" strike="noStrike">
              <a:solidFill>
                <a:schemeClr val="dk1"/>
              </a:solidFill>
              <a:latin typeface="IBM Plex Sans"/>
              <a:ea typeface="IBM Plex Sans"/>
              <a:cs typeface="IBM Plex Sans"/>
              <a:sym typeface="IBM Plex Sans"/>
            </a:endParaRPr>
          </a:p>
        </p:txBody>
      </p:sp>
      <p:sp>
        <p:nvSpPr>
          <p:cNvPr id="190" name="Google Shape;190;p11"/>
          <p:cNvSpPr txBox="1"/>
          <p:nvPr/>
        </p:nvSpPr>
        <p:spPr>
          <a:xfrm>
            <a:off x="9253728" y="2560320"/>
            <a:ext cx="21488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IBM Plex Sans"/>
              <a:buNone/>
            </a:pPr>
            <a:r>
              <a:rPr b="0" i="0" lang="en-US" sz="1200" u="none" cap="none" strike="noStrike">
                <a:solidFill>
                  <a:schemeClr val="dk2"/>
                </a:solidFill>
                <a:latin typeface="IBM Plex Sans"/>
                <a:ea typeface="IBM Plex Sans"/>
                <a:cs typeface="IBM Plex Sans"/>
                <a:sym typeface="IBM Plex Sans"/>
              </a:rPr>
              <a:t>LeRobot's loader; frame counts across data and 3 videos</a:t>
            </a:r>
            <a:endParaRPr b="0" i="0" sz="1200" u="none" cap="none" strike="noStrike">
              <a:solidFill>
                <a:schemeClr val="dk1"/>
              </a:solidFill>
              <a:latin typeface="IBM Plex Sans"/>
              <a:ea typeface="IBM Plex Sans"/>
              <a:cs typeface="IBM Plex Sans"/>
              <a:sym typeface="IBM Plex Sans"/>
            </a:endParaRPr>
          </a:p>
        </p:txBody>
      </p:sp>
      <p:sp>
        <p:nvSpPr>
          <p:cNvPr id="191" name="Google Shape;191;p11"/>
          <p:cNvSpPr txBox="1"/>
          <p:nvPr/>
        </p:nvSpPr>
        <p:spPr>
          <a:xfrm>
            <a:off x="9253728" y="3200400"/>
            <a:ext cx="21488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IBM Plex Mono"/>
              <a:buNone/>
            </a:pPr>
            <a:r>
              <a:rPr b="0" i="0" lang="en-US" sz="1200" u="none" cap="none" strike="noStrike">
                <a:solidFill>
                  <a:schemeClr val="dk1"/>
                </a:solidFill>
                <a:latin typeface="IBM Plex Mono"/>
                <a:ea typeface="IBM Plex Mono"/>
                <a:cs typeface="IBM Plex Mono"/>
                <a:sym typeface="IBM Plex Mono"/>
              </a:rPr>
              <a:t>39 / 39 episodes</a:t>
            </a:r>
            <a:endParaRPr b="0" i="0" sz="1200" u="none" cap="none" strike="noStrike">
              <a:solidFill>
                <a:schemeClr val="dk1"/>
              </a:solidFill>
              <a:latin typeface="IBM Plex Sans"/>
              <a:ea typeface="IBM Plex Sans"/>
              <a:cs typeface="IBM Plex Sans"/>
              <a:sym typeface="IBM Plex Sans"/>
            </a:endParaRPr>
          </a:p>
        </p:txBody>
      </p:sp>
      <p:sp>
        <p:nvSpPr>
          <p:cNvPr id="192" name="Google Shape;192;p11"/>
          <p:cNvSpPr txBox="1"/>
          <p:nvPr/>
        </p:nvSpPr>
        <p:spPr>
          <a:xfrm>
            <a:off x="612648" y="388620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DESIGN DECISIONS</a:t>
            </a:r>
            <a:endParaRPr b="0" i="0" sz="1100" u="none" cap="none" strike="noStrike">
              <a:solidFill>
                <a:schemeClr val="dk1"/>
              </a:solidFill>
              <a:latin typeface="IBM Plex Sans"/>
              <a:ea typeface="IBM Plex Sans"/>
              <a:cs typeface="IBM Plex Sans"/>
              <a:sym typeface="IBM Plex Sans"/>
            </a:endParaRPr>
          </a:p>
        </p:txBody>
      </p:sp>
      <p:sp>
        <p:nvSpPr>
          <p:cNvPr id="193" name="Google Shape;193;p11"/>
          <p:cNvSpPr/>
          <p:nvPr/>
        </p:nvSpPr>
        <p:spPr>
          <a:xfrm>
            <a:off x="612648" y="4224528"/>
            <a:ext cx="3456432" cy="192024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
          <p:cNvSpPr txBox="1"/>
          <p:nvPr/>
        </p:nvSpPr>
        <p:spPr>
          <a:xfrm>
            <a:off x="813816" y="4370832"/>
            <a:ext cx="3054096"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IBM Plex Sans Medium"/>
              <a:buNone/>
            </a:pPr>
            <a:r>
              <a:rPr b="0" i="0" lang="en-US" sz="1600" u="none" cap="none" strike="noStrike">
                <a:solidFill>
                  <a:schemeClr val="dk1"/>
                </a:solidFill>
                <a:latin typeface="IBM Plex Sans Medium"/>
                <a:ea typeface="IBM Plex Sans Medium"/>
                <a:cs typeface="IBM Plex Sans Medium"/>
                <a:sym typeface="IBM Plex Sans Medium"/>
              </a:rPr>
              <a:t>Reuse the converter unmodified</a:t>
            </a:r>
            <a:endParaRPr b="0" i="0" sz="1600" u="none" cap="none" strike="noStrike">
              <a:solidFill>
                <a:schemeClr val="dk1"/>
              </a:solidFill>
              <a:latin typeface="IBM Plex Sans"/>
              <a:ea typeface="IBM Plex Sans"/>
              <a:cs typeface="IBM Plex Sans"/>
              <a:sym typeface="IBM Plex Sans"/>
            </a:endParaRPr>
          </a:p>
        </p:txBody>
      </p:sp>
      <p:sp>
        <p:nvSpPr>
          <p:cNvPr id="195" name="Google Shape;195;p11"/>
          <p:cNvSpPr txBox="1"/>
          <p:nvPr/>
        </p:nvSpPr>
        <p:spPr>
          <a:xfrm>
            <a:off x="813816" y="4800600"/>
            <a:ext cx="3054096"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IBM Plex Sans"/>
              <a:buNone/>
            </a:pPr>
            <a:r>
              <a:rPr b="0" i="0" lang="en-US" sz="1400" u="none" cap="none" strike="noStrike">
                <a:solidFill>
                  <a:schemeClr val="dk2"/>
                </a:solidFill>
                <a:latin typeface="IBM Plex Sans"/>
                <a:ea typeface="IBM Plex Sans"/>
                <a:cs typeface="IBM Plex Sans"/>
                <a:sym typeface="IBM Plex Sans"/>
              </a:rPr>
              <a:t>Hugging Face's port_droid.py, verified by checksum before every run, so where it runs is the only thing that changes.</a:t>
            </a:r>
            <a:endParaRPr b="0" i="0" sz="1400" u="none" cap="none" strike="noStrike">
              <a:solidFill>
                <a:schemeClr val="dk1"/>
              </a:solidFill>
              <a:latin typeface="IBM Plex Sans"/>
              <a:ea typeface="IBM Plex Sans"/>
              <a:cs typeface="IBM Plex Sans"/>
              <a:sym typeface="IBM Plex Sans"/>
            </a:endParaRPr>
          </a:p>
        </p:txBody>
      </p:sp>
      <p:sp>
        <p:nvSpPr>
          <p:cNvPr id="196" name="Google Shape;196;p11"/>
          <p:cNvSpPr/>
          <p:nvPr/>
        </p:nvSpPr>
        <p:spPr>
          <a:xfrm>
            <a:off x="4370832" y="4224528"/>
            <a:ext cx="3456432" cy="192024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txBox="1"/>
          <p:nvPr/>
        </p:nvSpPr>
        <p:spPr>
          <a:xfrm>
            <a:off x="4572000" y="4370832"/>
            <a:ext cx="3054096"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IBM Plex Sans Medium"/>
              <a:buNone/>
            </a:pPr>
            <a:r>
              <a:rPr b="0" i="0" lang="en-US" sz="1600" u="none" cap="none" strike="noStrike">
                <a:solidFill>
                  <a:schemeClr val="dk1"/>
                </a:solidFill>
                <a:latin typeface="IBM Plex Sans Medium"/>
                <a:ea typeface="IBM Plex Sans Medium"/>
                <a:cs typeface="IBM Plex Sans Medium"/>
                <a:sym typeface="IBM Plex Sans Medium"/>
              </a:rPr>
              <a:t>Same container in both modes</a:t>
            </a:r>
            <a:endParaRPr b="0" i="0" sz="1600" u="none" cap="none" strike="noStrike">
              <a:solidFill>
                <a:schemeClr val="dk1"/>
              </a:solidFill>
              <a:latin typeface="IBM Plex Sans"/>
              <a:ea typeface="IBM Plex Sans"/>
              <a:cs typeface="IBM Plex Sans"/>
              <a:sym typeface="IBM Plex Sans"/>
            </a:endParaRPr>
          </a:p>
        </p:txBody>
      </p:sp>
      <p:sp>
        <p:nvSpPr>
          <p:cNvPr id="198" name="Google Shape;198;p11"/>
          <p:cNvSpPr txBox="1"/>
          <p:nvPr/>
        </p:nvSpPr>
        <p:spPr>
          <a:xfrm>
            <a:off x="4572000" y="4800600"/>
            <a:ext cx="3054096"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IBM Plex Sans"/>
              <a:buNone/>
            </a:pPr>
            <a:r>
              <a:rPr b="0" i="0" lang="en-US" sz="1400" u="none" cap="none" strike="noStrike">
                <a:solidFill>
                  <a:schemeClr val="dk2"/>
                </a:solidFill>
                <a:latin typeface="IBM Plex Sans"/>
                <a:ea typeface="IBM Plex Sans"/>
                <a:cs typeface="IBM Plex Sans"/>
                <a:sym typeface="IBM Plex Sans"/>
              </a:rPr>
              <a:t>Same image, CPU and memory limits, and no network inside: every byte goes through CephFS, where we count it.</a:t>
            </a:r>
            <a:endParaRPr b="0" i="0" sz="1400" u="none" cap="none" strike="noStrike">
              <a:solidFill>
                <a:schemeClr val="dk1"/>
              </a:solidFill>
              <a:latin typeface="IBM Plex Sans"/>
              <a:ea typeface="IBM Plex Sans"/>
              <a:cs typeface="IBM Plex Sans"/>
              <a:sym typeface="IBM Plex Sans"/>
            </a:endParaRPr>
          </a:p>
        </p:txBody>
      </p:sp>
      <p:sp>
        <p:nvSpPr>
          <p:cNvPr id="199" name="Google Shape;199;p11"/>
          <p:cNvSpPr/>
          <p:nvPr/>
        </p:nvSpPr>
        <p:spPr>
          <a:xfrm>
            <a:off x="8129016" y="4224528"/>
            <a:ext cx="3456432" cy="1920240"/>
          </a:xfrm>
          <a:prstGeom prst="rect">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txBox="1"/>
          <p:nvPr/>
        </p:nvSpPr>
        <p:spPr>
          <a:xfrm>
            <a:off x="8330184" y="4370832"/>
            <a:ext cx="3054096"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IBM Plex Sans Medium"/>
              <a:buNone/>
            </a:pPr>
            <a:r>
              <a:rPr b="0" i="0" lang="en-US" sz="1600" u="none" cap="none" strike="noStrike">
                <a:solidFill>
                  <a:schemeClr val="dk1"/>
                </a:solidFill>
                <a:latin typeface="IBM Plex Sans Medium"/>
                <a:ea typeface="IBM Plex Sans Medium"/>
                <a:cs typeface="IBM Plex Sans Medium"/>
                <a:sym typeface="IBM Plex Sans Medium"/>
              </a:rPr>
              <a:t>Publish atomically</a:t>
            </a:r>
            <a:endParaRPr b="0" i="0" sz="1600" u="none" cap="none" strike="noStrike">
              <a:solidFill>
                <a:schemeClr val="dk1"/>
              </a:solidFill>
              <a:latin typeface="IBM Plex Sans"/>
              <a:ea typeface="IBM Plex Sans"/>
              <a:cs typeface="IBM Plex Sans"/>
              <a:sym typeface="IBM Plex Sans"/>
            </a:endParaRPr>
          </a:p>
        </p:txBody>
      </p:sp>
      <p:sp>
        <p:nvSpPr>
          <p:cNvPr id="201" name="Google Shape;201;p11"/>
          <p:cNvSpPr txBox="1"/>
          <p:nvPr/>
        </p:nvSpPr>
        <p:spPr>
          <a:xfrm>
            <a:off x="8330184" y="4800600"/>
            <a:ext cx="3054096"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IBM Plex Sans"/>
              <a:buNone/>
            </a:pPr>
            <a:r>
              <a:rPr b="0" i="0" lang="en-US" sz="1400" u="none" cap="none" strike="noStrike">
                <a:solidFill>
                  <a:schemeClr val="dk2"/>
                </a:solidFill>
                <a:latin typeface="IBM Plex Sans"/>
                <a:ea typeface="IBM Plex Sans"/>
                <a:cs typeface="IBM Plex Sans"/>
                <a:sym typeface="IBM Plex Sans"/>
              </a:rPr>
              <a:t>The service and other readers never see a half-written dataset, and a dataset is either complete or absent.</a:t>
            </a:r>
            <a:endParaRPr b="0" i="0" sz="1400" u="none" cap="none" strike="noStrike">
              <a:solidFill>
                <a:schemeClr val="dk1"/>
              </a:solidFill>
              <a:latin typeface="IBM Plex Sans"/>
              <a:ea typeface="IBM Plex Sans"/>
              <a:cs typeface="IBM Plex Sans"/>
              <a:sym typeface="IBM Plex Sans"/>
            </a:endParaRPr>
          </a:p>
        </p:txBody>
      </p:sp>
      <p:sp>
        <p:nvSpPr>
          <p:cNvPr id="202" name="Google Shape;202;p11"/>
          <p:cNvSpPr txBox="1"/>
          <p:nvPr>
            <p:ph idx="4294967295" type="sldNum"/>
          </p:nvPr>
        </p:nvSpPr>
        <p:spPr>
          <a:xfrm>
            <a:off x="11128248" y="6382512"/>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86574"/>
                </a:solidFill>
                <a:latin typeface="IBM Plex Mono"/>
                <a:ea typeface="IBM Plex Mono"/>
                <a:cs typeface="IBM Plex Mono"/>
                <a:sym typeface="IBM Plex Mono"/>
              </a:rPr>
              <a:t>‹#›</a:t>
            </a:fld>
            <a:endParaRPr b="0" i="0" sz="1000" u="none" cap="none" strike="noStrike">
              <a:solidFill>
                <a:srgbClr val="586574"/>
              </a:solidFill>
              <a:latin typeface="IBM Plex Mono"/>
              <a:ea typeface="IBM Plex Mono"/>
              <a:cs typeface="IBM Plex Mono"/>
              <a:sym typeface="IBM Plex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2"/>
          <p:cNvSpPr txBox="1"/>
          <p:nvPr>
            <p:ph type="title"/>
          </p:nvPr>
        </p:nvSpPr>
        <p:spPr>
          <a:xfrm>
            <a:off x="612648" y="393192"/>
            <a:ext cx="10972800" cy="5943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400"/>
              <a:buFont typeface="IBM Plex Sans Medium"/>
              <a:buNone/>
            </a:pPr>
            <a:r>
              <a:rPr lang="en-US" sz="3400">
                <a:solidFill>
                  <a:schemeClr val="dk1"/>
                </a:solidFill>
              </a:rPr>
              <a:t>Background conversion service</a:t>
            </a:r>
            <a:endParaRPr sz="3400"/>
          </a:p>
        </p:txBody>
      </p:sp>
      <p:sp>
        <p:nvSpPr>
          <p:cNvPr id="209" name="Google Shape;209;p12"/>
          <p:cNvSpPr txBox="1"/>
          <p:nvPr>
            <p:ph idx="1" type="body"/>
          </p:nvPr>
        </p:nvSpPr>
        <p:spPr>
          <a:xfrm>
            <a:off x="612648" y="1088136"/>
            <a:ext cx="109728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700"/>
              <a:buNone/>
            </a:pPr>
            <a:r>
              <a:rPr lang="en-US" sz="1700">
                <a:solidFill>
                  <a:schemeClr val="dk2"/>
                </a:solidFill>
              </a:rPr>
              <a:t>Newly loaded data is converted with no manual step (demo video)</a:t>
            </a:r>
            <a:endParaRPr sz="1700"/>
          </a:p>
        </p:txBody>
      </p:sp>
      <p:sp>
        <p:nvSpPr>
          <p:cNvPr id="210" name="Google Shape;210;p12"/>
          <p:cNvSpPr/>
          <p:nvPr/>
        </p:nvSpPr>
        <p:spPr>
          <a:xfrm>
            <a:off x="612648" y="1783080"/>
            <a:ext cx="457200" cy="457200"/>
          </a:xfrm>
          <a:prstGeom prst="ellipse">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txBox="1"/>
          <p:nvPr/>
        </p:nvSpPr>
        <p:spPr>
          <a:xfrm>
            <a:off x="612648" y="1783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1400"/>
              <a:buFont typeface="IBM Plex Mono"/>
              <a:buNone/>
            </a:pPr>
            <a:r>
              <a:rPr b="0" i="0" lang="en-US" sz="1400" u="none" cap="none" strike="noStrike">
                <a:solidFill>
                  <a:schemeClr val="accent1"/>
                </a:solidFill>
                <a:latin typeface="IBM Plex Mono"/>
                <a:ea typeface="IBM Plex Mono"/>
                <a:cs typeface="IBM Plex Mono"/>
                <a:sym typeface="IBM Plex Mono"/>
              </a:rPr>
              <a:t>1</a:t>
            </a:r>
            <a:endParaRPr b="0" i="0" sz="1400" u="none" cap="none" strike="noStrike">
              <a:solidFill>
                <a:schemeClr val="dk1"/>
              </a:solidFill>
              <a:latin typeface="IBM Plex Sans"/>
              <a:ea typeface="IBM Plex Sans"/>
              <a:cs typeface="IBM Plex Sans"/>
              <a:sym typeface="IBM Plex Sans"/>
            </a:endParaRPr>
          </a:p>
        </p:txBody>
      </p:sp>
      <p:cxnSp>
        <p:nvCxnSpPr>
          <p:cNvPr id="212" name="Google Shape;212;p12"/>
          <p:cNvCxnSpPr/>
          <p:nvPr/>
        </p:nvCxnSpPr>
        <p:spPr>
          <a:xfrm>
            <a:off x="841248" y="2286000"/>
            <a:ext cx="0" cy="548640"/>
          </a:xfrm>
          <a:prstGeom prst="straightConnector1">
            <a:avLst/>
          </a:prstGeom>
          <a:noFill/>
          <a:ln cap="flat" cmpd="sng" w="12700">
            <a:solidFill>
              <a:schemeClr val="accent3"/>
            </a:solidFill>
            <a:prstDash val="solid"/>
            <a:round/>
            <a:headEnd len="sm" w="sm" type="none"/>
            <a:tailEnd len="sm" w="sm" type="none"/>
          </a:ln>
        </p:spPr>
      </p:cxnSp>
      <p:sp>
        <p:nvSpPr>
          <p:cNvPr id="213" name="Google Shape;213;p12"/>
          <p:cNvSpPr txBox="1"/>
          <p:nvPr/>
        </p:nvSpPr>
        <p:spPr>
          <a:xfrm>
            <a:off x="1325880" y="1801368"/>
            <a:ext cx="42062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IBM Plex Sans Medium"/>
              <a:buNone/>
            </a:pPr>
            <a:r>
              <a:rPr b="0" i="0" lang="en-US" sz="1700" u="none" cap="none" strike="noStrike">
                <a:solidFill>
                  <a:schemeClr val="dk1"/>
                </a:solidFill>
                <a:latin typeface="IBM Plex Sans Medium"/>
                <a:ea typeface="IBM Plex Sans Medium"/>
                <a:cs typeface="IBM Plex Sans Medium"/>
                <a:sym typeface="IBM Plex Sans Medium"/>
              </a:rPr>
              <a:t>Shard loaded</a:t>
            </a:r>
            <a:endParaRPr b="0" i="0" sz="1700" u="none" cap="none" strike="noStrike">
              <a:solidFill>
                <a:schemeClr val="dk1"/>
              </a:solidFill>
              <a:latin typeface="IBM Plex Sans"/>
              <a:ea typeface="IBM Plex Sans"/>
              <a:cs typeface="IBM Plex Sans"/>
              <a:sym typeface="IBM Plex Sans"/>
            </a:endParaRPr>
          </a:p>
        </p:txBody>
      </p:sp>
      <p:sp>
        <p:nvSpPr>
          <p:cNvPr id="214" name="Google Shape;214;p12"/>
          <p:cNvSpPr txBox="1"/>
          <p:nvPr/>
        </p:nvSpPr>
        <p:spPr>
          <a:xfrm>
            <a:off x="1325880" y="2167128"/>
            <a:ext cx="43891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IBM Plex Sans"/>
              <a:buNone/>
            </a:pPr>
            <a:r>
              <a:rPr b="0" i="0" lang="en-US" sz="1400" u="none" cap="none" strike="noStrike">
                <a:solidFill>
                  <a:schemeClr val="dk2"/>
                </a:solidFill>
                <a:latin typeface="IBM Plex Sans"/>
                <a:ea typeface="IBM Plex Sans"/>
                <a:cs typeface="IBM Plex Sans"/>
                <a:sym typeface="IBM Plex Sans"/>
              </a:rPr>
              <a:t>bin/cstore load-droid writes it to CephFS</a:t>
            </a:r>
            <a:endParaRPr b="0" i="0" sz="1400" u="none" cap="none" strike="noStrike">
              <a:solidFill>
                <a:schemeClr val="dk1"/>
              </a:solidFill>
              <a:latin typeface="IBM Plex Sans"/>
              <a:ea typeface="IBM Plex Sans"/>
              <a:cs typeface="IBM Plex Sans"/>
              <a:sym typeface="IBM Plex Sans"/>
            </a:endParaRPr>
          </a:p>
        </p:txBody>
      </p:sp>
      <p:sp>
        <p:nvSpPr>
          <p:cNvPr id="215" name="Google Shape;215;p12"/>
          <p:cNvSpPr/>
          <p:nvPr/>
        </p:nvSpPr>
        <p:spPr>
          <a:xfrm>
            <a:off x="612648" y="2862072"/>
            <a:ext cx="457200" cy="457200"/>
          </a:xfrm>
          <a:prstGeom prst="ellipse">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2"/>
          <p:cNvSpPr txBox="1"/>
          <p:nvPr/>
        </p:nvSpPr>
        <p:spPr>
          <a:xfrm>
            <a:off x="612648" y="2862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1400"/>
              <a:buFont typeface="IBM Plex Mono"/>
              <a:buNone/>
            </a:pPr>
            <a:r>
              <a:rPr b="0" i="0" lang="en-US" sz="1400" u="none" cap="none" strike="noStrike">
                <a:solidFill>
                  <a:schemeClr val="accent1"/>
                </a:solidFill>
                <a:latin typeface="IBM Plex Mono"/>
                <a:ea typeface="IBM Plex Mono"/>
                <a:cs typeface="IBM Plex Mono"/>
                <a:sym typeface="IBM Plex Mono"/>
              </a:rPr>
              <a:t>2</a:t>
            </a:r>
            <a:endParaRPr b="0" i="0" sz="1400" u="none" cap="none" strike="noStrike">
              <a:solidFill>
                <a:schemeClr val="dk1"/>
              </a:solidFill>
              <a:latin typeface="IBM Plex Sans"/>
              <a:ea typeface="IBM Plex Sans"/>
              <a:cs typeface="IBM Plex Sans"/>
              <a:sym typeface="IBM Plex Sans"/>
            </a:endParaRPr>
          </a:p>
        </p:txBody>
      </p:sp>
      <p:cxnSp>
        <p:nvCxnSpPr>
          <p:cNvPr id="217" name="Google Shape;217;p12"/>
          <p:cNvCxnSpPr/>
          <p:nvPr/>
        </p:nvCxnSpPr>
        <p:spPr>
          <a:xfrm>
            <a:off x="841248" y="3364992"/>
            <a:ext cx="0" cy="548640"/>
          </a:xfrm>
          <a:prstGeom prst="straightConnector1">
            <a:avLst/>
          </a:prstGeom>
          <a:noFill/>
          <a:ln cap="flat" cmpd="sng" w="12700">
            <a:solidFill>
              <a:schemeClr val="accent3"/>
            </a:solidFill>
            <a:prstDash val="solid"/>
            <a:round/>
            <a:headEnd len="sm" w="sm" type="none"/>
            <a:tailEnd len="sm" w="sm" type="none"/>
          </a:ln>
        </p:spPr>
      </p:cxnSp>
      <p:sp>
        <p:nvSpPr>
          <p:cNvPr id="218" name="Google Shape;218;p12"/>
          <p:cNvSpPr txBox="1"/>
          <p:nvPr/>
        </p:nvSpPr>
        <p:spPr>
          <a:xfrm>
            <a:off x="1325880" y="2880360"/>
            <a:ext cx="42062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IBM Plex Sans Medium"/>
              <a:buNone/>
            </a:pPr>
            <a:r>
              <a:rPr b="0" i="0" lang="en-US" sz="1700" u="none" cap="none" strike="noStrike">
                <a:solidFill>
                  <a:schemeClr val="dk1"/>
                </a:solidFill>
                <a:latin typeface="IBM Plex Sans Medium"/>
                <a:ea typeface="IBM Plex Sans Medium"/>
                <a:cs typeface="IBM Plex Sans Medium"/>
                <a:sym typeface="IBM Plex Sans Medium"/>
              </a:rPr>
              <a:t>Service notices it</a:t>
            </a:r>
            <a:endParaRPr b="0" i="0" sz="1700" u="none" cap="none" strike="noStrike">
              <a:solidFill>
                <a:schemeClr val="dk1"/>
              </a:solidFill>
              <a:latin typeface="IBM Plex Sans"/>
              <a:ea typeface="IBM Plex Sans"/>
              <a:cs typeface="IBM Plex Sans"/>
              <a:sym typeface="IBM Plex Sans"/>
            </a:endParaRPr>
          </a:p>
        </p:txBody>
      </p:sp>
      <p:sp>
        <p:nvSpPr>
          <p:cNvPr id="219" name="Google Shape;219;p12"/>
          <p:cNvSpPr txBox="1"/>
          <p:nvPr/>
        </p:nvSpPr>
        <p:spPr>
          <a:xfrm>
            <a:off x="1325880" y="3246120"/>
            <a:ext cx="43891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IBM Plex Sans"/>
              <a:buNone/>
            </a:pPr>
            <a:r>
              <a:rPr b="0" i="0" lang="en-US" sz="1400" u="none" cap="none" strike="noStrike">
                <a:solidFill>
                  <a:schemeClr val="dk2"/>
                </a:solidFill>
                <a:latin typeface="IBM Plex Sans"/>
                <a:ea typeface="IBM Plex Sans"/>
                <a:cs typeface="IBM Plex Sans"/>
                <a:sym typeface="IBM Plex Sans"/>
              </a:rPr>
              <a:t>no LeRobot output yet → a job in queue/pending/</a:t>
            </a:r>
            <a:endParaRPr b="0" i="0" sz="1400" u="none" cap="none" strike="noStrike">
              <a:solidFill>
                <a:schemeClr val="dk1"/>
              </a:solidFill>
              <a:latin typeface="IBM Plex Sans"/>
              <a:ea typeface="IBM Plex Sans"/>
              <a:cs typeface="IBM Plex Sans"/>
              <a:sym typeface="IBM Plex Sans"/>
            </a:endParaRPr>
          </a:p>
        </p:txBody>
      </p:sp>
      <p:sp>
        <p:nvSpPr>
          <p:cNvPr id="220" name="Google Shape;220;p12"/>
          <p:cNvSpPr/>
          <p:nvPr/>
        </p:nvSpPr>
        <p:spPr>
          <a:xfrm>
            <a:off x="612648" y="3941064"/>
            <a:ext cx="457200" cy="457200"/>
          </a:xfrm>
          <a:prstGeom prst="ellipse">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2"/>
          <p:cNvSpPr txBox="1"/>
          <p:nvPr/>
        </p:nvSpPr>
        <p:spPr>
          <a:xfrm>
            <a:off x="612648" y="394106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1400"/>
              <a:buFont typeface="IBM Plex Mono"/>
              <a:buNone/>
            </a:pPr>
            <a:r>
              <a:rPr b="0" i="0" lang="en-US" sz="1400" u="none" cap="none" strike="noStrike">
                <a:solidFill>
                  <a:schemeClr val="accent1"/>
                </a:solidFill>
                <a:latin typeface="IBM Plex Mono"/>
                <a:ea typeface="IBM Plex Mono"/>
                <a:cs typeface="IBM Plex Mono"/>
                <a:sym typeface="IBM Plex Mono"/>
              </a:rPr>
              <a:t>3</a:t>
            </a:r>
            <a:endParaRPr b="0" i="0" sz="1400" u="none" cap="none" strike="noStrike">
              <a:solidFill>
                <a:schemeClr val="dk1"/>
              </a:solidFill>
              <a:latin typeface="IBM Plex Sans"/>
              <a:ea typeface="IBM Plex Sans"/>
              <a:cs typeface="IBM Plex Sans"/>
              <a:sym typeface="IBM Plex Sans"/>
            </a:endParaRPr>
          </a:p>
        </p:txBody>
      </p:sp>
      <p:cxnSp>
        <p:nvCxnSpPr>
          <p:cNvPr id="222" name="Google Shape;222;p12"/>
          <p:cNvCxnSpPr/>
          <p:nvPr/>
        </p:nvCxnSpPr>
        <p:spPr>
          <a:xfrm>
            <a:off x="841248" y="4443984"/>
            <a:ext cx="0" cy="548640"/>
          </a:xfrm>
          <a:prstGeom prst="straightConnector1">
            <a:avLst/>
          </a:prstGeom>
          <a:noFill/>
          <a:ln cap="flat" cmpd="sng" w="12700">
            <a:solidFill>
              <a:schemeClr val="accent3"/>
            </a:solidFill>
            <a:prstDash val="solid"/>
            <a:round/>
            <a:headEnd len="sm" w="sm" type="none"/>
            <a:tailEnd len="sm" w="sm" type="none"/>
          </a:ln>
        </p:spPr>
      </p:cxnSp>
      <p:sp>
        <p:nvSpPr>
          <p:cNvPr id="223" name="Google Shape;223;p12"/>
          <p:cNvSpPr txBox="1"/>
          <p:nvPr/>
        </p:nvSpPr>
        <p:spPr>
          <a:xfrm>
            <a:off x="1325880" y="3959352"/>
            <a:ext cx="42062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IBM Plex Sans Medium"/>
              <a:buNone/>
            </a:pPr>
            <a:r>
              <a:rPr b="0" i="0" lang="en-US" sz="1700" u="none" cap="none" strike="noStrike">
                <a:solidFill>
                  <a:schemeClr val="dk1"/>
                </a:solidFill>
                <a:latin typeface="IBM Plex Sans Medium"/>
                <a:ea typeface="IBM Plex Sans Medium"/>
                <a:cs typeface="IBM Plex Sans Medium"/>
                <a:sym typeface="IBM Plex Sans Medium"/>
              </a:rPr>
              <a:t>Claimed and run</a:t>
            </a:r>
            <a:endParaRPr b="0" i="0" sz="1700" u="none" cap="none" strike="noStrike">
              <a:solidFill>
                <a:schemeClr val="dk1"/>
              </a:solidFill>
              <a:latin typeface="IBM Plex Sans"/>
              <a:ea typeface="IBM Plex Sans"/>
              <a:cs typeface="IBM Plex Sans"/>
              <a:sym typeface="IBM Plex Sans"/>
            </a:endParaRPr>
          </a:p>
        </p:txBody>
      </p:sp>
      <p:sp>
        <p:nvSpPr>
          <p:cNvPr id="224" name="Google Shape;224;p12"/>
          <p:cNvSpPr txBox="1"/>
          <p:nvPr/>
        </p:nvSpPr>
        <p:spPr>
          <a:xfrm>
            <a:off x="1325880" y="4325112"/>
            <a:ext cx="43891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IBM Plex Sans"/>
              <a:buNone/>
            </a:pPr>
            <a:r>
              <a:rPr b="0" i="0" lang="en-US" sz="1400" u="none" cap="none" strike="noStrike">
                <a:solidFill>
                  <a:schemeClr val="dk2"/>
                </a:solidFill>
                <a:latin typeface="IBM Plex Sans"/>
                <a:ea typeface="IBM Plex Sans"/>
                <a:cs typeface="IBM Plex Sans"/>
                <a:sym typeface="IBM Plex Sans"/>
              </a:rPr>
              <a:t>atomic rename into running/, then a worker runs it</a:t>
            </a:r>
            <a:endParaRPr b="0" i="0" sz="1400" u="none" cap="none" strike="noStrike">
              <a:solidFill>
                <a:schemeClr val="dk1"/>
              </a:solidFill>
              <a:latin typeface="IBM Plex Sans"/>
              <a:ea typeface="IBM Plex Sans"/>
              <a:cs typeface="IBM Plex Sans"/>
              <a:sym typeface="IBM Plex Sans"/>
            </a:endParaRPr>
          </a:p>
        </p:txBody>
      </p:sp>
      <p:sp>
        <p:nvSpPr>
          <p:cNvPr id="225" name="Google Shape;225;p12"/>
          <p:cNvSpPr/>
          <p:nvPr/>
        </p:nvSpPr>
        <p:spPr>
          <a:xfrm>
            <a:off x="612648" y="5020056"/>
            <a:ext cx="457200" cy="457200"/>
          </a:xfrm>
          <a:prstGeom prst="ellipse">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txBox="1"/>
          <p:nvPr/>
        </p:nvSpPr>
        <p:spPr>
          <a:xfrm>
            <a:off x="612648" y="502005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1400"/>
              <a:buFont typeface="IBM Plex Mono"/>
              <a:buNone/>
            </a:pPr>
            <a:r>
              <a:rPr b="0" i="0" lang="en-US" sz="1400" u="none" cap="none" strike="noStrike">
                <a:solidFill>
                  <a:schemeClr val="accent1"/>
                </a:solidFill>
                <a:latin typeface="IBM Plex Mono"/>
                <a:ea typeface="IBM Plex Mono"/>
                <a:cs typeface="IBM Plex Mono"/>
                <a:sym typeface="IBM Plex Mono"/>
              </a:rPr>
              <a:t>4</a:t>
            </a:r>
            <a:endParaRPr b="0" i="0" sz="1400" u="none" cap="none" strike="noStrike">
              <a:solidFill>
                <a:schemeClr val="dk1"/>
              </a:solidFill>
              <a:latin typeface="IBM Plex Sans"/>
              <a:ea typeface="IBM Plex Sans"/>
              <a:cs typeface="IBM Plex Sans"/>
              <a:sym typeface="IBM Plex Sans"/>
            </a:endParaRPr>
          </a:p>
        </p:txBody>
      </p:sp>
      <p:sp>
        <p:nvSpPr>
          <p:cNvPr id="227" name="Google Shape;227;p12"/>
          <p:cNvSpPr txBox="1"/>
          <p:nvPr/>
        </p:nvSpPr>
        <p:spPr>
          <a:xfrm>
            <a:off x="1325880" y="5038344"/>
            <a:ext cx="42062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IBM Plex Sans Medium"/>
              <a:buNone/>
            </a:pPr>
            <a:r>
              <a:rPr b="0" i="0" lang="en-US" sz="1700" u="none" cap="none" strike="noStrike">
                <a:solidFill>
                  <a:schemeClr val="dk1"/>
                </a:solidFill>
                <a:latin typeface="IBM Plex Sans Medium"/>
                <a:ea typeface="IBM Plex Sans Medium"/>
                <a:cs typeface="IBM Plex Sans Medium"/>
                <a:sym typeface="IBM Plex Sans Medium"/>
              </a:rPr>
              <a:t>Done and verified</a:t>
            </a:r>
            <a:endParaRPr b="0" i="0" sz="1700" u="none" cap="none" strike="noStrike">
              <a:solidFill>
                <a:schemeClr val="dk1"/>
              </a:solidFill>
              <a:latin typeface="IBM Plex Sans"/>
              <a:ea typeface="IBM Plex Sans"/>
              <a:cs typeface="IBM Plex Sans"/>
              <a:sym typeface="IBM Plex Sans"/>
            </a:endParaRPr>
          </a:p>
        </p:txBody>
      </p:sp>
      <p:sp>
        <p:nvSpPr>
          <p:cNvPr id="228" name="Google Shape;228;p12"/>
          <p:cNvSpPr txBox="1"/>
          <p:nvPr/>
        </p:nvSpPr>
        <p:spPr>
          <a:xfrm>
            <a:off x="1325880" y="5404104"/>
            <a:ext cx="43891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IBM Plex Sans"/>
              <a:buNone/>
            </a:pPr>
            <a:r>
              <a:rPr b="0" i="0" lang="en-US" sz="1400" u="none" cap="none" strike="noStrike">
                <a:solidFill>
                  <a:schemeClr val="dk2"/>
                </a:solidFill>
                <a:latin typeface="IBM Plex Sans"/>
                <a:ea typeface="IBM Plex Sans"/>
                <a:cs typeface="IBM Plex Sans"/>
                <a:sym typeface="IBM Plex Sans"/>
              </a:rPr>
              <a:t>done/, a result record, VERIFY OK</a:t>
            </a:r>
            <a:endParaRPr b="0" i="0" sz="1400" u="none" cap="none" strike="noStrike">
              <a:solidFill>
                <a:schemeClr val="dk1"/>
              </a:solidFill>
              <a:latin typeface="IBM Plex Sans"/>
              <a:ea typeface="IBM Plex Sans"/>
              <a:cs typeface="IBM Plex Sans"/>
              <a:sym typeface="IBM Plex Sans"/>
            </a:endParaRPr>
          </a:p>
        </p:txBody>
      </p:sp>
      <p:sp>
        <p:nvSpPr>
          <p:cNvPr id="229" name="Google Shape;229;p12"/>
          <p:cNvSpPr/>
          <p:nvPr/>
        </p:nvSpPr>
        <p:spPr>
          <a:xfrm>
            <a:off x="6035040" y="1783080"/>
            <a:ext cx="5550408" cy="246888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txBox="1"/>
          <p:nvPr/>
        </p:nvSpPr>
        <p:spPr>
          <a:xfrm>
            <a:off x="6263640" y="1920240"/>
            <a:ext cx="51206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000"/>
              <a:buFont typeface="IBM Plex Mono"/>
              <a:buNone/>
            </a:pPr>
            <a:r>
              <a:rPr b="0" i="0" lang="en-US" sz="1000" u="none" cap="none" strike="noStrike">
                <a:solidFill>
                  <a:schemeClr val="accent3"/>
                </a:solidFill>
                <a:latin typeface="IBM Plex Mono"/>
                <a:ea typeface="IBM Plex Mono"/>
                <a:cs typeface="IBM Plex Mono"/>
                <a:sym typeface="IBM Plex Mono"/>
              </a:rPr>
              <a:t>SERVICE LOG AND VERIFICATION · AWS RUN 2, 2026-10-18</a:t>
            </a:r>
            <a:endParaRPr b="0" i="0" sz="1000" u="none" cap="none" strike="noStrike">
              <a:solidFill>
                <a:schemeClr val="dk1"/>
              </a:solidFill>
              <a:latin typeface="IBM Plex Sans"/>
              <a:ea typeface="IBM Plex Sans"/>
              <a:cs typeface="IBM Plex Sans"/>
              <a:sym typeface="IBM Plex Sans"/>
            </a:endParaRPr>
          </a:p>
        </p:txBody>
      </p:sp>
      <p:sp>
        <p:nvSpPr>
          <p:cNvPr id="231" name="Google Shape;231;p12"/>
          <p:cNvSpPr txBox="1"/>
          <p:nvPr/>
        </p:nvSpPr>
        <p:spPr>
          <a:xfrm>
            <a:off x="6263640" y="2331720"/>
            <a:ext cx="5120640" cy="20116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chemeClr val="lt1"/>
              </a:buClr>
              <a:buSzPts val="1250"/>
              <a:buFont typeface="IBM Plex Mono"/>
              <a:buNone/>
            </a:pPr>
            <a:r>
              <a:rPr b="0" i="0" lang="en-US" sz="1250" u="none" cap="none" strike="noStrike">
                <a:solidFill>
                  <a:schemeClr val="lt1"/>
                </a:solidFill>
                <a:latin typeface="IBM Plex Mono"/>
                <a:ea typeface="IBM Plex Mono"/>
                <a:cs typeface="IBM Plex Mono"/>
                <a:sym typeface="IBM Plex Mono"/>
              </a:rPr>
              <a:t>18:54:53  queued   svc-shard-00002</a:t>
            </a:r>
            <a:endParaRPr b="0" i="0" sz="1250" u="none" cap="none" strike="noStrike">
              <a:solidFill>
                <a:schemeClr val="dk1"/>
              </a:solidFill>
              <a:latin typeface="IBM Plex Sans"/>
              <a:ea typeface="IBM Plex Sans"/>
              <a:cs typeface="IBM Plex Sans"/>
              <a:sym typeface="IBM Plex Sans"/>
            </a:endParaRPr>
          </a:p>
          <a:p>
            <a:pPr indent="0" lvl="0" marL="0" marR="0" rtl="0" algn="l">
              <a:lnSpc>
                <a:spcPct val="110000"/>
              </a:lnSpc>
              <a:spcBef>
                <a:spcPts val="0"/>
              </a:spcBef>
              <a:spcAft>
                <a:spcPts val="0"/>
              </a:spcAft>
              <a:buClr>
                <a:schemeClr val="accent3"/>
              </a:buClr>
              <a:buSzPts val="1250"/>
              <a:buFont typeface="IBM Plex Mono"/>
              <a:buNone/>
            </a:pPr>
            <a:r>
              <a:rPr b="0" i="0" lang="en-US" sz="1250" u="none" cap="none" strike="noStrike">
                <a:solidFill>
                  <a:schemeClr val="accent3"/>
                </a:solidFill>
                <a:latin typeface="IBM Plex Mono"/>
                <a:ea typeface="IBM Plex Mono"/>
                <a:cs typeface="IBM Plex Mono"/>
                <a:sym typeface="IBM Plex Mono"/>
              </a:rPr>
              <a:t>          new shard 2 has no converted output</a:t>
            </a:r>
            <a:endParaRPr b="0" i="0" sz="1250" u="none" cap="none" strike="noStrike">
              <a:solidFill>
                <a:schemeClr val="dk1"/>
              </a:solidFill>
              <a:latin typeface="IBM Plex Sans"/>
              <a:ea typeface="IBM Plex Sans"/>
              <a:cs typeface="IBM Plex Sans"/>
              <a:sym typeface="IBM Plex Sans"/>
            </a:endParaRPr>
          </a:p>
          <a:p>
            <a:pPr indent="0" lvl="0" marL="0" marR="0" rtl="0" algn="l">
              <a:lnSpc>
                <a:spcPct val="110000"/>
              </a:lnSpc>
              <a:spcBef>
                <a:spcPts val="0"/>
              </a:spcBef>
              <a:spcAft>
                <a:spcPts val="0"/>
              </a:spcAft>
              <a:buClr>
                <a:schemeClr val="lt1"/>
              </a:buClr>
              <a:buSzPts val="1250"/>
              <a:buFont typeface="IBM Plex Mono"/>
              <a:buNone/>
            </a:pPr>
            <a:r>
              <a:rPr b="0" i="0" lang="en-US" sz="1250" u="none" cap="none" strike="noStrike">
                <a:solidFill>
                  <a:schemeClr val="lt1"/>
                </a:solidFill>
                <a:latin typeface="IBM Plex Mono"/>
                <a:ea typeface="IBM Plex Mono"/>
                <a:cs typeface="IBM Plex Mono"/>
                <a:sym typeface="IBM Plex Mono"/>
              </a:rPr>
              <a:t> </a:t>
            </a:r>
            <a:endParaRPr b="0" i="0" sz="1250" u="none" cap="none" strike="noStrike">
              <a:solidFill>
                <a:schemeClr val="dk1"/>
              </a:solidFill>
              <a:latin typeface="IBM Plex Sans"/>
              <a:ea typeface="IBM Plex Sans"/>
              <a:cs typeface="IBM Plex Sans"/>
              <a:sym typeface="IBM Plex Sans"/>
            </a:endParaRPr>
          </a:p>
          <a:p>
            <a:pPr indent="0" lvl="0" marL="0" marR="0" rtl="0" algn="l">
              <a:lnSpc>
                <a:spcPct val="110000"/>
              </a:lnSpc>
              <a:spcBef>
                <a:spcPts val="0"/>
              </a:spcBef>
              <a:spcAft>
                <a:spcPts val="0"/>
              </a:spcAft>
              <a:buClr>
                <a:schemeClr val="lt1"/>
              </a:buClr>
              <a:buSzPts val="1250"/>
              <a:buFont typeface="IBM Plex Mono"/>
              <a:buNone/>
            </a:pPr>
            <a:r>
              <a:rPr b="0" i="0" lang="en-US" sz="1250" u="none" cap="none" strike="noStrike">
                <a:solidFill>
                  <a:schemeClr val="lt1"/>
                </a:solidFill>
                <a:latin typeface="IBM Plex Mono"/>
                <a:ea typeface="IBM Plex Mono"/>
                <a:cs typeface="IBM Plex Mono"/>
                <a:sym typeface="IBM Plex Mono"/>
              </a:rPr>
              <a:t>18:54:54  running  droid_rlds_to_lerobot</a:t>
            </a:r>
            <a:endParaRPr b="0" i="0" sz="1250" u="none" cap="none" strike="noStrike">
              <a:solidFill>
                <a:schemeClr val="dk1"/>
              </a:solidFill>
              <a:latin typeface="IBM Plex Sans"/>
              <a:ea typeface="IBM Plex Sans"/>
              <a:cs typeface="IBM Plex Sans"/>
              <a:sym typeface="IBM Plex Sans"/>
            </a:endParaRPr>
          </a:p>
          <a:p>
            <a:pPr indent="0" lvl="0" marL="0" marR="0" rtl="0" algn="l">
              <a:lnSpc>
                <a:spcPct val="110000"/>
              </a:lnSpc>
              <a:spcBef>
                <a:spcPts val="0"/>
              </a:spcBef>
              <a:spcAft>
                <a:spcPts val="0"/>
              </a:spcAft>
              <a:buClr>
                <a:schemeClr val="lt1"/>
              </a:buClr>
              <a:buSzPts val="1250"/>
              <a:buFont typeface="IBM Plex Mono"/>
              <a:buNone/>
            </a:pPr>
            <a:r>
              <a:rPr b="0" i="0" lang="en-US" sz="1250" u="none" cap="none" strike="noStrike">
                <a:solidFill>
                  <a:schemeClr val="lt1"/>
                </a:solidFill>
                <a:latin typeface="IBM Plex Mono"/>
                <a:ea typeface="IBM Plex Mono"/>
                <a:cs typeface="IBM Plex Mono"/>
                <a:sym typeface="IBM Plex Mono"/>
              </a:rPr>
              <a:t> </a:t>
            </a:r>
            <a:endParaRPr b="0" i="0" sz="1250" u="none" cap="none" strike="noStrike">
              <a:solidFill>
                <a:schemeClr val="dk1"/>
              </a:solidFill>
              <a:latin typeface="IBM Plex Sans"/>
              <a:ea typeface="IBM Plex Sans"/>
              <a:cs typeface="IBM Plex Sans"/>
              <a:sym typeface="IBM Plex Sans"/>
            </a:endParaRPr>
          </a:p>
          <a:p>
            <a:pPr indent="0" lvl="0" marL="0" marR="0" rtl="0" algn="l">
              <a:lnSpc>
                <a:spcPct val="110000"/>
              </a:lnSpc>
              <a:spcBef>
                <a:spcPts val="0"/>
              </a:spcBef>
              <a:spcAft>
                <a:spcPts val="0"/>
              </a:spcAft>
              <a:buClr>
                <a:schemeClr val="lt1"/>
              </a:buClr>
              <a:buSzPts val="1250"/>
              <a:buFont typeface="IBM Plex Mono"/>
              <a:buNone/>
            </a:pPr>
            <a:r>
              <a:rPr b="0" i="0" lang="en-US" sz="1250" u="none" cap="none" strike="noStrike">
                <a:solidFill>
                  <a:schemeClr val="lt1"/>
                </a:solidFill>
                <a:latin typeface="IBM Plex Mono"/>
                <a:ea typeface="IBM Plex Mono"/>
                <a:cs typeface="IBM Plex Mono"/>
                <a:sym typeface="IBM Plex Mono"/>
              </a:rPr>
              <a:t>18:59:46  finished wall 292.5 s · 141.5 MB</a:t>
            </a:r>
            <a:endParaRPr b="0" i="0" sz="1250" u="none" cap="none" strike="noStrike">
              <a:solidFill>
                <a:schemeClr val="dk1"/>
              </a:solidFill>
              <a:latin typeface="IBM Plex Sans"/>
              <a:ea typeface="IBM Plex Sans"/>
              <a:cs typeface="IBM Plex Sans"/>
              <a:sym typeface="IBM Plex Sans"/>
            </a:endParaRPr>
          </a:p>
          <a:p>
            <a:pPr indent="0" lvl="0" marL="0" marR="0" rtl="0" algn="l">
              <a:lnSpc>
                <a:spcPct val="110000"/>
              </a:lnSpc>
              <a:spcBef>
                <a:spcPts val="0"/>
              </a:spcBef>
              <a:spcAft>
                <a:spcPts val="0"/>
              </a:spcAft>
              <a:buClr>
                <a:srgbClr val="8AB4FF"/>
              </a:buClr>
              <a:buSzPts val="1250"/>
              <a:buFont typeface="IBM Plex Mono"/>
              <a:buNone/>
            </a:pPr>
            <a:r>
              <a:rPr b="0" i="0" lang="en-US" sz="1250" u="none" cap="none" strike="noStrike">
                <a:solidFill>
                  <a:srgbClr val="8AB4FF"/>
                </a:solidFill>
                <a:latin typeface="IBM Plex Mono"/>
                <a:ea typeface="IBM Plex Mono"/>
                <a:cs typeface="IBM Plex Mono"/>
                <a:sym typeface="IBM Plex Mono"/>
              </a:rPr>
              <a:t>          VERIFY OK · 39 episodes · 9,829 frames</a:t>
            </a:r>
            <a:endParaRPr b="0" i="0" sz="1250" u="none" cap="none" strike="noStrike">
              <a:solidFill>
                <a:schemeClr val="dk1"/>
              </a:solidFill>
              <a:latin typeface="IBM Plex Sans"/>
              <a:ea typeface="IBM Plex Sans"/>
              <a:cs typeface="IBM Plex Sans"/>
              <a:sym typeface="IBM Plex Sans"/>
            </a:endParaRPr>
          </a:p>
        </p:txBody>
      </p:sp>
      <p:sp>
        <p:nvSpPr>
          <p:cNvPr id="232" name="Google Shape;232;p12"/>
          <p:cNvSpPr txBox="1"/>
          <p:nvPr/>
        </p:nvSpPr>
        <p:spPr>
          <a:xfrm>
            <a:off x="6035040" y="4572000"/>
            <a:ext cx="18288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4000"/>
              <a:buFont typeface="IBM Plex Sans Medium"/>
              <a:buNone/>
            </a:pPr>
            <a:r>
              <a:rPr b="0" i="0" lang="en-US" sz="4000" u="none" cap="none" strike="noStrike">
                <a:solidFill>
                  <a:schemeClr val="accent1"/>
                </a:solidFill>
                <a:latin typeface="IBM Plex Sans Medium"/>
                <a:ea typeface="IBM Plex Sans Medium"/>
                <a:cs typeface="IBM Plex Sans Medium"/>
                <a:sym typeface="IBM Plex Sans Medium"/>
              </a:rPr>
              <a:t>292 s</a:t>
            </a:r>
            <a:endParaRPr b="0" i="0" sz="4000" u="none" cap="none" strike="noStrike">
              <a:solidFill>
                <a:schemeClr val="dk1"/>
              </a:solidFill>
              <a:latin typeface="IBM Plex Sans"/>
              <a:ea typeface="IBM Plex Sans"/>
              <a:cs typeface="IBM Plex Sans"/>
              <a:sym typeface="IBM Plex Sans"/>
            </a:endParaRPr>
          </a:p>
        </p:txBody>
      </p:sp>
      <p:sp>
        <p:nvSpPr>
          <p:cNvPr id="233" name="Google Shape;233;p12"/>
          <p:cNvSpPr txBox="1"/>
          <p:nvPr/>
        </p:nvSpPr>
        <p:spPr>
          <a:xfrm>
            <a:off x="7909560" y="4572000"/>
            <a:ext cx="3657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IBM Plex Sans"/>
              <a:buNone/>
            </a:pPr>
            <a:r>
              <a:rPr b="0" i="0" lang="en-US" sz="1400" u="none" cap="none" strike="noStrike">
                <a:solidFill>
                  <a:schemeClr val="dk2"/>
                </a:solidFill>
                <a:latin typeface="IBM Plex Sans"/>
                <a:ea typeface="IBM Plex Sans"/>
                <a:cs typeface="IBM Plex Sans"/>
                <a:sym typeface="IBM Plex Sans"/>
              </a:rPr>
              <a:t>from queued to done, with no manual step</a:t>
            </a:r>
            <a:endParaRPr b="0" i="0" sz="1400" u="none" cap="none" strike="noStrike">
              <a:solidFill>
                <a:schemeClr val="dk1"/>
              </a:solidFill>
              <a:latin typeface="IBM Plex Sans"/>
              <a:ea typeface="IBM Plex Sans"/>
              <a:cs typeface="IBM Plex Sans"/>
              <a:sym typeface="IBM Plex Sans"/>
            </a:endParaRPr>
          </a:p>
        </p:txBody>
      </p:sp>
      <p:sp>
        <p:nvSpPr>
          <p:cNvPr id="234" name="Google Shape;234;p12"/>
          <p:cNvSpPr txBox="1"/>
          <p:nvPr>
            <p:ph idx="4294967295" type="sldNum"/>
          </p:nvPr>
        </p:nvSpPr>
        <p:spPr>
          <a:xfrm>
            <a:off x="11128248" y="6382512"/>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86574"/>
                </a:solidFill>
                <a:latin typeface="IBM Plex Mono"/>
                <a:ea typeface="IBM Plex Mono"/>
                <a:cs typeface="IBM Plex Mono"/>
                <a:sym typeface="IBM Plex Mono"/>
              </a:rPr>
              <a:t>‹#›</a:t>
            </a:fld>
            <a:endParaRPr b="0" i="0" sz="1000" u="none" cap="none" strike="noStrike">
              <a:solidFill>
                <a:srgbClr val="586574"/>
              </a:solidFill>
              <a:latin typeface="IBM Plex Mono"/>
              <a:ea typeface="IBM Plex Mono"/>
              <a:cs typeface="IBM Plex Mono"/>
              <a:sym typeface="IBM Plex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3"/>
          <p:cNvSpPr txBox="1"/>
          <p:nvPr>
            <p:ph type="title"/>
          </p:nvPr>
        </p:nvSpPr>
        <p:spPr>
          <a:xfrm>
            <a:off x="612648" y="393192"/>
            <a:ext cx="10972800" cy="594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DEMO </a:t>
            </a:r>
            <a:endParaRPr/>
          </a:p>
        </p:txBody>
      </p:sp>
      <p:pic>
        <p:nvPicPr>
          <p:cNvPr id="241" name="Google Shape;241;p13" title="Untitled design.mp4">
            <a:hlinkClick r:id="rId3"/>
          </p:cNvPr>
          <p:cNvPicPr preferRelativeResize="0"/>
          <p:nvPr/>
        </p:nvPicPr>
        <p:blipFill>
          <a:blip r:embed="rId4">
            <a:alphaModFix/>
          </a:blip>
          <a:stretch>
            <a:fillRect/>
          </a:stretch>
        </p:blipFill>
        <p:spPr>
          <a:xfrm>
            <a:off x="2392238" y="987500"/>
            <a:ext cx="7413625" cy="5560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4"/>
          <p:cNvSpPr txBox="1"/>
          <p:nvPr>
            <p:ph type="title"/>
          </p:nvPr>
        </p:nvSpPr>
        <p:spPr>
          <a:xfrm>
            <a:off x="612648" y="393192"/>
            <a:ext cx="10972800" cy="5943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400"/>
              <a:buFont typeface="IBM Plex Sans Medium"/>
              <a:buNone/>
            </a:pPr>
            <a:r>
              <a:rPr lang="en-US" sz="3400">
                <a:solidFill>
                  <a:schemeClr val="dk1"/>
                </a:solidFill>
              </a:rPr>
              <a:t>Result: runtime and correctness</a:t>
            </a:r>
            <a:endParaRPr sz="3400"/>
          </a:p>
        </p:txBody>
      </p:sp>
      <p:sp>
        <p:nvSpPr>
          <p:cNvPr id="248" name="Google Shape;248;p14"/>
          <p:cNvSpPr txBox="1"/>
          <p:nvPr>
            <p:ph idx="1" type="body"/>
          </p:nvPr>
        </p:nvSpPr>
        <p:spPr>
          <a:xfrm>
            <a:off x="612648" y="1088136"/>
            <a:ext cx="109728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700"/>
              <a:buNone/>
            </a:pPr>
            <a:r>
              <a:rPr lang="en-US" sz="1700">
                <a:solidFill>
                  <a:schemeClr val="dk2"/>
                </a:solidFill>
              </a:rPr>
              <a:t>No slowdown, and the same dataset from both modes, in both runs</a:t>
            </a:r>
            <a:endParaRPr sz="1700"/>
          </a:p>
        </p:txBody>
      </p:sp>
      <p:pic>
        <p:nvPicPr>
          <p:cNvPr id="249" name="Google Shape;249;p14"/>
          <p:cNvPicPr preferRelativeResize="0"/>
          <p:nvPr/>
        </p:nvPicPr>
        <p:blipFill rotWithShape="1">
          <a:blip r:embed="rId3">
            <a:alphaModFix/>
          </a:blip>
          <a:srcRect b="0" l="0" r="0" t="0"/>
          <a:stretch/>
        </p:blipFill>
        <p:spPr>
          <a:xfrm>
            <a:off x="612648" y="1691640"/>
            <a:ext cx="5760720" cy="4526280"/>
          </a:xfrm>
          <a:prstGeom prst="rect">
            <a:avLst/>
          </a:prstGeom>
          <a:noFill/>
          <a:ln>
            <a:noFill/>
          </a:ln>
        </p:spPr>
      </p:pic>
      <p:sp>
        <p:nvSpPr>
          <p:cNvPr id="250" name="Google Shape;250;p14"/>
          <p:cNvSpPr txBox="1"/>
          <p:nvPr/>
        </p:nvSpPr>
        <p:spPr>
          <a:xfrm>
            <a:off x="6812280" y="1783080"/>
            <a:ext cx="47548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3200"/>
              <a:buFont typeface="IBM Plex Sans Medium"/>
              <a:buNone/>
            </a:pPr>
            <a:r>
              <a:rPr b="0" i="0" lang="en-US" sz="3200" u="none" cap="none" strike="noStrike">
                <a:solidFill>
                  <a:schemeClr val="accent1"/>
                </a:solidFill>
                <a:latin typeface="IBM Plex Sans Medium"/>
                <a:ea typeface="IBM Plex Sans Medium"/>
                <a:cs typeface="IBM Plex Sans Medium"/>
                <a:sym typeface="IBM Plex Sans Medium"/>
              </a:rPr>
              <a:t>1.00</a:t>
            </a:r>
            <a:endParaRPr b="0" i="0" sz="3200" u="none" cap="none" strike="noStrike">
              <a:solidFill>
                <a:schemeClr val="dk1"/>
              </a:solidFill>
              <a:latin typeface="IBM Plex Sans"/>
              <a:ea typeface="IBM Plex Sans"/>
              <a:cs typeface="IBM Plex Sans"/>
              <a:sym typeface="IBM Plex Sans"/>
            </a:endParaRPr>
          </a:p>
        </p:txBody>
      </p:sp>
      <p:sp>
        <p:nvSpPr>
          <p:cNvPr id="251" name="Google Shape;251;p14"/>
          <p:cNvSpPr txBox="1"/>
          <p:nvPr/>
        </p:nvSpPr>
        <p:spPr>
          <a:xfrm>
            <a:off x="6812280" y="2350008"/>
            <a:ext cx="47548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IBM Plex Sans"/>
              <a:buNone/>
            </a:pPr>
            <a:r>
              <a:rPr b="0" i="0" lang="en-US" sz="1500" u="none" cap="none" strike="noStrike">
                <a:solidFill>
                  <a:schemeClr val="dk1"/>
                </a:solidFill>
                <a:latin typeface="IBM Plex Sans"/>
                <a:ea typeface="IBM Plex Sans"/>
                <a:cs typeface="IBM Plex Sans"/>
                <a:sym typeface="IBM Plex Sans"/>
              </a:rPr>
              <a:t>runtime ratio in both runs, storage node / baseline</a:t>
            </a:r>
            <a:endParaRPr b="0" i="0" sz="1500" u="none" cap="none" strike="noStrike">
              <a:solidFill>
                <a:schemeClr val="dk1"/>
              </a:solidFill>
              <a:latin typeface="IBM Plex Sans"/>
              <a:ea typeface="IBM Plex Sans"/>
              <a:cs typeface="IBM Plex Sans"/>
              <a:sym typeface="IBM Plex Sans"/>
            </a:endParaRPr>
          </a:p>
        </p:txBody>
      </p:sp>
      <p:sp>
        <p:nvSpPr>
          <p:cNvPr id="252" name="Google Shape;252;p14"/>
          <p:cNvSpPr txBox="1"/>
          <p:nvPr/>
        </p:nvSpPr>
        <p:spPr>
          <a:xfrm>
            <a:off x="6812280" y="2670048"/>
            <a:ext cx="47548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IBM Plex Sans"/>
              <a:buNone/>
            </a:pPr>
            <a:r>
              <a:rPr b="0" i="0" lang="en-US" sz="1200" u="none" cap="none" strike="noStrike">
                <a:solidFill>
                  <a:schemeClr val="dk2"/>
                </a:solidFill>
                <a:latin typeface="IBM Plex Sans"/>
                <a:ea typeface="IBM Plex Sans"/>
                <a:cs typeface="IBM Plex Sans"/>
                <a:sym typeface="IBM Plex Sans"/>
              </a:rPr>
              <a:t>Which mode was faster flipped between runs, so the gap is noise. CPU-bound: 301 s converting vs. under 2 s to publish</a:t>
            </a:r>
            <a:endParaRPr b="0" i="0" sz="1200" u="none" cap="none" strike="noStrike">
              <a:solidFill>
                <a:schemeClr val="dk1"/>
              </a:solidFill>
              <a:latin typeface="IBM Plex Sans"/>
              <a:ea typeface="IBM Plex Sans"/>
              <a:cs typeface="IBM Plex Sans"/>
              <a:sym typeface="IBM Plex Sans"/>
            </a:endParaRPr>
          </a:p>
        </p:txBody>
      </p:sp>
      <p:cxnSp>
        <p:nvCxnSpPr>
          <p:cNvPr id="253" name="Google Shape;253;p14"/>
          <p:cNvCxnSpPr/>
          <p:nvPr/>
        </p:nvCxnSpPr>
        <p:spPr>
          <a:xfrm>
            <a:off x="6812280" y="3136392"/>
            <a:ext cx="4773168" cy="0"/>
          </a:xfrm>
          <a:prstGeom prst="straightConnector1">
            <a:avLst/>
          </a:prstGeom>
          <a:noFill/>
          <a:ln cap="flat" cmpd="sng" w="9525">
            <a:solidFill>
              <a:schemeClr val="accent3"/>
            </a:solidFill>
            <a:prstDash val="solid"/>
            <a:round/>
            <a:headEnd len="sm" w="sm" type="none"/>
            <a:tailEnd len="sm" w="sm" type="none"/>
          </a:ln>
        </p:spPr>
      </p:cxnSp>
      <p:sp>
        <p:nvSpPr>
          <p:cNvPr id="254" name="Google Shape;254;p14"/>
          <p:cNvSpPr txBox="1"/>
          <p:nvPr/>
        </p:nvSpPr>
        <p:spPr>
          <a:xfrm>
            <a:off x="6812280" y="3246120"/>
            <a:ext cx="47548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3200"/>
              <a:buFont typeface="IBM Plex Sans Medium"/>
              <a:buNone/>
            </a:pPr>
            <a:r>
              <a:rPr b="0" i="0" lang="en-US" sz="3200" u="none" cap="none" strike="noStrike">
                <a:solidFill>
                  <a:schemeClr val="dk1"/>
                </a:solidFill>
                <a:latin typeface="IBM Plex Sans Medium"/>
                <a:ea typeface="IBM Plex Sans Medium"/>
                <a:cs typeface="IBM Plex Sans Medium"/>
                <a:sym typeface="IBM Plex Sans Medium"/>
              </a:rPr>
              <a:t>Identical</a:t>
            </a:r>
            <a:endParaRPr b="0" i="0" sz="3200" u="none" cap="none" strike="noStrike">
              <a:solidFill>
                <a:schemeClr val="dk1"/>
              </a:solidFill>
              <a:latin typeface="IBM Plex Sans"/>
              <a:ea typeface="IBM Plex Sans"/>
              <a:cs typeface="IBM Plex Sans"/>
              <a:sym typeface="IBM Plex Sans"/>
            </a:endParaRPr>
          </a:p>
        </p:txBody>
      </p:sp>
      <p:sp>
        <p:nvSpPr>
          <p:cNvPr id="255" name="Google Shape;255;p14"/>
          <p:cNvSpPr txBox="1"/>
          <p:nvPr/>
        </p:nvSpPr>
        <p:spPr>
          <a:xfrm>
            <a:off x="6812280" y="3813048"/>
            <a:ext cx="47548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IBM Plex Sans"/>
              <a:buNone/>
            </a:pPr>
            <a:r>
              <a:rPr b="0" i="0" lang="en-US" sz="1500" u="none" cap="none" strike="noStrike">
                <a:solidFill>
                  <a:schemeClr val="dk1"/>
                </a:solidFill>
                <a:latin typeface="IBM Plex Sans"/>
                <a:ea typeface="IBM Plex Sans"/>
                <a:cs typeface="IBM Plex Sans"/>
                <a:sym typeface="IBM Plex Sans"/>
              </a:rPr>
              <a:t>output from both modes, byte for byte, in each run</a:t>
            </a:r>
            <a:endParaRPr b="0" i="0" sz="1500" u="none" cap="none" strike="noStrike">
              <a:solidFill>
                <a:schemeClr val="dk1"/>
              </a:solidFill>
              <a:latin typeface="IBM Plex Sans"/>
              <a:ea typeface="IBM Plex Sans"/>
              <a:cs typeface="IBM Plex Sans"/>
              <a:sym typeface="IBM Plex Sans"/>
            </a:endParaRPr>
          </a:p>
        </p:txBody>
      </p:sp>
      <p:sp>
        <p:nvSpPr>
          <p:cNvPr id="256" name="Google Shape;256;p14"/>
          <p:cNvSpPr txBox="1"/>
          <p:nvPr/>
        </p:nvSpPr>
        <p:spPr>
          <a:xfrm>
            <a:off x="6812280" y="4133088"/>
            <a:ext cx="47548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IBM Plex Sans"/>
              <a:buNone/>
            </a:pPr>
            <a:r>
              <a:rPr b="0" i="0" lang="en-US" sz="1200" u="none" cap="none" strike="noStrike">
                <a:solidFill>
                  <a:schemeClr val="dk2"/>
                </a:solidFill>
                <a:latin typeface="IBM Plex Sans"/>
                <a:ea typeface="IBM Plex Sans"/>
                <a:cs typeface="IBM Plex Sans"/>
                <a:sym typeface="IBM Plex Sans"/>
              </a:rPr>
              <a:t>stats.json compared as canonical JSON (its key order varies)</a:t>
            </a:r>
            <a:endParaRPr b="0" i="0" sz="1200" u="none" cap="none" strike="noStrike">
              <a:solidFill>
                <a:schemeClr val="dk1"/>
              </a:solidFill>
              <a:latin typeface="IBM Plex Sans"/>
              <a:ea typeface="IBM Plex Sans"/>
              <a:cs typeface="IBM Plex Sans"/>
              <a:sym typeface="IBM Plex Sans"/>
            </a:endParaRPr>
          </a:p>
        </p:txBody>
      </p:sp>
      <p:cxnSp>
        <p:nvCxnSpPr>
          <p:cNvPr id="257" name="Google Shape;257;p14"/>
          <p:cNvCxnSpPr/>
          <p:nvPr/>
        </p:nvCxnSpPr>
        <p:spPr>
          <a:xfrm>
            <a:off x="6812280" y="4599432"/>
            <a:ext cx="4773168" cy="0"/>
          </a:xfrm>
          <a:prstGeom prst="straightConnector1">
            <a:avLst/>
          </a:prstGeom>
          <a:noFill/>
          <a:ln cap="flat" cmpd="sng" w="9525">
            <a:solidFill>
              <a:schemeClr val="accent3"/>
            </a:solidFill>
            <a:prstDash val="solid"/>
            <a:round/>
            <a:headEnd len="sm" w="sm" type="none"/>
            <a:tailEnd len="sm" w="sm" type="none"/>
          </a:ln>
        </p:spPr>
      </p:cxnSp>
      <p:sp>
        <p:nvSpPr>
          <p:cNvPr id="258" name="Google Shape;258;p14"/>
          <p:cNvSpPr txBox="1"/>
          <p:nvPr/>
        </p:nvSpPr>
        <p:spPr>
          <a:xfrm>
            <a:off x="6812280" y="4709160"/>
            <a:ext cx="47548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3200"/>
              <a:buFont typeface="IBM Plex Sans Medium"/>
              <a:buNone/>
            </a:pPr>
            <a:r>
              <a:rPr b="0" i="0" lang="en-US" sz="3200" u="none" cap="none" strike="noStrike">
                <a:solidFill>
                  <a:schemeClr val="dk1"/>
                </a:solidFill>
                <a:latin typeface="IBM Plex Sans Medium"/>
                <a:ea typeface="IBM Plex Sans Medium"/>
                <a:cs typeface="IBM Plex Sans Medium"/>
                <a:sym typeface="IBM Plex Sans Medium"/>
              </a:rPr>
              <a:t>39 / 39</a:t>
            </a:r>
            <a:endParaRPr b="0" i="0" sz="3200" u="none" cap="none" strike="noStrike">
              <a:solidFill>
                <a:schemeClr val="dk1"/>
              </a:solidFill>
              <a:latin typeface="IBM Plex Sans"/>
              <a:ea typeface="IBM Plex Sans"/>
              <a:cs typeface="IBM Plex Sans"/>
              <a:sym typeface="IBM Plex Sans"/>
            </a:endParaRPr>
          </a:p>
        </p:txBody>
      </p:sp>
      <p:sp>
        <p:nvSpPr>
          <p:cNvPr id="259" name="Google Shape;259;p14"/>
          <p:cNvSpPr txBox="1"/>
          <p:nvPr/>
        </p:nvSpPr>
        <p:spPr>
          <a:xfrm>
            <a:off x="6812280" y="5276088"/>
            <a:ext cx="47548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IBM Plex Sans"/>
              <a:buNone/>
            </a:pPr>
            <a:r>
              <a:rPr b="0" i="0" lang="en-US" sz="1500" u="none" cap="none" strike="noStrike">
                <a:solidFill>
                  <a:schemeClr val="dk1"/>
                </a:solidFill>
                <a:latin typeface="IBM Plex Sans"/>
                <a:ea typeface="IBM Plex Sans"/>
                <a:cs typeface="IBM Plex Sans"/>
                <a:sym typeface="IBM Plex Sans"/>
              </a:rPr>
              <a:t>episodes · 9,829 frames · VERIFY OK</a:t>
            </a:r>
            <a:endParaRPr b="0" i="0" sz="1500" u="none" cap="none" strike="noStrike">
              <a:solidFill>
                <a:schemeClr val="dk1"/>
              </a:solidFill>
              <a:latin typeface="IBM Plex Sans"/>
              <a:ea typeface="IBM Plex Sans"/>
              <a:cs typeface="IBM Plex Sans"/>
              <a:sym typeface="IBM Plex Sans"/>
            </a:endParaRPr>
          </a:p>
        </p:txBody>
      </p:sp>
      <p:sp>
        <p:nvSpPr>
          <p:cNvPr id="260" name="Google Shape;260;p14"/>
          <p:cNvSpPr txBox="1"/>
          <p:nvPr/>
        </p:nvSpPr>
        <p:spPr>
          <a:xfrm>
            <a:off x="6812280" y="5596128"/>
            <a:ext cx="47548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IBM Plex Sans"/>
              <a:buNone/>
            </a:pPr>
            <a:r>
              <a:rPr b="0" i="0" lang="en-US" sz="1200" u="none" cap="none" strike="noStrike">
                <a:solidFill>
                  <a:schemeClr val="dk2"/>
                </a:solidFill>
                <a:latin typeface="IBM Plex Sans"/>
                <a:ea typeface="IBM Plex Sans"/>
                <a:cs typeface="IBM Plex Sans"/>
                <a:sym typeface="IBM Plex Sans"/>
              </a:rPr>
              <a:t>first and last frames decoded by LeRobot's loader, all 3 cameras</a:t>
            </a:r>
            <a:endParaRPr b="0" i="0" sz="1200" u="none" cap="none" strike="noStrike">
              <a:solidFill>
                <a:schemeClr val="dk1"/>
              </a:solidFill>
              <a:latin typeface="IBM Plex Sans"/>
              <a:ea typeface="IBM Plex Sans"/>
              <a:cs typeface="IBM Plex Sans"/>
              <a:sym typeface="IBM Plex Sans"/>
            </a:endParaRPr>
          </a:p>
        </p:txBody>
      </p:sp>
      <p:sp>
        <p:nvSpPr>
          <p:cNvPr id="261" name="Google Shape;261;p14"/>
          <p:cNvSpPr txBox="1"/>
          <p:nvPr>
            <p:ph idx="4294967295" type="sldNum"/>
          </p:nvPr>
        </p:nvSpPr>
        <p:spPr>
          <a:xfrm>
            <a:off x="11128248" y="6382512"/>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86574"/>
                </a:solidFill>
                <a:latin typeface="IBM Plex Mono"/>
                <a:ea typeface="IBM Plex Mono"/>
                <a:cs typeface="IBM Plex Mono"/>
                <a:sym typeface="IBM Plex Mono"/>
              </a:rPr>
              <a:t>‹#›</a:t>
            </a:fld>
            <a:endParaRPr b="0" i="0" sz="1000" u="none" cap="none" strike="noStrike">
              <a:solidFill>
                <a:srgbClr val="586574"/>
              </a:solidFill>
              <a:latin typeface="IBM Plex Mono"/>
              <a:ea typeface="IBM Plex Mono"/>
              <a:cs typeface="IBM Plex Mono"/>
              <a:sym typeface="IBM Plex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5"/>
          <p:cNvSpPr txBox="1"/>
          <p:nvPr>
            <p:ph type="title"/>
          </p:nvPr>
        </p:nvSpPr>
        <p:spPr>
          <a:xfrm>
            <a:off x="612648" y="393192"/>
            <a:ext cx="10972800" cy="5943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400"/>
              <a:buFont typeface="IBM Plex Sans Medium"/>
              <a:buNone/>
            </a:pPr>
            <a:r>
              <a:rPr lang="en-US" sz="3400">
                <a:solidFill>
                  <a:schemeClr val="dk1"/>
                </a:solidFill>
              </a:rPr>
              <a:t>Limitations and next steps</a:t>
            </a:r>
            <a:endParaRPr sz="3400"/>
          </a:p>
        </p:txBody>
      </p:sp>
      <p:sp>
        <p:nvSpPr>
          <p:cNvPr id="268" name="Google Shape;268;p15"/>
          <p:cNvSpPr txBox="1"/>
          <p:nvPr>
            <p:ph idx="1" type="body"/>
          </p:nvPr>
        </p:nvSpPr>
        <p:spPr>
          <a:xfrm>
            <a:off x="612648" y="1088136"/>
            <a:ext cx="109728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700"/>
              <a:buNone/>
            </a:pPr>
            <a:r>
              <a:rPr lang="en-US" sz="1700">
                <a:solidFill>
                  <a:schemeClr val="dk2"/>
                </a:solidFill>
              </a:rPr>
              <a:t>What this result does not show yet, and what Demo 3 adds</a:t>
            </a:r>
            <a:endParaRPr sz="1700"/>
          </a:p>
        </p:txBody>
      </p:sp>
      <p:sp>
        <p:nvSpPr>
          <p:cNvPr id="269" name="Google Shape;269;p15"/>
          <p:cNvSpPr txBox="1"/>
          <p:nvPr/>
        </p:nvSpPr>
        <p:spPr>
          <a:xfrm>
            <a:off x="612648" y="1783080"/>
            <a:ext cx="4572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IBM Plex Mono"/>
              <a:buNone/>
            </a:pPr>
            <a:r>
              <a:rPr b="0" i="0" lang="en-US" sz="1100" u="none" cap="none" strike="noStrike">
                <a:solidFill>
                  <a:schemeClr val="dk2"/>
                </a:solidFill>
                <a:latin typeface="IBM Plex Mono"/>
                <a:ea typeface="IBM Plex Mono"/>
                <a:cs typeface="IBM Plex Mono"/>
                <a:sym typeface="IBM Plex Mono"/>
              </a:rPr>
              <a:t>LIMITATIONS</a:t>
            </a:r>
            <a:endParaRPr b="0" i="0" sz="1100" u="none" cap="none" strike="noStrike">
              <a:solidFill>
                <a:schemeClr val="dk1"/>
              </a:solidFill>
              <a:latin typeface="IBM Plex Sans"/>
              <a:ea typeface="IBM Plex Sans"/>
              <a:cs typeface="IBM Plex Sans"/>
              <a:sym typeface="IBM Plex Sans"/>
            </a:endParaRPr>
          </a:p>
        </p:txBody>
      </p:sp>
      <p:sp>
        <p:nvSpPr>
          <p:cNvPr id="270" name="Google Shape;270;p15"/>
          <p:cNvSpPr txBox="1"/>
          <p:nvPr/>
        </p:nvSpPr>
        <p:spPr>
          <a:xfrm>
            <a:off x="612648" y="2148840"/>
            <a:ext cx="5120640" cy="274320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chemeClr val="dk1"/>
              </a:buClr>
              <a:buSzPts val="1500"/>
              <a:buFont typeface="IBM Plex Sans"/>
              <a:buChar char="•"/>
            </a:pPr>
            <a:r>
              <a:rPr b="0" i="0" lang="en-US" sz="1500" u="none" cap="none" strike="noStrike">
                <a:solidFill>
                  <a:schemeClr val="dk1"/>
                </a:solidFill>
                <a:latin typeface="IBM Plex Sans"/>
                <a:ea typeface="IBM Plex Sans"/>
                <a:cs typeface="IBM Plex Sans"/>
                <a:sym typeface="IBM Plex Sans"/>
              </a:rPr>
              <a:t>One storage node: every input is local by construction, so this is the best case</a:t>
            </a:r>
            <a:endParaRPr b="0" i="0" sz="1500" u="none" cap="none" strike="noStrike">
              <a:solidFill>
                <a:schemeClr val="dk1"/>
              </a:solidFill>
              <a:latin typeface="IBM Plex Sans"/>
              <a:ea typeface="IBM Plex Sans"/>
              <a:cs typeface="IBM Plex Sans"/>
              <a:sym typeface="IBM Plex Sans"/>
            </a:endParaRPr>
          </a:p>
          <a:p>
            <a:pPr indent="-228600" lvl="0" marL="228600" marR="0" rtl="0" algn="l">
              <a:spcBef>
                <a:spcPts val="1000"/>
              </a:spcBef>
              <a:spcAft>
                <a:spcPts val="0"/>
              </a:spcAft>
              <a:buClr>
                <a:schemeClr val="dk1"/>
              </a:buClr>
              <a:buSzPts val="1500"/>
              <a:buFont typeface="IBM Plex Sans"/>
              <a:buChar char="•"/>
            </a:pPr>
            <a:r>
              <a:rPr b="0" i="0" lang="en-US" sz="1500" u="none" cap="none" strike="noStrike">
                <a:solidFill>
                  <a:schemeClr val="dk1"/>
                </a:solidFill>
                <a:latin typeface="IBM Plex Sans"/>
                <a:ea typeface="IBM Plex Sans"/>
                <a:cs typeface="IBM Plex Sans"/>
                <a:sym typeface="IBM Plex Sans"/>
              </a:rPr>
              <a:t>This converter is CPU-bound, so locality saves bytes but not time</a:t>
            </a:r>
            <a:endParaRPr b="0" i="0" sz="1500" u="none" cap="none" strike="noStrike">
              <a:solidFill>
                <a:schemeClr val="dk1"/>
              </a:solidFill>
              <a:latin typeface="IBM Plex Sans"/>
              <a:ea typeface="IBM Plex Sans"/>
              <a:cs typeface="IBM Plex Sans"/>
              <a:sym typeface="IBM Plex Sans"/>
            </a:endParaRPr>
          </a:p>
          <a:p>
            <a:pPr indent="-228600" lvl="0" marL="228600" marR="0" rtl="0" algn="l">
              <a:spcBef>
                <a:spcPts val="1000"/>
              </a:spcBef>
              <a:spcAft>
                <a:spcPts val="0"/>
              </a:spcAft>
              <a:buClr>
                <a:schemeClr val="dk1"/>
              </a:buClr>
              <a:buSzPts val="1500"/>
              <a:buFont typeface="IBM Plex Sans"/>
              <a:buChar char="•"/>
            </a:pPr>
            <a:r>
              <a:rPr b="0" i="0" lang="en-US" sz="1500" u="none" cap="none" strike="noStrike">
                <a:solidFill>
                  <a:schemeClr val="dk1"/>
                </a:solidFill>
                <a:latin typeface="IBM Plex Sans"/>
                <a:ea typeface="IBM Plex Sans"/>
                <a:cs typeface="IBM Plex Sans"/>
                <a:sym typeface="IBM Plex Sans"/>
              </a:rPr>
              <a:t>Loop-file OSDs share one disk: storage throughput is not representative</a:t>
            </a:r>
            <a:endParaRPr b="0" i="0" sz="1500" u="none" cap="none" strike="noStrike">
              <a:solidFill>
                <a:schemeClr val="dk1"/>
              </a:solidFill>
              <a:latin typeface="IBM Plex Sans"/>
              <a:ea typeface="IBM Plex Sans"/>
              <a:cs typeface="IBM Plex Sans"/>
              <a:sym typeface="IBM Plex Sans"/>
            </a:endParaRPr>
          </a:p>
        </p:txBody>
      </p:sp>
      <p:sp>
        <p:nvSpPr>
          <p:cNvPr id="271" name="Google Shape;271;p15"/>
          <p:cNvSpPr txBox="1"/>
          <p:nvPr/>
        </p:nvSpPr>
        <p:spPr>
          <a:xfrm>
            <a:off x="6355080" y="1783080"/>
            <a:ext cx="4572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IBM Plex Mono"/>
              <a:buNone/>
            </a:pPr>
            <a:r>
              <a:rPr b="0" i="0" lang="en-US" sz="1100" u="none" cap="none" strike="noStrike">
                <a:solidFill>
                  <a:schemeClr val="accent1"/>
                </a:solidFill>
                <a:latin typeface="IBM Plex Mono"/>
                <a:ea typeface="IBM Plex Mono"/>
                <a:cs typeface="IBM Plex Mono"/>
                <a:sym typeface="IBM Plex Mono"/>
              </a:rPr>
              <a:t>DEMO 3 · 11 / 16</a:t>
            </a:r>
            <a:endParaRPr b="0" i="0" sz="1100" u="none" cap="none" strike="noStrike">
              <a:solidFill>
                <a:schemeClr val="dk1"/>
              </a:solidFill>
              <a:latin typeface="IBM Plex Sans"/>
              <a:ea typeface="IBM Plex Sans"/>
              <a:cs typeface="IBM Plex Sans"/>
              <a:sym typeface="IBM Plex Sans"/>
            </a:endParaRPr>
          </a:p>
        </p:txBody>
      </p:sp>
      <p:sp>
        <p:nvSpPr>
          <p:cNvPr id="272" name="Google Shape;272;p15"/>
          <p:cNvSpPr txBox="1"/>
          <p:nvPr/>
        </p:nvSpPr>
        <p:spPr>
          <a:xfrm>
            <a:off x="6355080" y="2148840"/>
            <a:ext cx="5230368" cy="274320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chemeClr val="dk1"/>
              </a:buClr>
              <a:buSzPts val="1500"/>
              <a:buFont typeface="IBM Plex Sans"/>
              <a:buChar char="•"/>
            </a:pPr>
            <a:r>
              <a:rPr b="0" i="0" lang="en-US" sz="1500" u="none" cap="none" strike="noStrike">
                <a:solidFill>
                  <a:schemeClr val="dk1"/>
                </a:solidFill>
                <a:latin typeface="IBM Plex Sans"/>
                <a:ea typeface="IBM Plex Sans"/>
                <a:cs typeface="IBM Plex Sans"/>
                <a:sym typeface="IBM Plex Sans"/>
              </a:rPr>
              <a:t>Several storage nodes on Kubernetes with Rook</a:t>
            </a:r>
            <a:endParaRPr b="0" i="0" sz="1500" u="none" cap="none" strike="noStrike">
              <a:solidFill>
                <a:schemeClr val="dk1"/>
              </a:solidFill>
              <a:latin typeface="IBM Plex Sans"/>
              <a:ea typeface="IBM Plex Sans"/>
              <a:cs typeface="IBM Plex Sans"/>
              <a:sym typeface="IBM Plex Sans"/>
            </a:endParaRPr>
          </a:p>
          <a:p>
            <a:pPr indent="-228600" lvl="0" marL="228600" marR="0" rtl="0" algn="l">
              <a:spcBef>
                <a:spcPts val="1000"/>
              </a:spcBef>
              <a:spcAft>
                <a:spcPts val="0"/>
              </a:spcAft>
              <a:buClr>
                <a:schemeClr val="dk1"/>
              </a:buClr>
              <a:buSzPts val="1500"/>
              <a:buFont typeface="IBM Plex Sans"/>
              <a:buChar char="•"/>
            </a:pPr>
            <a:r>
              <a:rPr b="0" i="0" lang="en-US" sz="1500" u="none" cap="none" strike="noStrike">
                <a:solidFill>
                  <a:schemeClr val="dk1"/>
                </a:solidFill>
                <a:latin typeface="IBM Plex Sans"/>
                <a:ea typeface="IBM Plex Sans"/>
                <a:cs typeface="IBM Plex Sans"/>
                <a:sym typeface="IBM Plex Sans"/>
              </a:rPr>
              <a:t>Jobs submitted through a serverless API</a:t>
            </a:r>
            <a:endParaRPr b="0" i="0" sz="1500" u="none" cap="none" strike="noStrike">
              <a:solidFill>
                <a:schemeClr val="dk1"/>
              </a:solidFill>
              <a:latin typeface="IBM Plex Sans"/>
              <a:ea typeface="IBM Plex Sans"/>
              <a:cs typeface="IBM Plex Sans"/>
              <a:sym typeface="IBM Plex Sans"/>
            </a:endParaRPr>
          </a:p>
          <a:p>
            <a:pPr indent="-228600" lvl="0" marL="228600" marR="0" rtl="0" algn="l">
              <a:spcBef>
                <a:spcPts val="1000"/>
              </a:spcBef>
              <a:spcAft>
                <a:spcPts val="0"/>
              </a:spcAft>
              <a:buClr>
                <a:schemeClr val="dk1"/>
              </a:buClr>
              <a:buSzPts val="1500"/>
              <a:buFont typeface="IBM Plex Sans"/>
              <a:buChar char="•"/>
            </a:pPr>
            <a:r>
              <a:rPr b="0" i="0" lang="en-US" sz="1500" u="none" cap="none" strike="noStrike">
                <a:solidFill>
                  <a:schemeClr val="dk1"/>
                </a:solidFill>
                <a:latin typeface="IBM Plex Sans"/>
                <a:ea typeface="IBM Plex Sans"/>
                <a:cs typeface="IBM Plex Sans"/>
                <a:sym typeface="IBM Plex Sans"/>
              </a:rPr>
              <a:t>Dependency-aware placement: run where the inputs are, fetch the fewest missing bytes</a:t>
            </a:r>
            <a:endParaRPr b="0" i="0" sz="1500" u="none" cap="none" strike="noStrike">
              <a:solidFill>
                <a:schemeClr val="dk1"/>
              </a:solidFill>
              <a:latin typeface="IBM Plex Sans"/>
              <a:ea typeface="IBM Plex Sans"/>
              <a:cs typeface="IBM Plex Sans"/>
              <a:sym typeface="IBM Plex Sans"/>
            </a:endParaRPr>
          </a:p>
          <a:p>
            <a:pPr indent="-228600" lvl="0" marL="228600" marR="0" rtl="0" algn="l">
              <a:spcBef>
                <a:spcPts val="1000"/>
              </a:spcBef>
              <a:spcAft>
                <a:spcPts val="0"/>
              </a:spcAft>
              <a:buClr>
                <a:schemeClr val="dk1"/>
              </a:buClr>
              <a:buSzPts val="1500"/>
              <a:buFont typeface="IBM Plex Sans"/>
              <a:buChar char="•"/>
            </a:pPr>
            <a:r>
              <a:rPr b="0" i="0" lang="en-US" sz="1500" u="none" cap="none" strike="noStrike">
                <a:solidFill>
                  <a:schemeClr val="dk1"/>
                </a:solidFill>
                <a:latin typeface="IBM Plex Sans"/>
                <a:ea typeface="IBM Plex Sans"/>
                <a:cs typeface="IBM Plex Sans"/>
                <a:sym typeface="IBM Plex Sans"/>
              </a:rPr>
              <a:t>This baseline rerun on the multi-node setup</a:t>
            </a:r>
            <a:endParaRPr b="0" i="0" sz="1500" u="none" cap="none" strike="noStrike">
              <a:solidFill>
                <a:schemeClr val="dk1"/>
              </a:solidFill>
              <a:latin typeface="IBM Plex Sans"/>
              <a:ea typeface="IBM Plex Sans"/>
              <a:cs typeface="IBM Plex Sans"/>
              <a:sym typeface="IBM Plex Sans"/>
            </a:endParaRPr>
          </a:p>
        </p:txBody>
      </p:sp>
      <p:sp>
        <p:nvSpPr>
          <p:cNvPr id="273" name="Google Shape;273;p15"/>
          <p:cNvSpPr/>
          <p:nvPr/>
        </p:nvSpPr>
        <p:spPr>
          <a:xfrm>
            <a:off x="612648" y="5120640"/>
            <a:ext cx="10972800" cy="105156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5"/>
          <p:cNvSpPr txBox="1"/>
          <p:nvPr/>
        </p:nvSpPr>
        <p:spPr>
          <a:xfrm>
            <a:off x="886968" y="5120640"/>
            <a:ext cx="274320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600"/>
              <a:buFont typeface="IBM Plex Sans Medium"/>
              <a:buNone/>
            </a:pPr>
            <a:r>
              <a:rPr b="0" i="0" lang="en-US" sz="3600" u="none" cap="none" strike="noStrike">
                <a:solidFill>
                  <a:schemeClr val="accent1"/>
                </a:solidFill>
                <a:latin typeface="IBM Plex Sans Medium"/>
                <a:ea typeface="IBM Plex Sans Medium"/>
                <a:cs typeface="IBM Plex Sans Medium"/>
                <a:sym typeface="IBM Plex Sans Medium"/>
              </a:rPr>
              <a:t>≈ 2.1 TB</a:t>
            </a:r>
            <a:endParaRPr b="0" i="0" sz="3600" u="none" cap="none" strike="noStrike">
              <a:solidFill>
                <a:schemeClr val="dk1"/>
              </a:solidFill>
              <a:latin typeface="IBM Plex Sans"/>
              <a:ea typeface="IBM Plex Sans"/>
              <a:cs typeface="IBM Plex Sans"/>
              <a:sym typeface="IBM Plex Sans"/>
            </a:endParaRPr>
          </a:p>
        </p:txBody>
      </p:sp>
      <p:sp>
        <p:nvSpPr>
          <p:cNvPr id="275" name="Google Shape;275;p15"/>
          <p:cNvSpPr txBox="1"/>
          <p:nvPr/>
        </p:nvSpPr>
        <p:spPr>
          <a:xfrm>
            <a:off x="3520440" y="5120640"/>
            <a:ext cx="781812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IBM Plex Sans"/>
              <a:buNone/>
            </a:pPr>
            <a:r>
              <a:rPr b="0" i="0" lang="en-US" sz="1500" u="none" cap="none" strike="noStrike">
                <a:solidFill>
                  <a:schemeClr val="dk1"/>
                </a:solidFill>
                <a:latin typeface="IBM Plex Sans"/>
                <a:ea typeface="IBM Plex Sans"/>
                <a:cs typeface="IBM Plex Sans"/>
                <a:sym typeface="IBM Plex Sans"/>
              </a:rPr>
              <a:t>would cross the network to convert all of DROID's 1.7 TB RLDS release with separate compute (estimated from shard 2, not measured)</a:t>
            </a:r>
            <a:endParaRPr b="0" i="0" sz="1500" u="none" cap="none" strike="noStrike">
              <a:solidFill>
                <a:schemeClr val="dk1"/>
              </a:solidFill>
              <a:latin typeface="IBM Plex Sans"/>
              <a:ea typeface="IBM Plex Sans"/>
              <a:cs typeface="IBM Plex Sans"/>
              <a:sym typeface="IBM Plex Sans"/>
            </a:endParaRPr>
          </a:p>
        </p:txBody>
      </p:sp>
      <p:sp>
        <p:nvSpPr>
          <p:cNvPr id="276" name="Google Shape;276;p15"/>
          <p:cNvSpPr txBox="1"/>
          <p:nvPr>
            <p:ph idx="4294967295" type="sldNum"/>
          </p:nvPr>
        </p:nvSpPr>
        <p:spPr>
          <a:xfrm>
            <a:off x="11128248" y="6382512"/>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86574"/>
                </a:solidFill>
                <a:latin typeface="IBM Plex Mono"/>
                <a:ea typeface="IBM Plex Mono"/>
                <a:cs typeface="IBM Plex Mono"/>
                <a:sym typeface="IBM Plex Mono"/>
              </a:rPr>
              <a:t>‹#›</a:t>
            </a:fld>
            <a:endParaRPr b="0" i="0" sz="1000" u="none" cap="none" strike="noStrike">
              <a:solidFill>
                <a:srgbClr val="586574"/>
              </a:solidFill>
              <a:latin typeface="IBM Plex Mono"/>
              <a:ea typeface="IBM Plex Mono"/>
              <a:cs typeface="IBM Plex Mono"/>
              <a:sym typeface="IBM Plex Mono"/>
            </a:endParaRPr>
          </a:p>
        </p:txBody>
      </p:sp>
    </p:spTree>
  </p:cSld>
  <p:clrMapOvr>
    <a:masterClrMapping/>
  </p:clrMapOvr>
</p:sld>
</file>

<file path=ppt/theme/theme1.xml><?xml version="1.0" encoding="utf-8"?>
<a:theme xmlns:a="http://schemas.openxmlformats.org/drawingml/2006/main" xmlns:r="http://schemas.openxmlformats.org/officeDocument/2006/relationships" name="Computational Storage">
  <a:themeElements>
    <a:clrScheme name="Computational Storage">
      <a:dk1>
        <a:srgbClr val="171B21"/>
      </a:dk1>
      <a:lt1>
        <a:srgbClr val="FFFFFF"/>
      </a:lt1>
      <a:dk2>
        <a:srgbClr val="586574"/>
      </a:dk2>
      <a:lt2>
        <a:srgbClr val="F3F5F8"/>
      </a:lt2>
      <a:accent1>
        <a:srgbClr val="0F62FE"/>
      </a:accent1>
      <a:accent2>
        <a:srgbClr val="EAF1FF"/>
      </a:accent2>
      <a:accent3>
        <a:srgbClr val="C7D1DC"/>
      </a:accent3>
      <a:accent4>
        <a:srgbClr val="1F7A6F"/>
      </a:accent4>
      <a:accent5>
        <a:srgbClr val="9C6510"/>
      </a:accent5>
      <a:accent6>
        <a:srgbClr val="5B3A9E"/>
      </a:accent6>
      <a:hlink>
        <a:srgbClr val="0F62FE"/>
      </a:hlink>
      <a:folHlink>
        <a:srgbClr val="5B3A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mputational Storage">
  <a:themeElements>
    <a:clrScheme name="Computational Storage">
      <a:dk1>
        <a:srgbClr val="171B21"/>
      </a:dk1>
      <a:lt1>
        <a:srgbClr val="FFFFFF"/>
      </a:lt1>
      <a:dk2>
        <a:srgbClr val="586574"/>
      </a:dk2>
      <a:lt2>
        <a:srgbClr val="F3F5F8"/>
      </a:lt2>
      <a:accent1>
        <a:srgbClr val="0F62FE"/>
      </a:accent1>
      <a:accent2>
        <a:srgbClr val="EAF1FF"/>
      </a:accent2>
      <a:accent3>
        <a:srgbClr val="C7D1DC"/>
      </a:accent3>
      <a:accent4>
        <a:srgbClr val="1F7A6F"/>
      </a:accent4>
      <a:accent5>
        <a:srgbClr val="9C6510"/>
      </a:accent5>
      <a:accent6>
        <a:srgbClr val="5B3A9E"/>
      </a:accent6>
      <a:hlink>
        <a:srgbClr val="0F62FE"/>
      </a:hlink>
      <a:folHlink>
        <a:srgbClr val="5B3A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